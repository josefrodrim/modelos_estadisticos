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0AD5D8-DF8C-41D6-B2C2-2F6D6464341E}">
  <a:tblStyle styleId="{B90AD5D8-DF8C-41D6-B2C2-2F6D646434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687" y="3827115"/>
            <a:ext cx="34766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876675" y="516284"/>
            <a:ext cx="4438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MÓDULO 3 · ANÁLISIS DISCRIMINANTE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1040159"/>
            <a:ext cx="11601450" cy="1726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Interpretación</a:t>
            </a:r>
            <a:r>
              <a:rPr lang="en-US" sz="51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51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r>
              <a:rPr lang="en-US" sz="51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QDA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8500" y="4639696"/>
            <a:ext cx="5715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34924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495550"/>
            <a:ext cx="34924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4228" y="347662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Confianza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019550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Interpretar los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scores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una medida de incertidumbre en la clasificación.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572375" y="347662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QDA vs LDA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4925" y="401955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 fronteras cuadráticas y saber cuándo superan a las lineales.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0679" y="347662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Segmentación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225" y="4019550"/>
            <a:ext cx="2901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Ejecutar un pipeline completo de marketing para perfilar clientes retail.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8384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0113" y="283845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600" y="28384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¿Qué aprenderemos hoy?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3587" y="164693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595437" y="2504182"/>
            <a:ext cx="9001125" cy="178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¿Qué significa que un modelo clasifique bien en promedio pero mal en una clase específica?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809750" y="4667994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Arranquemos con esta pregunta clave de negocio.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76513"/>
            <a:ext cx="5286375" cy="647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2471588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¿Qué es el Score?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3014513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la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proyección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una observación sobre el espacio discriminante que maximiza la separación de clases.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4014638"/>
            <a:ext cx="4752975" cy="1715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38200" y="461486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4614850"/>
            <a:ext cx="5267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|score| alto: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Punto alejado de la frontera →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Alta </a:t>
            </a:r>
            <a:r>
              <a:rPr lang="en-US" sz="1500" b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confianza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4900589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|score| ≈ 0: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Punto en zona gris →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Baja confianza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01. Scores Discriminantes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0717"/>
            <a:ext cx="5286375" cy="2989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57250" y="269646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problemas binarios, mapeamos el score a una probabilidad posterior mediante la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función sigmoide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57250" y="439965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score de 0 resulta en P=0.5, el punto de máxima incertidumbre para el modelo.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2525" y="3696592"/>
            <a:ext cx="4181475" cy="274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 Score a Probabilidad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9900"/>
            <a:ext cx="349240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009900"/>
            <a:ext cx="3492549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3009900"/>
            <a:ext cx="34924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3128962" y="2343150"/>
            <a:ext cx="5934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Cuando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score se aproxima a  0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las decisiones automatizadas son riesgosas.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330517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94228" y="391477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Credit Scoring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66775" y="4457700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Derivar el perfil a un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comité de riesgos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evaluación manual.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3305175"/>
            <a:ext cx="4762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4572375" y="39147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Salud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4925" y="4457700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Solicitar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pruebas complementarias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ante un diagnóstico incierto.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600" y="3305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350679" y="3914775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Fraude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225" y="4457700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Bloqueo preventivo y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verificación humana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transacción.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Casos de Baja Confianza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24907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CAPÍTULO II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95275" y="29194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QDA: Flexibilidad Cuadrática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0" y="3538537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8814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Cuando las covarianzas difieren entre clases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24922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Forma de las Clases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0352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LDA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asume que todas las clases comparten la misma matriz de covarianza Σ. Todas las "nubes" tienen la misma forma.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7495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QDA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asume una matriz Σₖ propia para cada clase. Cada grupo tiene su propia orientación y tamaño.</a:t>
            </a:r>
            <a:endParaRPr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749700"/>
            <a:ext cx="4752975" cy="1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Homocedasticidad vs Heterocedasticidad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1"/>
          <p:cNvGraphicFramePr/>
          <p:nvPr/>
        </p:nvGraphicFramePr>
        <p:xfrm>
          <a:off x="2431851" y="2457450"/>
          <a:ext cx="7328300" cy="2895625"/>
        </p:xfrm>
        <a:graphic>
          <a:graphicData uri="http://schemas.openxmlformats.org/drawingml/2006/table">
            <a:tbl>
              <a:tblPr firstRow="1" bandRow="1">
                <a:noFill/>
                <a:tableStyleId>{B90AD5D8-DF8C-41D6-B2C2-2F6D6464341E}</a:tableStyleId>
              </a:tblPr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Característica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LDA (Lineal)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QDA (Cuadrático)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Supuesto Covarianza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Σ pooled (Única para todas)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Σₖ por clase (Individual)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Frontera de decisión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Lineal (Hiperplano)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Cuadrática (Curva / Elipsoide)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Parámetros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Menos (Baja varianza)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Más (Requiere más datos)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Riesgo Overfit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Bajo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Mayor (Alta flexibilidad)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2" name="Google Shape;192;p21"/>
          <p:cNvSpPr/>
          <p:nvPr/>
        </p:nvSpPr>
        <p:spPr>
          <a:xfrm>
            <a:off x="2431851" y="3595687"/>
            <a:ext cx="2047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479726" y="3595687"/>
            <a:ext cx="253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016948" y="3595687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431851" y="4176712"/>
            <a:ext cx="2047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479726" y="4176712"/>
            <a:ext cx="253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016948" y="4176712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431851" y="4757737"/>
            <a:ext cx="2047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479726" y="4757737"/>
            <a:ext cx="253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016948" y="4757737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431851" y="5338762"/>
            <a:ext cx="2047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479726" y="5338762"/>
            <a:ext cx="25372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7016948" y="5338762"/>
            <a:ext cx="2743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Duelo Técnico: LDA vs QDA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165735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Geometría Bayesiana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260985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permitir covarianzas distintas, la frontera se vuelve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 lineal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QDA es capaz de "rodear" a una clase muy compacta dentro de otra muy dispersa.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36099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Cuándo elegir QDA: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838200" y="4191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41910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Matrices de covarianza muy distintas.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38200" y="44767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52500" y="447675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Datasets grandes (evita overfit).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38200" y="4762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4762500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Fronteras evidentemente curvas.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24907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CAPÍTULO III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95275" y="29194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Caso: Segmentación Retail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0" y="3538537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38814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 los datos al perfil estratégico del cliente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2637"/>
            <a:ext cx="349240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052637"/>
            <a:ext cx="3492549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052637"/>
            <a:ext cx="3492400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47912"/>
            <a:ext cx="29018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4925" y="2347912"/>
            <a:ext cx="2901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225" y="2347912"/>
            <a:ext cx="29018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794228" y="4205287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Familiar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66775" y="4748212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Alta frecuencia, ticket alto,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poca actividad online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572375" y="42052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Joven Urbano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4644925" y="474821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Frecuencia media,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100% online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busca descuentos.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8350679" y="4205287"/>
            <a:ext cx="30469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Senior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8423225" y="4748212"/>
            <a:ext cx="2901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Frecuencia alta, </a:t>
            </a: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ticket bajo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compras de cercanía.</a:t>
            </a:r>
            <a:endParaRPr/>
          </a:p>
        </p:txBody>
      </p:sp>
      <p:pic>
        <p:nvPicPr>
          <p:cNvPr id="247" name="Google Shape;247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6300" y="2357437"/>
            <a:ext cx="28828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54450" y="2357437"/>
            <a:ext cx="28829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32750" y="2357437"/>
            <a:ext cx="28828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03. Perfiles de Segmento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400175" y="4805362"/>
            <a:ext cx="93916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Veredicto:</a:t>
            </a:r>
            <a:r>
              <a:rPr lang="en-US" sz="15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El mejor desempeño de QDA sugiere que las varianzas entre segmentos son significativamente distintas.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1400175" y="4614862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Competencia de Modelos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571500" y="262413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¿Qué discrimina más?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571500" y="31670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 coeficientes nos indican la fuerza de cada variable en la clasificación:</a:t>
            </a:r>
            <a:endParaRPr/>
          </a:p>
        </p:txBody>
      </p:sp>
      <p:pic>
        <p:nvPicPr>
          <p:cNvPr id="270" name="Google Shape;27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571500" y="389096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freq_visitas (+0.82):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 a Familias/Seniors.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571500" y="43195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compras_online (-0.74):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Distingue al Joven Urbano.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571500" y="47482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ticket_prom (+0.61):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Clave para el perfil Familiar.</a:t>
            </a:r>
            <a:endParaRPr/>
          </a:p>
        </p:txBody>
      </p:sp>
      <p:pic>
        <p:nvPicPr>
          <p:cNvPr id="274" name="Google Shape;27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433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71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0060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Interpretación de LD1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4795344"/>
            <a:ext cx="52863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6334125" y="27051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¿Dónde fallamos?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334125" y="32480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Seniors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suelen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confundirse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las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Familias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89" name="Google Shape;289;p27"/>
          <p:cNvSpPr txBox="1"/>
          <p:nvPr/>
        </p:nvSpPr>
        <p:spPr>
          <a:xfrm>
            <a:off x="6324598" y="3954353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ocurre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comparten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frecuencia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;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diferencia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radica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ticket,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veces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solapa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90" name="Google Shape;290;p27"/>
          <p:cNvSpPr txBox="1"/>
          <p:nvPr/>
        </p:nvSpPr>
        <p:spPr>
          <a:xfrm>
            <a:off x="6334125" y="4985844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Ojo: El error no es </a:t>
            </a:r>
            <a:r>
              <a:rPr lang="en-US" sz="1500" b="1" i="0" u="none" strike="noStrike" cap="none" dirty="0" err="1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uniforme</a:t>
            </a:r>
            <a:r>
              <a:rPr lang="en-US" sz="1500" b="1" i="0" u="none" strike="noStrike" cap="none" dirty="0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1" i="0" u="none" strike="noStrike" cap="none" dirty="0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segmento</a:t>
            </a:r>
            <a:r>
              <a:rPr lang="en-US" sz="1500" b="1" i="0" u="none" strike="noStrike" cap="none" dirty="0">
                <a:solidFill>
                  <a:srgbClr val="BE123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91" name="Google Shape;291;p2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Confusión por Clase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5381625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828925"/>
            <a:ext cx="5381625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66775" y="3124200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Técnico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6534150" y="3124200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Negocio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1133475" y="3676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1247775" y="367665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LDA: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Robusto, lineal, homocedástico.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1133475" y="3962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1247775" y="396240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QDA: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Flexible, curvo, heterocedástico.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1133475" y="4248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1247775" y="424815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Score: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Medida de incertidumbre bayesiana.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800850" y="36766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915150" y="367665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Segmentar para personalizar campañas.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800850" y="3962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915150" y="396240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inciertos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revisión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humana.</a:t>
            </a:r>
            <a:endParaRPr dirty="0"/>
          </a:p>
        </p:txBody>
      </p:sp>
      <p:sp>
        <p:nvSpPr>
          <p:cNvPr id="312" name="Google Shape;312;p28"/>
          <p:cNvSpPr txBox="1"/>
          <p:nvPr/>
        </p:nvSpPr>
        <p:spPr>
          <a:xfrm>
            <a:off x="6800850" y="4248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6915150" y="4248150"/>
            <a:ext cx="44100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Analizar errores por nicho, no solo el promedio.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Resumen Estratégico</a:t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9"/>
          <p:cNvSpPr txBox="1"/>
          <p:nvPr/>
        </p:nvSpPr>
        <p:spPr>
          <a:xfrm>
            <a:off x="295275" y="215741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571500" y="2681287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Análisis Discriminante Avanzado</a:t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5715000" y="3338512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571500" y="38719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Docente: Josef Rodriguez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571500" y="43005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Próximo Módulo: PCA &amp; Reducción de Dimensionalidad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/>
          <p:nvPr/>
        </p:nvSpPr>
        <p:spPr>
          <a:xfrm>
            <a:off x="571500" y="142398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0"/>
          <p:cNvSpPr/>
          <p:nvPr/>
        </p:nvSpPr>
        <p:spPr>
          <a:xfrm>
            <a:off x="571500" y="2366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/>
          <p:nvPr/>
        </p:nvSpPr>
        <p:spPr>
          <a:xfrm>
            <a:off x="571500" y="3910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0"/>
          <p:cNvSpPr/>
          <p:nvPr/>
        </p:nvSpPr>
        <p:spPr>
          <a:xfrm>
            <a:off x="571500" y="4681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2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1666875" y="15668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https://static.vecteezy.com/system/resources/previews/058/001/075/non_2x/abstract-network-connection-lines-and-dots-background-digital-plexus-technology-futuristic-network-concept-of-big-data-visualization-artificial-intelligence-science-molecular-and-chemical-vector.jpg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1666875" y="19859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349" name="Google Shape;34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1666875" y="2516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https://sebastianraschka.com/images/blog/2014/linear-discriminant-analysis/lda_1.png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1666875" y="2750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sebastianraschka.com</a:t>
            </a:r>
            <a:endParaRPr/>
          </a:p>
        </p:txBody>
      </p:sp>
      <p:pic>
        <p:nvPicPr>
          <p:cNvPr id="352" name="Google Shape;35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https://bunny-wp-pullzone-3xue3q6yzy.b-cdn.net/wp-content/uploads/2024/11/EM-BLOG-what-does-a-data-scientist-do-2054965214.png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graduate.northeastern.edu</a:t>
            </a:r>
            <a:endParaRPr/>
          </a:p>
        </p:txBody>
      </p:sp>
      <p:pic>
        <p:nvPicPr>
          <p:cNvPr id="355" name="Google Shape;35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https://intuitivetutorial.com/wp-content/uploads/2021/01/Normal_Distribution_PDF-1.jpg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intuitivetutorial.com</a:t>
            </a:r>
            <a:endParaRPr/>
          </a:p>
        </p:txBody>
      </p:sp>
      <p:pic>
        <p:nvPicPr>
          <p:cNvPr id="358" name="Google Shape;358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0"/>
          <p:cNvSpPr txBox="1"/>
          <p:nvPr/>
        </p:nvSpPr>
        <p:spPr>
          <a:xfrm>
            <a:off x="1666875" y="4831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https://i.sstatic.net/5PuaD.jpg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1666875" y="5064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id="361" name="Google Shape;361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81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0"/>
          <p:cNvSpPr txBox="1"/>
          <p:nvPr/>
        </p:nvSpPr>
        <p:spPr>
          <a:xfrm>
            <a:off x="1666875" y="55959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https://static.vecteezy.com/system/resources/thumbnails/067/519/474/small/portrait-of-happy-black-family-posing-together-at-grocery-store-african-american-parents-with-cute-daughter-looking-at-camera-and-smiling-at-shopping-mall-satisfied-customers-at-supermarket-photo.jpg</a:t>
            </a:r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1666875" y="60150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64" name="Google Shape;364;p30"/>
          <p:cNvSpPr txBox="1"/>
          <p:nvPr/>
        </p:nvSpPr>
        <p:spPr>
          <a:xfrm>
            <a:off x="762000" y="471487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571500" y="471487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1"/>
          <p:cNvSpPr/>
          <p:nvPr/>
        </p:nvSpPr>
        <p:spPr>
          <a:xfrm>
            <a:off x="571500" y="22812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571500" y="32242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571500" y="39957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571500" y="3214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571500" y="3214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71500" y="3986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571500" y="3986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571500" y="4757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1666875" y="24241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https://static.vecteezy.com/system/resources/thumbnails/045/377/365/large/happy-young-woman-sitting-on-the-bench-on-the-public-area-typing-chat-message-on-smartphone-smiling-girl-use-cell-phone-chatting-searching-information-on-browser-wireless-internet-online-shopping-video.jpg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1666875" y="28432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383" name="Google Shape;38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670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 txBox="1"/>
          <p:nvPr/>
        </p:nvSpPr>
        <p:spPr>
          <a:xfrm>
            <a:off x="1666875" y="33742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https://img.freepik.com/premium-photo/cheerful-elderly-man-enjoying-high-quality-products-supermarket_116547-17269.jpg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1666875" y="36075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id="386" name="Google Shape;38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38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 txBox="1"/>
          <p:nvPr/>
        </p:nvSpPr>
        <p:spPr>
          <a:xfrm>
            <a:off x="1666875" y="41457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https://365datascience.com/resources/blog/thumb@1024_2018-07-2-Bad-chart-example.webp</a:t>
            </a:r>
            <a:endParaRPr/>
          </a:p>
        </p:txBody>
      </p:sp>
      <p:sp>
        <p:nvSpPr>
          <p:cNvPr id="388" name="Google Shape;388;p31"/>
          <p:cNvSpPr txBox="1"/>
          <p:nvPr/>
        </p:nvSpPr>
        <p:spPr>
          <a:xfrm>
            <a:off x="1666875" y="43791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365datascience.com</a:t>
            </a:r>
            <a:endParaRPr/>
          </a:p>
        </p:txBody>
      </p:sp>
      <p:pic>
        <p:nvPicPr>
          <p:cNvPr id="389" name="Google Shape;38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101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1"/>
          <p:cNvSpPr txBox="1"/>
          <p:nvPr/>
        </p:nvSpPr>
        <p:spPr>
          <a:xfrm>
            <a:off x="1666875" y="4917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https://towardsdatascience.com/wp-content/uploads/2024/09/1qARgbCtsUlQwtk24bPecEg.png</a:t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1666875" y="5150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towardsdatascience.com</a:t>
            </a:r>
            <a:endParaRPr/>
          </a:p>
        </p:txBody>
      </p:sp>
      <p:sp>
        <p:nvSpPr>
          <p:cNvPr id="392" name="Google Shape;392;p3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</Words>
  <Application>Microsoft Macintosh PowerPoint</Application>
  <PresentationFormat>Widescreen</PresentationFormat>
  <Paragraphs>124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Lato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Josef Rodriguez</cp:lastModifiedBy>
  <cp:revision>1</cp:revision>
  <dcterms:modified xsi:type="dcterms:W3CDTF">2026-04-21T00:50:36Z</dcterms:modified>
</cp:coreProperties>
</file>