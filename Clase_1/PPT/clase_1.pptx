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3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8291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36592" y="0"/>
            <a:ext cx="329184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60720" y="365760"/>
            <a:ext cx="3840480" cy="3840480"/>
          </a:xfrm>
          <a:prstGeom prst="ellipse">
            <a:avLst/>
          </a:prstGeom>
          <a:solidFill>
            <a:srgbClr val="2176AE">
              <a:alpha val="20000"/>
            </a:srgbClr>
          </a:solidFill>
          <a:ln w="12700">
            <a:solidFill>
              <a:srgbClr val="C8DEF5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0" y="1371600"/>
            <a:ext cx="1920240" cy="1920240"/>
          </a:xfrm>
          <a:prstGeom prst="ellipse">
            <a:avLst/>
          </a:prstGeom>
          <a:solidFill>
            <a:srgbClr val="5BA4CF">
              <a:alpha val="28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0" y="4572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0" b="1" dirty="0">
                <a:solidFill>
                  <a:srgbClr val="FFFFFF">
                    <a:alpha val="1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β̂</a:t>
            </a:r>
            <a:endParaRPr lang="en-US" sz="16000" dirty="0"/>
          </a:p>
        </p:txBody>
      </p:sp>
      <p:sp>
        <p:nvSpPr>
          <p:cNvPr id="7" name="Shape 5"/>
          <p:cNvSpPr/>
          <p:nvPr/>
        </p:nvSpPr>
        <p:spPr>
          <a:xfrm>
            <a:off x="411480" y="256032"/>
            <a:ext cx="164592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292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01  ·  MÓDULO 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685800"/>
            <a:ext cx="4160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Álgebra Lineal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 Estadística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26974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fundamentos matriciales detrás de todo modelo estadístico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291840"/>
            <a:ext cx="256032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45643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380390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· Clases en vivo  ·  Python + NumPy  ·  2 horas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477316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Modelos Estadísticos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 esta clase?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 terminar hoy,</a:t>
            </a:r>
            <a:endParaRPr lang="en-US" sz="2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podés hacer esto: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2240280"/>
            <a:ext cx="164592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matrices con fluidez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Suma, producto, transpuesta — sin dudar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dónde viene β̂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normal como resultado geométrico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cuándo β̂ existe y es único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Rango, multicolinealidad, número de condición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β̂ desde cero en Python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sklearn — solo NumPy y la fórmula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Presentar los objetivos como preguntas abiertas. '¿Cuántos ya saben multiplicar matrices en Python?' — activar conocimiento previo.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lenguaje de los datos: escalares, vectores y matrices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+ intuición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2788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7043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α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02920" y="208483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∈ ℝ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779776"/>
            <a:ext cx="2423160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862072"/>
            <a:ext cx="2523744" cy="45720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895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Intuición: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4864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número. Ej: R² = 0.85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345643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→ Coeficiente β₀ o varianza σ²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1078992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1078992"/>
            <a:ext cx="2788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117043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2176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3429000" y="208483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∈ ℝⁿ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2779776"/>
            <a:ext cx="2423160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3280" y="2862072"/>
            <a:ext cx="2523744" cy="45720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8895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Intuición: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7472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observación completa del cliente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000" y="345643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→ β = (β₀,β₁,…,βₚ)ᵀ  o  y de n obs.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72200" y="1078992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72200" y="1078992"/>
            <a:ext cx="278892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117043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5000" dirty="0"/>
          </a:p>
        </p:txBody>
      </p:sp>
      <p:sp>
        <p:nvSpPr>
          <p:cNvPr id="29" name="Text 27"/>
          <p:cNvSpPr/>
          <p:nvPr/>
        </p:nvSpPr>
        <p:spPr>
          <a:xfrm>
            <a:off x="6355080" y="208483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∈ ℝᵐˣⁿ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2779776"/>
            <a:ext cx="2423160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9360" y="2862072"/>
            <a:ext cx="2523744" cy="45720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28895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Intuición: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40080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dataset: m clientes, n features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55080" y="345643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→ X diseño (n×p)  o  Σ covarianzas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Anclar desde el primer minuto: 'Todo modelo estadístico que veremos es álgebra lineal. Si esto queda claro, el resto fluye solo.'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Operaciones que usarás en cada modelo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· Producto · Transpuesta · Traza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22452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+ B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664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03120" y="1188720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58568" y="1170432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0008" y="1216152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cᵢⱼ = aᵢⱼ + bᵢⱼ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58568" y="16459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orden — elemento a elemento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78992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78992"/>
            <a:ext cx="422452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188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892040" y="1664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1188720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1170432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39128" y="1216152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cᵢⱼ = Σₖ aᵢₖbₖⱼ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47688" y="16459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m×k  y  B: k×n  →  C: m×n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647688" y="1947672"/>
            <a:ext cx="2148840" cy="749808"/>
          </a:xfrm>
          <a:prstGeom prst="rect">
            <a:avLst/>
          </a:prstGeom>
          <a:solidFill>
            <a:srgbClr val="FFF8F0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39128" y="202996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AB ≠ BA  (no conmutativo)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017520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" y="3017520"/>
            <a:ext cx="422452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Aᵀ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" y="3602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Transpuesta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03120" y="312724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58568" y="3108960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50008" y="315468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(Aᵀ)ᵢⱼ = aⱼᵢ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58568" y="35844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Voltea filas y columnas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58568" y="3886200"/>
            <a:ext cx="2148840" cy="749808"/>
          </a:xfrm>
          <a:prstGeom prst="rect">
            <a:avLst/>
          </a:prstGeom>
          <a:solidFill>
            <a:srgbClr val="FFF8F0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50008" y="396849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(AB)ᵀ = BᵀAᵀ  ←  no olvidar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3017520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017520"/>
            <a:ext cx="422452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127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tr(A)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892040" y="3602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92240" y="312724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47688" y="3108960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39128" y="315468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Σᵢ aᵢᵢ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47688" y="35844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la diagonal principal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647688" y="3886200"/>
            <a:ext cx="2148840" cy="749808"/>
          </a:xfrm>
          <a:prstGeom prst="rect">
            <a:avLst/>
          </a:prstGeom>
          <a:solidFill>
            <a:srgbClr val="FFF8F0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396849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tr(AB) = tr(BA)  siempre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En el producto: 'Las columnas de A tienen que coincidir con las filas de B.' Dibujar en pizarrón: [2×3][3×4]=[2×4]. Este error mata el 80% de los códigos de alumnos.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concreto: veamos XᵀX a mano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números reales, sin abstracciones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36192" y="10789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Tenemos 3 clientes y 2 variables. X es nuestra matriz de diseño (con intercepto).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444752"/>
            <a:ext cx="23317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444752"/>
            <a:ext cx="23317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 (3×2)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01952"/>
            <a:ext cx="2029968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195681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1956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" y="2432304"/>
            <a:ext cx="2029968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8716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2962656"/>
            <a:ext cx="2029968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3017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80360" y="1444752"/>
            <a:ext cx="27432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880360" y="1444752"/>
            <a:ext cx="27432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17520" y="1554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  (2×3)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17520" y="1901952"/>
            <a:ext cx="2468880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195681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67912" y="195681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45152" y="195681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17520" y="2432304"/>
            <a:ext cx="246888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24871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67912" y="24871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45152" y="24871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33872" y="24505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309360" y="1444752"/>
            <a:ext cx="25146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09360" y="1444752"/>
            <a:ext cx="251460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  (2×2)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46520" y="1901952"/>
            <a:ext cx="2240280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0528" y="1956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89520" y="1956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10.5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446520" y="2432304"/>
            <a:ext cx="224028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0528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0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42.25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8503920" cy="64008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XᵀX?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920240" y="3986784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 Gram — captura cuánto 'se parecen' las columnas entre sí. Si es invertible, tenemos solución única para β̂.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Hacer este cálculo en el pizarrón paso a paso. Luego mostrar que en Python es simplemente 'X.T @ X'. El alumno debe conectar la fórmula con el código.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¿Dónde vive esto en la industria?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álgebra lineal en producción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850392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225296"/>
            <a:ext cx="2331720" cy="2743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24358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· Credit Scoring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999232" y="12070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es la tabla de clientes: ingresos, deuda, historial.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 se invierte para encontrar β̂ y estimar probabilidad de default.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516368" y="125272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29844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i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usado en millones de solicitudes/día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2350008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350008"/>
            <a:ext cx="8503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" y="2459736"/>
            <a:ext cx="2331720" cy="274320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· Forecasting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999232" y="244144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contiene fecha, precio, promoción, tienda.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 da el peso de cada variable sobre las ventas.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16368" y="248716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62672" y="253288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sobrestock entre 15–30%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584448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584448"/>
            <a:ext cx="8503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694176"/>
            <a:ext cx="2331720" cy="2743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" y="37124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RRHH · People Analytics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99232" y="36758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encuestas de clima, ausentismo, tenure.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predice rotación voluntaria de empleados.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516368" y="372160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62672" y="376732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i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 60–70% de las renuncias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74320" y="4366260"/>
            <a:ext cx="8503920" cy="333756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3977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clave: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719072" y="4251960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todos estos casos, el modelo empieza con la misma operación: (XᵀX)⁻¹Xᵀy. Hoy aprendés esa operación.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 al grupo: '¿Alguien trabaja en alguno de estos sectores?' Conectar el contenido con su realidad profesional antes de pasar al código.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Formas Cuadráticas: por qué β̂ existe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puente entre álgebra y optimización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3931920" cy="36210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3931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en simple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157276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OLS minimiza</a:t>
            </a:r>
            <a:r>
              <a:rPr lang="en-US" sz="12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SSE = eᵀe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Expandiendo esa suma de cuadrados aparece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forma cuadrática en β: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" y="2578608"/>
            <a:ext cx="361188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33472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Q(β) = βᵀ(XᵀX)β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" y="312724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XᵀX es definida positiva →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mínimo es único → β̂ existe.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37490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Verificación: todos los eigenvalues de XᵀX &gt; 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40416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Equivalente a: rank(X) = p (rango completo)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98848" y="1078992"/>
            <a:ext cx="4325112" cy="36210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98848" y="1078992"/>
            <a:ext cx="4325112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1887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 OLS — paso a paso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45152" y="1664208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1728" y="1810512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700784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956048" y="18836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=  y − Xβ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45152" y="2249424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1728" y="2395728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2860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costo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956048" y="2468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 =  (y−Xβ)ᵀ(y−Xβ)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45152" y="2834640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81728" y="2980944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56048" y="2871216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56048" y="30540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yᵀy  −  2βᵀXᵀy  +  βᵀ(XᵀX)β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17720" y="3438144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81728" y="3566160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345643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∂SSE/∂β = 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56048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−2Xᵀy  +  2(XᵀX)β  =  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45152" y="4005072"/>
            <a:ext cx="4069080" cy="502920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1728" y="4151376"/>
            <a:ext cx="201168" cy="201168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40416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956048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β̂  =  (XᵀX)⁻¹Xᵀy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Este slide es el más importante del curso. Tomarse 10 minutos aquí. La intuición: 'Buscamos el β que minimiza el error. Ese mínimo tiene fórmula cerrada — no necesitamos iterar.'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Cuándo β̂ no existe: rango y multicolinealidad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que aparece en producción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7548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5214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rank(X) = p  →  XᵀX invertible  →  β̂ único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709928"/>
            <a:ext cx="406908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91640"/>
            <a:ext cx="406908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8105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Rango completo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" y="2212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rank(X) = 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257860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Columnas de X linealmente independientes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" y="29626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det(XᵀX) ≠ 0  →  invertible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" y="33467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β̂ existe y es único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" y="37307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cond(XᵀX) &lt; 1000  (regla práctica)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691640"/>
            <a:ext cx="411480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691640"/>
            <a:ext cx="41148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181051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Multicolinealidad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2212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rank(X) &lt; 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64608" y="2578608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Columna duplicada o combinación lineal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962656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det(XᵀX) ≈ 0  →  singular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3346704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β̂ no es único o explota numericamente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373075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cond(XᵀX) &gt; 10⁶  →  señal de alarma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370832"/>
            <a:ext cx="8503920" cy="56692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443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real: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371600" y="4443984"/>
            <a:ext cx="7269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'ingresos en USD' e 'ingresos en CLP' al mismo tiempo en un scoring → multicolinealidad perfecta → el modelo falla.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el ejemplo de cond(XᵀX) en vivo con el notebook. Código: np.linalg.cond(XtX). Ver cómo explota cuando duplicamos una columna.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Las matrices que vas a ver en cada modelo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todas — solo las que importan en estadística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276148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14300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Iₙ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8912" y="180136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112264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214884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= IA = 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38912" y="247802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residuos: I − 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82112" y="1051560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1051560"/>
            <a:ext cx="2761488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6704" y="114300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Aᵀ=A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346704" y="180136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46704" y="2112264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01568" y="214884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aᵢⱼ = aⱼᵢ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46704" y="247802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XᵀX, Σ, matrices de covarianza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89904" y="1051560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9904" y="1051560"/>
            <a:ext cx="276148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54496" y="114300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A²=A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54496" y="180136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54496" y="2112264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214884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= 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254496" y="247802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X(XᵀX)⁻¹Xᵀ  (hat matrix)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74320" y="2990088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74320" y="2990088"/>
            <a:ext cx="276148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308152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A⁻¹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438912" y="3739896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" y="4050792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408736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AA⁻¹ = I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441655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(XᵀX)⁻¹  →  el corazón de β̂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182112" y="2990088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82112" y="2990088"/>
            <a:ext cx="2761488" cy="50292"/>
          </a:xfrm>
          <a:prstGeom prst="rect">
            <a:avLst/>
          </a:prstGeom>
          <a:solidFill>
            <a:srgbClr val="7A92A8"/>
          </a:solidFill>
          <a:ln w="12700">
            <a:solidFill>
              <a:srgbClr val="7A92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46704" y="308152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3346704" y="3739896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46704" y="4050792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01568" y="408736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aᵢⱼ = 0  si i≠j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346704" y="441655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Varianzas independientes, WLS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089904" y="2990088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089904" y="2990088"/>
            <a:ext cx="2761488" cy="5029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308152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A⁺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6254496" y="3739896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Pseudoinversa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54496" y="4050792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408736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AA⁺A = A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254496" y="441655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XᵀX es singular (ridge)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Enfocarse en la Idempotente: 'H es la que proyecta y sobre el espacio columna de X. tr(H) = p siempre — eso mide los grados de libertad del modelo.'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64592" cy="164592"/>
          </a:xfrm>
          <a:prstGeom prst="ellips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64592" cy="164592"/>
          </a:xfrm>
          <a:prstGeom prst="ellips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64592" cy="164592"/>
          </a:xfrm>
          <a:prstGeom prst="ellips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Implementación  —  Clase01_Algebra_Lineal.ipynb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084832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Construir y verificar XᵀX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X: n observaciones, p variables (+ intercepto)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XtX = X.T @ X          # forma de Gram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= np.linalg.matrix_rank(X)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 = np.linalg.cond(XtX)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print(f'rank={rank},  cond={cond:.0f}')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084832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Calcular β̂ sin sklearn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Ecuación normal: β̂ = (XᵀX)⁻¹ Xᵀy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XtX_inv = np.linalg.inv(XtX)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beta_hat = XtX_inv @ (X.T @ y)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Alternativa numérica estable: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beta_hat = np.linalg.lstsq(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X, y, rcond=None)[0]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2798064"/>
            <a:ext cx="4315968" cy="221284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2798064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88950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Hat matrix H y residuos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314553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      = X @ XtX_inv @ X.T   # n×n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0624" y="338785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y_hat   = H @ y               # = X @ beta_hat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6301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   = y - y_hat           # residuos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1148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print('H idempotente?',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3571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np.allclose(H @ H, H))  # True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5994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print('tr(H):', round(np.trace(H)))  # = 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73168" y="2798064"/>
            <a:ext cx="4114800" cy="221284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73168" y="2798064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0328" y="288950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R² y σ² estimado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937760" y="3145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p = X.shape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937760" y="338785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 = e @ 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37760" y="3630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SST  = (y - y.mean()) @ (y - y.mean())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937760" y="38724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   = 1 - SSE / SST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41148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sigma2 = SSE / (n - p)   # insesgado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937760" y="45994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print(f'R² = {R2:.4f}')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937760" y="48417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print(f'σ̂² = {sigma2:.4f}')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nos dicen los resultados?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métricas como un analista, no como un script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8503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508760" y="1207008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72768" y="1243584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SSE/SST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10128" y="1207008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4992" y="1243584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Cercano a 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09160" y="1207008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243584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Cercano a 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327648" y="1225296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varianza explicada por el modelo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1993392"/>
            <a:ext cx="8503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0848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σ̂²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508760" y="2103120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72768" y="2139696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SSE/(n−p)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10128" y="2103120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1396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Pequeño vs var(y)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2103120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64024" y="2139696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Grande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27648" y="212140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residual — qué tan dispersos son los errores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2889504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2889504"/>
            <a:ext cx="8503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9809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tr(H)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508760" y="2999232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2768" y="303580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10128" y="2999232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64992" y="3035808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= núm. de cols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999232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64024" y="3035808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≠ p → error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27648" y="3017520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de libertad del modelo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3785616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" y="3785616"/>
            <a:ext cx="8503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cond(XᵀX)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508760" y="3895344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72768" y="3931920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cond(XᵀX)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10128" y="3895344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64992" y="393192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 100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09160" y="3895344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64024" y="393192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&gt; 1e6 peligro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327648" y="391363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numerica al invertir XᵀX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20040" y="4663440"/>
            <a:ext cx="8503920" cy="292608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En el notebook: ver el gráfico 'y real vs ŷ estimado' y el de 'residuos vs ajustados' (sección 6.4)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Ejecutar el notebook en vivo. Cambiar n de 50 a 500 — ¿R² cambia? ¿Por qué? Discutir la diferencia entre R² alto y modelo útil.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separa a un analista junior de uno senior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 y cómo evitarlos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850392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170432"/>
            <a:ext cx="50292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170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11521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XᵀX sin verificar el rango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88720" y="144475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np.linalg.inv() explota si la matriz es singular. Siempre: matrix_rank y cond primero.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376672" y="1170432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2120" y="121615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Usar lstsq() en producción — es numéricamente estable.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1847088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1847088"/>
            <a:ext cx="850392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1938528"/>
            <a:ext cx="50292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9385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AB con BA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88720" y="22128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matricial no es conmutativo. Error frecuente al calcular XᵀX vs XXᵀ.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376672" y="1938528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32120" y="198424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XᵀX es p×p. XXᵀ es n×n. Son matrices distintas con interpretaciones distintas.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2615184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2615184"/>
            <a:ext cx="850392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" y="2706624"/>
            <a:ext cx="50292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27066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26883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el número de condición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88720" y="29809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cond(XᵀX) &gt; 10⁶ → los coeficientes β̂ son numéricamente inestables aunque R² sea alto.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376672" y="2706624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32120" y="275234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Estandarizar variables (mean=0, std=1) antes de armar X reduce el número de condición.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383280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" y="3383280"/>
            <a:ext cx="850392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" y="3474720"/>
            <a:ext cx="5943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347472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88720" y="3456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incluir columna de unos para el intercepto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88720" y="374904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[1 | x₁ | x₂ | …]. Sin esa columna, forzás el modelo a pasar por el origen.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76672" y="3474720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32120" y="3520440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np.column_stack([np.ones(n), X_features])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151376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0040" y="4151376"/>
            <a:ext cx="850392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4242816"/>
            <a:ext cx="5943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" y="424281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88720" y="42245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H idempotente y tr(H) = p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188720" y="45171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H@H ≈ H y tr(H) ≈ p → todo el pipeline matricial es correcto.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376672" y="4242816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32120" y="428853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 tu test de sanidad antes de interpretar cualquier resultado.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Pedir a un alumno que cometa el error en vivo: 'Dupliquemos la columna x₁ y veamos qué pasa con la inversa.' Aprendizaje por ejemplo que falla.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560320"/>
            <a:ext cx="3749040" cy="3749040"/>
          </a:xfrm>
          <a:prstGeom prst="ellipse">
            <a:avLst/>
          </a:prstGeom>
          <a:solidFill>
            <a:srgbClr val="2176AE">
              <a:alpha val="17000"/>
            </a:srgbClr>
          </a:solidFill>
          <a:ln w="12700">
            <a:solidFill>
              <a:srgbClr val="C8DEF5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320040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1</a:t>
            </a:r>
            <a:endParaRPr lang="en-US" sz="3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320040" y="1920240"/>
            <a:ext cx="228600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848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39572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· Clases en vivo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069080" y="2560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ideas que no podés olvidar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9080" y="713232"/>
            <a:ext cx="4754880" cy="0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896112"/>
            <a:ext cx="4754880" cy="11521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896112"/>
            <a:ext cx="475488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4528" y="987552"/>
            <a:ext cx="475488" cy="47548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987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28032" y="1005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 lo es todo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135331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esa matriz es invertible, tenés un modelo. Si no, tenés un problema. Verificar siempre rank y cond.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212848"/>
            <a:ext cx="4754880" cy="11521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69080" y="2212848"/>
            <a:ext cx="475488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4528" y="2304288"/>
            <a:ext cx="475488" cy="475488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304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8032" y="23225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 = (XᵀX)⁻¹Xᵀy — de memoria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828032" y="26700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fórmula es el corazón de OLS, mínimos cuadrados ponderados, regresión ridge y más. Todo lo que viene la usa.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3529584"/>
            <a:ext cx="4754880" cy="11521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069080" y="3529584"/>
            <a:ext cx="475488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24528" y="3621024"/>
            <a:ext cx="475488" cy="47548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24528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28032" y="36393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álgebra no es teoría — es código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828032" y="398678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que viste hoy tiene un equivalente directo en NumPy. La fórmula y el código son lo mismo.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Miércoles →  Eigenvalues · Matrices aleatorias · Normal multivariante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2867</TotalTime>
  <Words>2079</Words>
  <Application>Microsoft Macintosh PowerPoint</Application>
  <PresentationFormat>On-screen Show (16:9)</PresentationFormat>
  <Paragraphs>293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3</cp:revision>
  <dcterms:created xsi:type="dcterms:W3CDTF">2026-03-30T22:11:08Z</dcterms:created>
  <dcterms:modified xsi:type="dcterms:W3CDTF">2026-04-02T00:29:31Z</dcterms:modified>
</cp:coreProperties>
</file>