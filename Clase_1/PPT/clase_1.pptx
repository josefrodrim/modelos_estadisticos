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291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36592" y="0"/>
            <a:ext cx="329184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365760"/>
            <a:ext cx="3840480" cy="3840480"/>
          </a:xfrm>
          <a:prstGeom prst="ellipse">
            <a:avLst/>
          </a:prstGeom>
          <a:solidFill>
            <a:srgbClr val="2176AE">
              <a:alpha val="20000"/>
            </a:srgbClr>
          </a:solidFill>
          <a:ln w="12700">
            <a:solidFill>
              <a:srgbClr val="C8DEF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371600"/>
            <a:ext cx="1920240" cy="1920240"/>
          </a:xfrm>
          <a:prstGeom prst="ellipse">
            <a:avLst/>
          </a:prstGeom>
          <a:solidFill>
            <a:srgbClr val="5BA4CF">
              <a:alpha val="28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4572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FFFF">
                    <a:alpha val="1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β̂</a:t>
            </a:r>
            <a:endParaRPr lang="en-US" sz="16000" dirty="0"/>
          </a:p>
        </p:txBody>
      </p:sp>
      <p:sp>
        <p:nvSpPr>
          <p:cNvPr id="7" name="Shape 5"/>
          <p:cNvSpPr/>
          <p:nvPr/>
        </p:nvSpPr>
        <p:spPr>
          <a:xfrm>
            <a:off x="411480" y="256032"/>
            <a:ext cx="164592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92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01  ·  MÓDULO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Álgebra Lineal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Estadística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fundamentos matriciales detrás de todo modelo estadístico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91840"/>
            <a:ext cx="256032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564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803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Clases en vivo  ·  Python + NumPy  ·  2 horas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7731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Modelos Estadísticos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 esta clase?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terminar hoy,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podés hacer esto: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2240280"/>
            <a:ext cx="164592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matrices con fluidez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Suma, producto, transpuesta — sin dudar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de dónde viene β̂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normal como resultado geométrico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β̂ existe y es único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Rango, multicolinealidad, número de condición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β̂ desde cero en Python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sklearn — solo NumPy y la fórmula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Presentar los objetivos como preguntas abiertas. '¿Cuántos ya saben multiplicar matrices en Python?' — activar conocimiento previo.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lenguaje de los datos: escalares, vectores y matrices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+ intuición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88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889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α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242316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62072"/>
            <a:ext cx="2523744" cy="45720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95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número. Ej: R² = 0.85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564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→ Coeficiente β₀ o varianza σ²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078992"/>
            <a:ext cx="2788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78992"/>
            <a:ext cx="27889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17043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2176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3429000" y="20848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441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ℝⁿ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779776"/>
            <a:ext cx="242316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862072"/>
            <a:ext cx="2523744" cy="45720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8895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7472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observación completa del cliente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4564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→ β = (β₀,β₁,…,βₚ)ᵀ  o  y de n obs.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1078992"/>
            <a:ext cx="2788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078992"/>
            <a:ext cx="278892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17043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6355080" y="20848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2441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∈ ℝᵐˣⁿ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2779776"/>
            <a:ext cx="2423160" cy="0"/>
          </a:xfrm>
          <a:prstGeom prst="line">
            <a:avLst/>
          </a:prstGeom>
          <a:noFill/>
          <a:ln w="6350">
            <a:solidFill>
              <a:srgbClr val="DD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862072"/>
            <a:ext cx="2523744" cy="45720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8895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dataset: m clientes, n features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55080" y="34564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→ X diseño (n×p)  o  Σ covarianzas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Anclar desde el primer minuto: 'Todo modelo estadístico que veremos es álgebra lineal. Si esto queda claro, el resto fluye solo.'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Operaciones que usarás en cada modelo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· Producto · Transpuesta · Traza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24528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224528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188720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1170432"/>
            <a:ext cx="2148840" cy="40233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12161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cᵢⱼ = aᵢⱼ + bᵢⱼ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58568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orden — elemento a elemento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078992"/>
            <a:ext cx="4224528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78992"/>
            <a:ext cx="4224528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1188720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1170432"/>
            <a:ext cx="2148840" cy="40233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12161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cᵢⱼ = Σₖ aᵢₖbₖⱼ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47688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m×k  y  B: k×n  →  C: m×n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47688" y="1947672"/>
            <a:ext cx="2148840" cy="749808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202996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AB ≠ BA  (no conmutativo)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4224528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17520"/>
            <a:ext cx="422452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27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" y="3602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Transpuesta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127248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58568" y="3108960"/>
            <a:ext cx="2148840" cy="40233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50008" y="31546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(Aᵀ)ᵢⱼ = aⱼᵢ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58568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Voltea filas y columnas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58568" y="3886200"/>
            <a:ext cx="2148840" cy="749808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0008" y="396849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(AB)ᵀ = BᵀAᵀ  ←  no olvidar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017520"/>
            <a:ext cx="4224528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17520"/>
            <a:ext cx="422452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127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tr(A)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92040" y="3602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3127248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47688" y="3108960"/>
            <a:ext cx="2148840" cy="40233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9128" y="31546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Σᵢ aᵢᵢ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47688" y="35844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la diagonal principal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47688" y="3886200"/>
            <a:ext cx="2148840" cy="749808"/>
          </a:xfrm>
          <a:prstGeom prst="rect">
            <a:avLst/>
          </a:prstGeom>
          <a:solidFill>
            <a:srgbClr val="FFF8F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9128" y="396849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tr(AB) = tr(BA)  siempre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En el producto: 'Las columnas de A tienen que coincidir con las filas de B.' Dibujar en pizarrón: [2×3][3×4]=[2×4]. Este error mata el 80% de los códigos de alumnos.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concreto: veamos XᵀX a mano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números reales, sin abstracciones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0789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3 clientes y 2 variables. X es nuestra matriz de diseño (con intercepto).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2331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44752"/>
            <a:ext cx="23317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(3×2)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01952"/>
            <a:ext cx="2029968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9568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19568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2432304"/>
            <a:ext cx="2029968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871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487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2962656"/>
            <a:ext cx="2029968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175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017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80360" y="1444752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80360" y="1444752"/>
            <a:ext cx="27432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  (2×3)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1901952"/>
            <a:ext cx="246888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195681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67912" y="195681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152" y="195681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2432304"/>
            <a:ext cx="24688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24871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67912" y="24871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45152" y="248716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33872" y="24505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309360" y="1444752"/>
            <a:ext cx="2514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1444752"/>
            <a:ext cx="251460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XᵀX  (2×2)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1901952"/>
            <a:ext cx="2240280" cy="475488"/>
          </a:xfrm>
          <a:prstGeom prst="rect">
            <a:avLst/>
          </a:prstGeom>
          <a:solidFill>
            <a:srgbClr val="F8FAFB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19568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0" y="19568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46520" y="2432304"/>
            <a:ext cx="2240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487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0" y="2487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42.25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3913632"/>
            <a:ext cx="8503920" cy="64008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XᵀX?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986784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Gram — captura cuánto 'se parecen' las columnas entre sí. Si es invertible, tenemos solución única para β̂.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Hacer este cálculo en el pizarrón paso a paso. Luego mostrar que en Python es simplemente 'X.T @ X'. El alumno debe conectar la fórmula con el código.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¿Dónde vive esto en la industria?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álgebra lineal en producción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850392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25296"/>
            <a:ext cx="2331720" cy="2743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4358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· Credit Scoring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99232" y="12070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es la tabla de clientes: ingresos, deuda, historial.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XᵀX se invierte para encontrar β̂ y estimar probabilidad de default.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16368" y="1252728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12984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usado en millones de solicitudes/día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50008"/>
            <a:ext cx="85039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459736"/>
            <a:ext cx="2331720" cy="274320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7802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Forecasting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99232" y="244144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contiene fecha, precio, promoción, tienda.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da el peso de cada variable sobre las ventas.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16368" y="2487168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253288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sobrestock entre 15–30%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584448"/>
            <a:ext cx="8503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84448"/>
            <a:ext cx="85039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694176"/>
            <a:ext cx="2331720" cy="2743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71246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· People Analytics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99232" y="36758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encuestas de clima, ausentismo, tenure.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predice rotación voluntaria de empleados.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16368" y="3721608"/>
            <a:ext cx="0" cy="804672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376732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60–70% de las renuncias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366260"/>
            <a:ext cx="8503920" cy="33375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clave: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19072" y="425196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todos estos casos, el modelo empieza con la misma operación: (XᵀX)⁻¹Xᵀy. Hoy aprendés esa operación.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 al grupo: '¿Alguien trabaja en alguno de estos sectores?' Conectar el contenido con su realidad profesional antes de pasar al código.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Formas Cuadráticas: por qué β̂ existe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álgebra y optimización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931920" cy="3621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39319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en simple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minimiza</a:t>
            </a:r>
            <a:r>
              <a:rPr lang="en-US" sz="12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SSE = eᵀe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965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Expandiendo esa suma de cuadrados aparece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forma cuadrática en β: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578608"/>
            <a:ext cx="361188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3347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Q(β) = βᵀ(XᵀX)β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12724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XᵀX es definida positiva →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mínimo es único → β̂ existe.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7490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Verificación: todos los eigenvalues de XᵀX &gt; 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a: rank(X) = p (rango completo)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98848" y="1078992"/>
            <a:ext cx="4325112" cy="36210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98848" y="1078992"/>
            <a:ext cx="4325112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188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OLS — paso a paso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45152" y="1664208"/>
            <a:ext cx="4069080" cy="502920"/>
          </a:xfrm>
          <a:prstGeom prst="rect">
            <a:avLst/>
          </a:prstGeom>
          <a:solidFill>
            <a:srgbClr val="F8FAFB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1810512"/>
            <a:ext cx="201168" cy="201168"/>
          </a:xfrm>
          <a:prstGeom prst="ellipse">
            <a:avLst/>
          </a:prstGeom>
          <a:solidFill>
            <a:srgbClr val="C8DEF5"/>
          </a:solidFill>
          <a:ln w="12700">
            <a:solidFill>
              <a:srgbClr val="C8D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70078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56048" y="1883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=  y − Xβ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45152" y="2249424"/>
            <a:ext cx="4069080" cy="502920"/>
          </a:xfrm>
          <a:prstGeom prst="rect">
            <a:avLst/>
          </a:prstGeom>
          <a:solidFill>
            <a:srgbClr val="F8FAFB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2395728"/>
            <a:ext cx="201168" cy="201168"/>
          </a:xfrm>
          <a:prstGeom prst="ellipse">
            <a:avLst/>
          </a:prstGeom>
          <a:solidFill>
            <a:srgbClr val="C8DEF5"/>
          </a:solidFill>
          <a:ln w="12700">
            <a:solidFill>
              <a:srgbClr val="C8D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2860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costo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56048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 =  (y−Xβ)ᵀ(y−Xβ)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45152" y="2834640"/>
            <a:ext cx="4069080" cy="502920"/>
          </a:xfrm>
          <a:prstGeom prst="rect">
            <a:avLst/>
          </a:prstGeom>
          <a:solidFill>
            <a:srgbClr val="F8FAFB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2980944"/>
            <a:ext cx="201168" cy="201168"/>
          </a:xfrm>
          <a:prstGeom prst="ellipse">
            <a:avLst/>
          </a:prstGeom>
          <a:solidFill>
            <a:srgbClr val="C8DEF5"/>
          </a:solidFill>
          <a:ln w="12700">
            <a:solidFill>
              <a:srgbClr val="C8DE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8712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56048" y="30540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yᵀy  −  2βᵀXᵀy  +  βᵀ(XᵀX)β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45152" y="3419856"/>
            <a:ext cx="4069080" cy="502920"/>
          </a:xfrm>
          <a:prstGeom prst="rect">
            <a:avLst/>
          </a:prstGeom>
          <a:solidFill>
            <a:srgbClr val="F8FAFB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1728" y="3566160"/>
            <a:ext cx="201168" cy="201168"/>
          </a:xfrm>
          <a:prstGeom prst="ellipse">
            <a:avLst/>
          </a:prstGeom>
          <a:solidFill>
            <a:srgbClr val="C8DEF5"/>
          </a:solidFill>
          <a:ln w="12700">
            <a:solidFill>
              <a:srgbClr val="C8DE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4564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∂SSE/∂β = 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56048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−2Xᵀy  +  2(XᵀX)β  =  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45152" y="4005072"/>
            <a:ext cx="4069080" cy="502920"/>
          </a:xfrm>
          <a:prstGeom prst="rect">
            <a:avLst/>
          </a:prstGeom>
          <a:solidFill>
            <a:srgbClr val="0F3D6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1728" y="4151376"/>
            <a:ext cx="201168" cy="201168"/>
          </a:xfrm>
          <a:prstGeom prst="ellipse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0416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56048" y="4224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  =  (XᵀX)⁻¹Xᵀy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Este slide es el más importante del curso. Tomarse 10 minutos aquí. La intuición: 'Buscamos el β que minimiza el error. Ese mínimo tiene fórmula cerrada — no necesitamos iterar.'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Cuándo β̂ no existe: rango y multicolinealidad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que aparece en producción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52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rank(X) = p  →  XᵀX invertible  →  β̂ único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406908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91640"/>
            <a:ext cx="406908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Rango completo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rank(X) = 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578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Columnas de X linealmente independientes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962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det(XᵀX) ≠ 0  →  invertible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346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β̂ existe y es único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730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cond(XᵀX) &lt; 1000  (regla práctica)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691640"/>
            <a:ext cx="41148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691640"/>
            <a:ext cx="41148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8105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Multicolinealidad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2128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rank(X) &lt; 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25786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Columna duplicada o combinación lineal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296265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det(XᵀX) ≈ 0  →  singular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β̂ no es único o explota numericamente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373075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cond(XᵀX) &gt; 10⁶  →  señal de alarma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370832"/>
            <a:ext cx="8503920" cy="56692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443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0" y="4443984"/>
            <a:ext cx="7269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'ingresos en USD' e 'ingresos en CLP' al mismo tiempo en un scoring → multicolinealidad perfecta → el modelo falla.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el ejemplo de cond(XᵀX) en vivo con el notebook. Código: np.linalg.cond(XtX). Ver cómo explota cuando duplicamos una columna.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matrices que vas a ver en cada modelo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todas — solo las que importan en estadística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61488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761488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4300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Iₙ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" y="18013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112264"/>
            <a:ext cx="2414016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14884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= IA = 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4780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residuos: I − 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82112" y="1051560"/>
            <a:ext cx="2761488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051560"/>
            <a:ext cx="2761488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14300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Aᵀ=A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46704" y="18013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6704" y="2112264"/>
            <a:ext cx="2414016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4884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aᵢⱼ = aⱼᵢ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46704" y="24780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XᵀX, Σ, matrices de covarianza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9904" y="1051560"/>
            <a:ext cx="2761488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051560"/>
            <a:ext cx="276148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14300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A²=A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54496" y="180136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4496" y="2112264"/>
            <a:ext cx="2414016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14884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= 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54496" y="24780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X(XᵀX)⁻¹Xᵀ  (hat matrix)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990088"/>
            <a:ext cx="2761488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90088"/>
            <a:ext cx="2761488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08152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A⁻¹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38912" y="37398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4050792"/>
            <a:ext cx="2414016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0873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AA⁻¹ = 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441655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(XᵀX)⁻¹  →  el corazón de β̂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82112" y="2990088"/>
            <a:ext cx="2761488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82112" y="2990088"/>
            <a:ext cx="2761488" cy="50292"/>
          </a:xfrm>
          <a:prstGeom prst="rect">
            <a:avLst/>
          </a:prstGeom>
          <a:solidFill>
            <a:srgbClr val="7A92A8"/>
          </a:solidFill>
          <a:ln w="12700">
            <a:solidFill>
              <a:srgbClr val="7A9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308152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346704" y="37398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46704" y="4050792"/>
            <a:ext cx="2414016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40873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aᵢⱼ = 0  si i≠j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46704" y="441655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Varianzas independientes, WLS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89904" y="2990088"/>
            <a:ext cx="2761488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9904" y="2990088"/>
            <a:ext cx="2761488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08152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A⁺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254496" y="37398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Pseudoinversa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54496" y="4050792"/>
            <a:ext cx="2414016" cy="274320"/>
          </a:xfrm>
          <a:prstGeom prst="rect">
            <a:avLst/>
          </a:prstGeom>
          <a:solidFill>
            <a:srgbClr val="EAF2FB"/>
          </a:solidFill>
          <a:ln w="3810">
            <a:solidFill>
              <a:srgbClr val="C8DE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40873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AA⁺A = 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54496" y="441655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XᵀX es singular (ridge)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Enfocarse en la Idempotente: 'H es la que proyecta y sobre el espacio columna de X. tr(H) = p siempre — eso mide los grados de libertad del modelo.'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64592" cy="164592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64592" cy="164592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64592" cy="164592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·  Implementación  —  Clase01_Algebra_Lineal.ipynb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084832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Construir y verificar XᵀX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X: n observaciones, p variables (+ intercepto)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XtX = X.T @ X          # forma de Gram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= np.linalg.matrix_rank(X)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 = np.linalg.cond(XtX)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print(f'rank={rank},  cond={cond:.0f}')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084832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Calcular β̂ sin sklearn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Ecuación normal: β̂ = (XᵀX)⁻¹ Xᵀy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XtX_inv = np.linalg.inv(XtX)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beta_hat = XtX_inv @ (X.T @ y)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Alternativa numérica estable: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beta_hat = np.linalg.lstsq(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rcond=None)[0]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798064"/>
            <a:ext cx="4315968" cy="221284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798064"/>
            <a:ext cx="431596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88950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Hat matrix H y residuos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0624" y="314553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      = X @ XtX_inv @ X.T   # n×n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" y="338785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y_hat   = H @ y               # = X @ beta_hat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6301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      = y - y_hat           # residuos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1148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 idempotente?',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3571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np.allclose(H @ H, H))  # True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5994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print('tr(H):', round(np.trace(H)))  # = 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798064"/>
            <a:ext cx="4114800" cy="221284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2798064"/>
            <a:ext cx="41148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8895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R² y σ² estimado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45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p = X.shape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33878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 = e @ 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3630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 = (y - y.mean()) @ (y - y.mean())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37760" y="38724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= 1 - SSE / SST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4114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sigma2 = SSE / (n - p)   # insesgado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4599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print(f'R² = {R2:.4f}')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37760" y="48417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print(f'σ̂² = {sigma2:.4f}')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nos dicen los resultados?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métricas como un analista, no como un script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85039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08760" y="1207008"/>
            <a:ext cx="1645920" cy="31089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124358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SSE/SST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207008"/>
            <a:ext cx="1280160" cy="310896"/>
          </a:xfrm>
          <a:prstGeom prst="rect">
            <a:avLst/>
          </a:prstGeom>
          <a:solidFill>
            <a:srgbClr val="E8F8F0"/>
          </a:solidFill>
          <a:ln w="508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4358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Cercano a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1463040" cy="310896"/>
          </a:xfrm>
          <a:prstGeom prst="rect">
            <a:avLst/>
          </a:prstGeom>
          <a:solidFill>
            <a:srgbClr val="FDF0EE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24358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Cercano a 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27648" y="122529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varianza explicada por el modelo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93392"/>
            <a:ext cx="850392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σ̂²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08760" y="2103120"/>
            <a:ext cx="1645920" cy="31089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213969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SSE/(n−p)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103120"/>
            <a:ext cx="1280160" cy="310896"/>
          </a:xfrm>
          <a:prstGeom prst="rect">
            <a:avLst/>
          </a:prstGeom>
          <a:solidFill>
            <a:srgbClr val="E8F8F0"/>
          </a:solidFill>
          <a:ln w="508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13969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Pequeño vs var(y)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103120"/>
            <a:ext cx="1463040" cy="310896"/>
          </a:xfrm>
          <a:prstGeom prst="rect">
            <a:avLst/>
          </a:prstGeom>
          <a:solidFill>
            <a:srgbClr val="FDF0EE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213969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Grande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27648" y="21214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residual — qué tan dispersos son los errores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89504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89504"/>
            <a:ext cx="85039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809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tr(H)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08760" y="2999232"/>
            <a:ext cx="1645920" cy="31089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2768" y="303580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0128" y="2999232"/>
            <a:ext cx="1280160" cy="310896"/>
          </a:xfrm>
          <a:prstGeom prst="rect">
            <a:avLst/>
          </a:prstGeom>
          <a:solidFill>
            <a:srgbClr val="E8F8F0"/>
          </a:solidFill>
          <a:ln w="508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03580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= núm. de cols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999232"/>
            <a:ext cx="1463040" cy="310896"/>
          </a:xfrm>
          <a:prstGeom prst="rect">
            <a:avLst/>
          </a:prstGeom>
          <a:solidFill>
            <a:srgbClr val="FDF0EE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30358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≠ p → error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27648" y="30175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libertad del modelo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785616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785616"/>
            <a:ext cx="85039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770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cond(XᵀX)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508760" y="3895344"/>
            <a:ext cx="1645920" cy="310896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72768" y="39319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cond(XᵀX)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10128" y="3895344"/>
            <a:ext cx="1280160" cy="310896"/>
          </a:xfrm>
          <a:prstGeom prst="rect">
            <a:avLst/>
          </a:prstGeom>
          <a:solidFill>
            <a:srgbClr val="E8F8F0"/>
          </a:solidFill>
          <a:ln w="508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393192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100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895344"/>
            <a:ext cx="1463040" cy="310896"/>
          </a:xfrm>
          <a:prstGeom prst="rect">
            <a:avLst/>
          </a:prstGeom>
          <a:solidFill>
            <a:srgbClr val="FDF0EE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64024" y="393192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&gt; 1e6 peligro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27648" y="39136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numerica al invertir XᵀX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En el notebook: ver el gráfico 'y real vs ŷ estimado' y el de 'residuos vs ajustados' (sección 6.4)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Ejecutar el notebook en vivo. Cambiar n de 50 a 500 — ¿R² cambia? ¿Por qué? Discutir la diferencia entre R² alto y modelo útil.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separa a un analista junior de uno senior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y cómo evitarlos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85039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170432"/>
            <a:ext cx="5029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70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152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XᵀX sin verificar el rango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88720" y="14447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np.linalg.inv() explota si la matriz es singular. Siempre: matrix_rank y cond primero.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76672" y="1170432"/>
            <a:ext cx="0" cy="512064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21615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Usar lstsq() en producción — es numéricamente estable.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847088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47088"/>
            <a:ext cx="85039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1938528"/>
            <a:ext cx="5029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9385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AB con BA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88720" y="2212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matricial no es conmutativo. Error frecuente al calcular XᵀX vs XXᵀ.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376672" y="1938528"/>
            <a:ext cx="0" cy="512064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98424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XᵀX es p×p. XXᵀ es n×n. Son matrices distintas con interpretaciones distintas.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15184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15184"/>
            <a:ext cx="850392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706624"/>
            <a:ext cx="5029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706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26883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el número de condición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88720" y="29809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cond(XᵀX) &gt; 10⁶ → los coeficientes β̂ son numéricamente inestables aunque R² sea alto.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76672" y="2706624"/>
            <a:ext cx="0" cy="512064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75234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Estandarizar variables (mean=0, std=1) antes de armar X reduce el número de condición.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383280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383280"/>
            <a:ext cx="850392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474720"/>
            <a:ext cx="59436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4747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incluir columna de unos para el intercepto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8872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[1 | x₁ | x₂ | …]. Sin esa columna, forzás el modelo a pasar por el origen.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76672" y="3474720"/>
            <a:ext cx="0" cy="512064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5204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np.column_stack([np.ones(n), X_features])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151376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151376"/>
            <a:ext cx="850392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" y="4242816"/>
            <a:ext cx="59436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242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88720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H idempotente y tr(H) = p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88720" y="45171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H@H ≈ H y tr(H) ≈ p → todo el pipeline matricial es correcto.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76672" y="4242816"/>
            <a:ext cx="0" cy="512064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428853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 tu test de sanidad antes de interpretar cualquier resultado.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Pedir a un alumno que cometa el error en vivo: 'Dupliquemos la columna x₁ y veamos qué pasa con la inversa.' Aprendizaje por ejemplo que falla.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560320"/>
            <a:ext cx="3749040" cy="3749040"/>
          </a:xfrm>
          <a:prstGeom prst="ellipse">
            <a:avLst/>
          </a:prstGeom>
          <a:solidFill>
            <a:srgbClr val="2176AE">
              <a:alpha val="17000"/>
            </a:srgbClr>
          </a:solidFill>
          <a:ln w="12700">
            <a:solidFill>
              <a:srgbClr val="C8DEF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20040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1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28600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84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Clases en vivo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69080" y="256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ideas que no podés olvidar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713232"/>
            <a:ext cx="4754880" cy="0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896112"/>
            <a:ext cx="475488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896112"/>
            <a:ext cx="475488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987552"/>
            <a:ext cx="475488" cy="47548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987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0058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XᵀX lo es todo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28032" y="1353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esa matriz es invertible, tenés un modelo. Si no, tenés un problema. Verificar siempre rank y cond.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2212848"/>
            <a:ext cx="475488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2212848"/>
            <a:ext cx="475488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304288"/>
            <a:ext cx="475488" cy="47548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304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8032" y="23225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= (XᵀX)⁻¹Xᵀy — de memoria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28032" y="26700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fórmula es el corazón de OLS, mínimos cuadrados ponderados, regresión ridge y más. Todo lo que viene la usa.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3529584"/>
            <a:ext cx="4754880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69080" y="3529584"/>
            <a:ext cx="475488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3621024"/>
            <a:ext cx="475488" cy="4754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28032" y="36393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álgebra no es teoría — es código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28032" y="39867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que viste hoy tiene un equivalente directo en NumPy. La fórmula y el código son lo mismo.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→  Eigenvalues · Matrices aleatorias · Normal multivariante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2079</Words>
  <Application>Microsoft Macintosh PowerPoint</Application>
  <PresentationFormat>On-screen Show (16:9)</PresentationFormat>
  <Paragraphs>293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2</cp:revision>
  <dcterms:created xsi:type="dcterms:W3CDTF">2026-03-30T22:11:08Z</dcterms:created>
  <dcterms:modified xsi:type="dcterms:W3CDTF">2026-03-31T00:44:55Z</dcterms:modified>
</cp:coreProperties>
</file>