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331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45152" y="0"/>
            <a:ext cx="329184" cy="514350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line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AED6F1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292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07 · MÓDULO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68580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Aplicación: Scoring</a:t>
            </a:r>
            <a:endParaRPr lang="en-US" sz="2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Threshold Óptimo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en producción — del modelo a la decisión de negocio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2377440" cy="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968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Nivel avanzado · Python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47731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8 · Módulo 2 · Regresión Logística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60720" y="3657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FFFFFF">
                    <a:alpha val="14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</a:t>
            </a:r>
            <a:endParaRPr lang="en-US" sz="1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poder hacer al terminar?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931920" y="107899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078992"/>
            <a:ext cx="4892040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6512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152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threshold óptimo según costos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490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FN·costo_FN + FP·costo_FP — el criterio real de negocio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2011680"/>
            <a:ext cx="4892040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matriz de confusión ponderada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Sensibildad, especificidad, PPV en función del threshold elegido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2944368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2944368"/>
            <a:ext cx="4892040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logística vs LDA en el mismo dataset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cada modelo gana? Qué supuesto marcar la diferencia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0" y="3877056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3877056"/>
            <a:ext cx="4892040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un reporte ejecutivo de scoring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coeficientes + AUC + decisiones para nuevos solicitantes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mensaje de hoy: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1627632"/>
            <a:ext cx="3383280" cy="548640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70078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AUC mide el modelo.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threshold es una decisión de negocio.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23042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independientes. Se eligen por separado con criterios distintos.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Preguntar: '¿Prefieren detectar más fraude aunque genere más falsas alarmas, o menos alarmas aunque se escape algo?' — introduce el dilema del threshold.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 óptimo — análisis de costo-beneficio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FN·cost_FN + FP·cost_FP → minimizar sobre todos los thresholds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06908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069080" cy="502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del threshold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664208"/>
            <a:ext cx="3749040" cy="51206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190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(falso negativo):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9019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detectar un evento → pérdida directa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prestar a alguien que defaultea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" y="2231136"/>
            <a:ext cx="37490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860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(falso positivo):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4688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 a alguien que era bueno → oportunidad perdida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rechazar a buen pagador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" y="2798064"/>
            <a:ext cx="3749040" cy="51206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529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bajo: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03580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sensibilidad · más FP · captura más eventos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" y="3364992"/>
            <a:ext cx="37490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198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alto: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60273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especificidad · más FN · genera menos alarmas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" y="3931920"/>
            <a:ext cx="3749040" cy="7498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050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del threshold óptimo: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2793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th* = argmin_t [ FN(t)·cost_FN + FP(t)·cost_FP 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416052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078992"/>
            <a:ext cx="4160520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scoring de crédito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160934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 promedio: 10,000 USD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FN = 10,000 USD (perder préstamo)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FP =    500 USD (perder margen de interés)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2468880"/>
            <a:ext cx="3931920" cy="58521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5511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th=0.2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0" y="2551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sensibilidad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49440" y="255117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FN=5  FP=85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01184" y="28346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92,500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73168" y="3127248"/>
            <a:ext cx="3931920" cy="585216"/>
          </a:xfrm>
          <a:prstGeom prst="rect">
            <a:avLst/>
          </a:prstGeom>
          <a:solidFill>
            <a:srgbClr val="E8F8F0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32095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th=0.3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23560" y="32095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49440" y="32095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FN=12  FP=45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01184" y="34930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82,500 ← óptimo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73168" y="3785616"/>
            <a:ext cx="3931920" cy="58521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38679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th=0.5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23560" y="38679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49440" y="38679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FN=25  FP=18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01184" y="415137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259,000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Demo en el notebook: graficar costo total vs threshold. El mínimo visual es el threshold óptimo para este negocio.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Logística vs LDA — cuándo usar cada uno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Supuestos, robustez y eficiencia comparados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Ambos modelan P(y=1|x). La diferencia es el supuesto sobre la distribución de X.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09344"/>
            <a:ext cx="2048256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55064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609344"/>
            <a:ext cx="2724912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65506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1609344"/>
            <a:ext cx="361188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6550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56816"/>
            <a:ext cx="2048256" cy="36576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1956816"/>
            <a:ext cx="2724912" cy="36576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956816"/>
            <a:ext cx="3611880" cy="36576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208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 sobre 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202082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(semi-paramétrico)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0" y="2020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~ MVN por clase + Σ común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368296"/>
            <a:ext cx="204825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23160" y="2368296"/>
            <a:ext cx="272491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2368296"/>
            <a:ext cx="36118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43230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14600" y="243230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 de β directamente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0" y="24323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 μₖ y Σ pooled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779776"/>
            <a:ext cx="2048256" cy="36576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23160" y="2779776"/>
            <a:ext cx="2724912" cy="36576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2779776"/>
            <a:ext cx="3611880" cy="36576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84378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clases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14600" y="284378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 (o multinomial)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03520" y="2843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clases naturalmente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191256"/>
            <a:ext cx="204825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3191256"/>
            <a:ext cx="272491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3191256"/>
            <a:ext cx="36118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25526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 outliers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14600" y="325526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(más flexible)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0" y="3255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(asume normalidad)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602736"/>
            <a:ext cx="2048256" cy="36576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23160" y="3602736"/>
            <a:ext cx="2724912" cy="36576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3602736"/>
            <a:ext cx="3611880" cy="36576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66674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estadística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514600" y="366674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si MVN se cumple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03520" y="3666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si MVN se cumple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014216"/>
            <a:ext cx="204825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23160" y="4014216"/>
            <a:ext cx="272491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12080" y="4014216"/>
            <a:ext cx="36118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0782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para: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514600" y="407822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no normales, features mixtas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303520" y="4078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aprox. normales, muchas clases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507992"/>
            <a:ext cx="8503920" cy="347472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45628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cuando los supuestos de LDA se cumplen, LDA ≈ Logística en performance. Con outliers o distribuciones asimétricas, preferir Logística.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Comparar en vivo: ajustar ambos modelos al mismo dataset, comparar AUC. La diferencia suele ser pequeña con datos bien portados.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 ejecutivo de scoring — formato industria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modelo al informe listo para presentar al negocio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33856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Modelo: Regresión Logística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24328" y="1133856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test = 0.847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73168" y="1133856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óptimo = 0.28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22008" y="1133856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n_train = 2,400 · n_test = 600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5394960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664208"/>
            <a:ext cx="5394960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7393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del modelo (OR interpretado)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2084832"/>
            <a:ext cx="128016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1214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10512" y="2084832"/>
            <a:ext cx="98755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212140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52928" y="2084832"/>
            <a:ext cx="8961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7792" y="21214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94760" y="2084832"/>
            <a:ext cx="8961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9624" y="21214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2084832"/>
            <a:ext cx="91440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21214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" y="2395728"/>
            <a:ext cx="1280160" cy="384048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10512" y="2395728"/>
            <a:ext cx="987552" cy="384048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52928" y="2395728"/>
            <a:ext cx="896112" cy="384048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2395728"/>
            <a:ext cx="896112" cy="384048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2395728"/>
            <a:ext cx="914400" cy="384048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468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65376" y="246888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-1.20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07792" y="24688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9624" y="24688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-6.67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91456" y="2468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" y="2816352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10512" y="2816352"/>
            <a:ext cx="98755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52928" y="2816352"/>
            <a:ext cx="89611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94760" y="2816352"/>
            <a:ext cx="89611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36592" y="2816352"/>
            <a:ext cx="914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28895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865376" y="288950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+1.80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907792" y="28895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0.21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849624" y="28895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8.57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91456" y="28895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" y="3236976"/>
            <a:ext cx="1280160" cy="384048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10512" y="3236976"/>
            <a:ext cx="987552" cy="384048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52928" y="3236976"/>
            <a:ext cx="896112" cy="384048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94760" y="3236976"/>
            <a:ext cx="896112" cy="384048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36592" y="3236976"/>
            <a:ext cx="914400" cy="384048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33101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antiguedad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865376" y="331012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-0.45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907792" y="331012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849624" y="331012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-3.21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91456" y="3310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0.64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5488" y="3657600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0512" y="3657600"/>
            <a:ext cx="98755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52928" y="3657600"/>
            <a:ext cx="89611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94760" y="3657600"/>
            <a:ext cx="89611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36592" y="3657600"/>
            <a:ext cx="914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" y="3730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865376" y="373075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907792" y="373075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0.19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849624" y="373075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-1.05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791456" y="37307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0.82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897880" y="1664208"/>
            <a:ext cx="2926080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897880" y="1664208"/>
            <a:ext cx="2926080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53328" y="17739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solicitantes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053328" y="2121408"/>
            <a:ext cx="2606040" cy="566928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72200" y="21762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114032" y="21762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P=0.08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172200" y="24323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APROBAR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053328" y="2779776"/>
            <a:ext cx="260604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72200" y="28346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B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114032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P=0.61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172200" y="3090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RECHAZAR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053328" y="3438144"/>
            <a:ext cx="2606040" cy="566928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72200" y="3493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114032" y="3493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P=0.29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172200" y="3749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REVISAR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20040" y="4279392"/>
            <a:ext cx="8503920" cy="6217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5488" y="4352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ejecutiva: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2240280" y="4352544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ratio es el mayor predictor de default (OR=6.05). El modelo tiene AUC=0.847. Con threshold 0.28, captura el 88% del default a costo operativo óptimo.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Este es el formato que se presenta al gerente de riesgos. Un slide, los números clave, la decisión clara.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1E2D"/>
          </a:solidFill>
          <a:ln w="12700">
            <a:solidFill>
              <a:srgbClr val="14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137160"/>
            <a:ext cx="155448" cy="155448"/>
          </a:xfrm>
          <a:prstGeom prst="lin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37160"/>
            <a:ext cx="155448" cy="155448"/>
          </a:xfrm>
          <a:prstGeom prst="lin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7160"/>
            <a:ext cx="155448" cy="155448"/>
          </a:xfrm>
          <a:prstGeom prst="lin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Clase07_Scoring_Threshold.ipynb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4315968" cy="2103120"/>
          </a:xfrm>
          <a:prstGeom prst="rect">
            <a:avLst/>
          </a:prstGeom>
          <a:solidFill>
            <a:srgbClr val="1E2D3D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566928"/>
            <a:ext cx="4315968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6583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Threshold óptimo por costo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9144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confusion_matrix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39903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COSTO_FN, COSTO_FP = 10_000, 500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164134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ths = np.arange(0.1, 0.9, 0.05)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188366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costos = []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21259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 in ths: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3682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tn,fp,fn,tp = confusion_matrix(y_te, proba&gt;=th).ravel()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0624" y="261061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costos.append(fn*COSTO_FN + fp*COSTO_FP)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73168" y="566928"/>
            <a:ext cx="4114800" cy="2103120"/>
          </a:xfrm>
          <a:prstGeom prst="rect">
            <a:avLst/>
          </a:prstGeom>
          <a:solidFill>
            <a:srgbClr val="1E2D3D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566928"/>
            <a:ext cx="4114800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Logística vs LDA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0" y="914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sklearn.discriminant_analysis import \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156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LinearDiscriminantAnalysis as LDA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6413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 = {'Logística': LogisticRegression(...),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1883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'LDA':        LDA()}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1259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nm, m in modelos.items():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2368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m.fit(X_tr, y_tr)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26106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auc = roc_auc_score(y_te, m.predict_proba(X_te)[:,1])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816352"/>
            <a:ext cx="8631936" cy="2194560"/>
          </a:xfrm>
          <a:prstGeom prst="rect">
            <a:avLst/>
          </a:prstGeom>
          <a:solidFill>
            <a:srgbClr val="1E2D3D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816352"/>
            <a:ext cx="8631936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90779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Reporte ejecutivo completo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0624" y="316382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scoring_report(model, X_te, y_te, threshold, feature_names):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340614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proba  = model.predict_proba(X_te)[:, 1]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364845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y_pred = (proba &gt;= threshold).astype(int)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" y="389077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auc    = roc_auc_score(y_te, proba)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" y="4133088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     = np.exp(model.coef_[0])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0624" y="437540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print(classification_report(y_te, y_pred))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0624" y="461772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print(f'AUC={auc:.4f}  threshold={threshold:.2f}')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0624" y="486003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print(dict(zip(feature_names, OR.round(3))))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50292" cy="514350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651760"/>
            <a:ext cx="3566160" cy="3566160"/>
          </a:xfrm>
          <a:prstGeom prst="line">
            <a:avLst/>
          </a:prstGeom>
          <a:solidFill>
            <a:srgbClr val="2E86C1">
              <a:alpha val="17000"/>
            </a:srgbClr>
          </a:solidFill>
          <a:ln w="12700">
            <a:solidFill>
              <a:srgbClr val="AED6F1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 7</a:t>
            </a:r>
            <a:endParaRPr lang="en-US" sz="3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286000" cy="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299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9080" y="274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cubrimos hoy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731520"/>
            <a:ext cx="4754880" cy="0"/>
          </a:xfrm>
          <a:prstGeom prst="line">
            <a:avLst/>
          </a:prstGeom>
          <a:noFill/>
          <a:ln w="9525">
            <a:solidFill>
              <a:srgbClr val="D0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978408"/>
            <a:ext cx="146304" cy="146304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886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≠ 0.5 — es una decisión de costo de negocio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1453896"/>
            <a:ext cx="146304" cy="146304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362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Youden J y análisis FN·cost optimizan el threshold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1929384"/>
            <a:ext cx="146304" cy="146304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837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Logística: sin supuestos sobre X — más robusta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2404872"/>
            <a:ext cx="146304" cy="146304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2313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LDA: asume MVN + Σ común — más eficiente si se cumple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69080" y="2880360"/>
            <a:ext cx="146304" cy="146304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2788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mide el modelo · threshold mide la política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3355848"/>
            <a:ext cx="146304" cy="146304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3264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ejecutivo: AUC + tabla OR + decisiones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69080" y="4645152"/>
            <a:ext cx="4754880" cy="347472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47000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Módulo 3 — Análisis Discriminante Lineal (LDA) · Fisher · QDA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</Words>
  <Application>Microsoft Macintosh PowerPoint</Application>
  <PresentationFormat>On-screen Show (16:9)</PresentationFormat>
  <Paragraphs>176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Josef Rodriguez</cp:lastModifiedBy>
  <cp:revision>2</cp:revision>
  <dcterms:created xsi:type="dcterms:W3CDTF">2026-04-10T23:12:50Z</dcterms:created>
  <dcterms:modified xsi:type="dcterms:W3CDTF">2026-04-16T00:08:35Z</dcterms:modified>
</cp:coreProperties>
</file>