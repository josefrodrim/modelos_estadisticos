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003"/>
    <p:restoredTop sz="94610"/>
  </p:normalViewPr>
  <p:slideViewPr>
    <p:cSldViewPr snapToGrid="0" snapToObjects="1">
      <p:cViewPr varScale="1">
        <p:scale>
          <a:sx n="193" d="100"/>
          <a:sy n="193" d="100"/>
        </p:scale>
        <p:origin x="114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866918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37760" y="0"/>
            <a:ext cx="4206240" cy="5143500"/>
          </a:xfrm>
          <a:prstGeom prst="rect">
            <a:avLst/>
          </a:prstGeom>
          <a:solidFill>
            <a:srgbClr val="512E5F"/>
          </a:solidFill>
          <a:ln w="12700">
            <a:solidFill>
              <a:srgbClr val="512E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645152" y="0"/>
            <a:ext cx="329184" cy="5143500"/>
          </a:xfrm>
          <a:prstGeom prst="rect">
            <a:avLst/>
          </a:prstGeom>
          <a:solidFill>
            <a:srgbClr val="A569BD"/>
          </a:solidFill>
          <a:ln w="12700">
            <a:solidFill>
              <a:srgbClr val="A569B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669280" y="274320"/>
            <a:ext cx="3840480" cy="3840480"/>
          </a:xfrm>
          <a:prstGeom prst="line">
            <a:avLst/>
          </a:prstGeom>
          <a:solidFill>
            <a:srgbClr val="7D3C98">
              <a:alpha val="20000"/>
            </a:srgbClr>
          </a:solidFill>
          <a:ln w="12700">
            <a:solidFill>
              <a:srgbClr val="D7BDE2">
                <a:alpha val="3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0" y="91440"/>
            <a:ext cx="3474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0" b="1" dirty="0">
                <a:solidFill>
                  <a:srgbClr val="FFFFFF">
                    <a:alpha val="12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Σ</a:t>
            </a:r>
            <a:endParaRPr lang="en-US" sz="14000" dirty="0"/>
          </a:p>
        </p:txBody>
      </p:sp>
      <p:sp>
        <p:nvSpPr>
          <p:cNvPr id="6" name="Shape 4"/>
          <p:cNvSpPr/>
          <p:nvPr/>
        </p:nvSpPr>
        <p:spPr>
          <a:xfrm>
            <a:off x="411480" y="256032"/>
            <a:ext cx="1920240" cy="292608"/>
          </a:xfrm>
          <a:prstGeom prst="rect">
            <a:avLst/>
          </a:prstGeom>
          <a:solidFill>
            <a:srgbClr val="F5EEF8"/>
          </a:solidFill>
          <a:ln w="6350">
            <a:solidFill>
              <a:srgbClr val="A569B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292608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rgbClr val="512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 10 · MÓDULO 4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411480" y="685800"/>
            <a:ext cx="40690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2700" b="1" dirty="0">
                <a:solidFill>
                  <a:srgbClr val="1A2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PCA — Componentes</a:t>
            </a:r>
            <a:endParaRPr lang="en-US" sz="27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2700" b="1" dirty="0">
                <a:solidFill>
                  <a:srgbClr val="1A2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Principales y SVD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411480" y="2880360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A5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Reducción de dimensionalidad · Varianza explicada · Biplot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1480" y="3456432"/>
            <a:ext cx="2377440" cy="0"/>
          </a:xfrm>
          <a:prstGeom prst="line">
            <a:avLst/>
          </a:prstGeom>
          <a:noFill/>
          <a:ln w="19050">
            <a:solidFill>
              <a:srgbClr val="A569B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3621024"/>
            <a:ext cx="4069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Docente: Josef Rodriguez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11480" y="3968496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5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horas · Nivel avanzado · Python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11480" y="4773168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A5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8 · Módulo 4 · PCA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F5EEF8"/>
          </a:solidFill>
          <a:ln w="12700">
            <a:solidFill>
              <a:srgbClr val="F5EE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" cy="960120"/>
          </a:xfrm>
          <a:prstGeom prst="rect">
            <a:avLst/>
          </a:prstGeom>
          <a:solidFill>
            <a:srgbClr val="A569BD"/>
          </a:solidFill>
          <a:ln w="12700">
            <a:solidFill>
              <a:srgbClr val="A569B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828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A2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¿Qué vas a poder hacer al terminar?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931920" y="1078992"/>
            <a:ext cx="489204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8D5F0"/>
            </a:solidFill>
            <a:prstDash val="solid"/>
          </a:ln>
          <a:effectLst>
            <a:outerShdw blurRad="101600" dist="38100" dir="8100000" algn="bl" rotWithShape="0">
              <a:srgbClr val="9B72AA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931920" y="1078992"/>
            <a:ext cx="4892040" cy="50292"/>
          </a:xfrm>
          <a:prstGeom prst="rect">
            <a:avLst/>
          </a:prstGeom>
          <a:solidFill>
            <a:srgbClr val="7D3C98"/>
          </a:solidFill>
          <a:ln w="12700">
            <a:solidFill>
              <a:srgbClr val="7D3C9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096512" y="11704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D3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26280" y="1152144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Derivar PCA desde la eigendecomposición de Σ̂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26280" y="149047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i="1" dirty="0">
                <a:solidFill>
                  <a:srgbClr val="7A5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Centrar X → </a:t>
            </a:r>
            <a:r>
              <a:rPr lang="en-US" sz="950" i="1" dirty="0" err="1">
                <a:solidFill>
                  <a:srgbClr val="7A5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</a:t>
            </a:r>
            <a:r>
              <a:rPr lang="en-US" sz="950" i="1" dirty="0">
                <a:solidFill>
                  <a:srgbClr val="7A5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̂= VΛVᵀ → PCs son los eigenvectors ordenados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931920" y="2011680"/>
            <a:ext cx="489204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8D5F0"/>
            </a:solidFill>
            <a:prstDash val="solid"/>
          </a:ln>
          <a:effectLst>
            <a:outerShdw blurRad="101600" dist="38100" dir="8100000" algn="bl" rotWithShape="0">
              <a:srgbClr val="9B72AA">
                <a:alpha val="13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931920" y="2011680"/>
            <a:ext cx="4892040" cy="50292"/>
          </a:xfrm>
          <a:prstGeom prst="rect">
            <a:avLst/>
          </a:prstGeom>
          <a:solidFill>
            <a:srgbClr val="7D3C98"/>
          </a:solidFill>
          <a:ln w="12700">
            <a:solidFill>
              <a:srgbClr val="7D3C9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096512" y="21031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D3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26280" y="208483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Entender por qué SVD y eigendecomp son equivalentes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26280" y="242316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A5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SVD de X_c = U S Vᵀ — mismos vectores, más estable numéricamente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931920" y="2944368"/>
            <a:ext cx="489204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8D5F0"/>
            </a:solidFill>
            <a:prstDash val="solid"/>
          </a:ln>
          <a:effectLst>
            <a:outerShdw blurRad="101600" dist="38100" dir="8100000" algn="bl" rotWithShape="0">
              <a:srgbClr val="9B72AA">
                <a:alpha val="13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931920" y="2944368"/>
            <a:ext cx="4892040" cy="50292"/>
          </a:xfrm>
          <a:prstGeom prst="rect">
            <a:avLst/>
          </a:prstGeom>
          <a:solidFill>
            <a:srgbClr val="A569BD"/>
          </a:solidFill>
          <a:ln w="12700">
            <a:solidFill>
              <a:srgbClr val="A569B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096512" y="30358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56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26280" y="301752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e interpretar el scree plot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26280" y="335584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A5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varianza por PC · varianza acumulada · criterio del codo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931920" y="3877056"/>
            <a:ext cx="489204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8D5F0"/>
            </a:solidFill>
            <a:prstDash val="solid"/>
          </a:ln>
          <a:effectLst>
            <a:outerShdw blurRad="101600" dist="38100" dir="8100000" algn="bl" rotWithShape="0">
              <a:srgbClr val="9B72AA">
                <a:alpha val="13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931920" y="3877056"/>
            <a:ext cx="4892040" cy="50292"/>
          </a:xfrm>
          <a:prstGeom prst="rect">
            <a:avLst/>
          </a:prstGeom>
          <a:solidFill>
            <a:srgbClr val="A569BD"/>
          </a:solidFill>
          <a:ln w="12700">
            <a:solidFill>
              <a:srgbClr val="A569B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096512" y="396849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56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26280" y="395020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Leer un biplot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26280" y="428853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A5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Puntos = observaciones · Flechas = loadings de features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11480" y="120700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12E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¿Por qué PCA?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11480" y="1572768"/>
            <a:ext cx="3383280" cy="548640"/>
          </a:xfrm>
          <a:prstGeom prst="rect">
            <a:avLst/>
          </a:prstGeom>
          <a:solidFill>
            <a:srgbClr val="F5EEF8"/>
          </a:solidFill>
          <a:ln w="6350">
            <a:solidFill>
              <a:srgbClr val="A569B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1627632"/>
            <a:ext cx="3154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512E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Reducir p features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512E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correlacionadas a k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512E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componentes independientes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11480" y="2249424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7A5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perder demasiada información. Las PCs son ortogonales: correlación = 0 en el nuevo espacio.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F5EEF8"/>
          </a:solidFill>
          <a:ln w="5080">
            <a:solidFill>
              <a:srgbClr val="A569B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" y="4791456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7D3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🎙 Preguntar: '¿Alguien tiene un dataset con más de 20 features? ¿Cómo saben cuáles son las más importantes?' PCA lo responde.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512E5F"/>
          </a:solidFill>
          <a:ln w="12700">
            <a:solidFill>
              <a:srgbClr val="512E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46304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56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60120" y="1828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PCA = eigendecomposición de Σ̂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960120" y="676656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D7B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Direcciones de máxima varianza — paso a paso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8503920" cy="457200"/>
          </a:xfrm>
          <a:prstGeom prst="rect">
            <a:avLst/>
          </a:prstGeom>
          <a:solidFill>
            <a:srgbClr val="512E5F"/>
          </a:solidFill>
          <a:ln w="12700">
            <a:solidFill>
              <a:srgbClr val="512E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152144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Σ̂ = (1/(n−1)) Xcᵀ Xc = V Λ Vᵀ  →  PCₖ = vₖ  (k-ésimo eigenvector)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1664208"/>
            <a:ext cx="8503920" cy="493776"/>
          </a:xfrm>
          <a:prstGeom prst="rect">
            <a:avLst/>
          </a:prstGeom>
          <a:solidFill>
            <a:srgbClr val="FAF5FF"/>
          </a:solidFill>
          <a:ln w="5080">
            <a:solidFill>
              <a:srgbClr val="E8D5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5488" y="1801368"/>
            <a:ext cx="219456" cy="219456"/>
          </a:xfrm>
          <a:prstGeom prst="line">
            <a:avLst/>
          </a:prstGeom>
          <a:solidFill>
            <a:srgbClr val="A569BD"/>
          </a:solidFill>
          <a:ln w="12700">
            <a:solidFill>
              <a:srgbClr val="A569B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180136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22960" y="171907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A5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Centrar X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" y="190195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Xc = X − mean(X,axis=0)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931920" y="1792224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A5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cero — necesario para que la varianza tenga sentido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0040" y="2212848"/>
            <a:ext cx="8503920" cy="493776"/>
          </a:xfrm>
          <a:prstGeom prst="rect">
            <a:avLst/>
          </a:prstGeom>
          <a:solidFill>
            <a:srgbClr val="FAF5FF"/>
          </a:solidFill>
          <a:ln w="5080">
            <a:solidFill>
              <a:srgbClr val="E8D5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2350008"/>
            <a:ext cx="219456" cy="219456"/>
          </a:xfrm>
          <a:prstGeom prst="line">
            <a:avLst/>
          </a:prstGeom>
          <a:solidFill>
            <a:srgbClr val="A569BD"/>
          </a:solidFill>
          <a:ln w="12700">
            <a:solidFill>
              <a:srgbClr val="A569B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" y="235000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22960" y="226771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A5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Calcular Σ̂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" y="245059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Σ̂ = Xcᵀ Xc / (n−1)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931920" y="2340864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A5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 de covarianza p×p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0040" y="2761488"/>
            <a:ext cx="8503920" cy="493776"/>
          </a:xfrm>
          <a:prstGeom prst="rect">
            <a:avLst/>
          </a:prstGeom>
          <a:solidFill>
            <a:srgbClr val="FAF5FF"/>
          </a:solidFill>
          <a:ln w="5080">
            <a:solidFill>
              <a:srgbClr val="E8D5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5488" y="2898648"/>
            <a:ext cx="219456" cy="219456"/>
          </a:xfrm>
          <a:prstGeom prst="line">
            <a:avLst/>
          </a:prstGeom>
          <a:solidFill>
            <a:srgbClr val="A569BD"/>
          </a:solidFill>
          <a:ln w="12700">
            <a:solidFill>
              <a:srgbClr val="A569B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" y="289864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22960" y="281635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A5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Eigendecomposición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822960" y="299923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Σ̂ = V Λ Vᵀ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931920" y="2889504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A5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λᵢ = varianza de la PC i · vᵢ = dirección de la PC i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20040" y="3310128"/>
            <a:ext cx="8503920" cy="493776"/>
          </a:xfrm>
          <a:prstGeom prst="rect">
            <a:avLst/>
          </a:prstGeom>
          <a:solidFill>
            <a:srgbClr val="FAF5FF"/>
          </a:solidFill>
          <a:ln w="5080">
            <a:solidFill>
              <a:srgbClr val="E8D5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5488" y="3447288"/>
            <a:ext cx="219456" cy="219456"/>
          </a:xfrm>
          <a:prstGeom prst="line">
            <a:avLst/>
          </a:prstGeom>
          <a:solidFill>
            <a:srgbClr val="A569BD"/>
          </a:solidFill>
          <a:ln w="12700">
            <a:solidFill>
              <a:srgbClr val="A569B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" y="344728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22960" y="336499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A5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Ordenar de mayor a menor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822960" y="354787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λ₁ ≥ λ₂ ≥ ⋯ ≥ λₚ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931920" y="3438144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A5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PC1 explica más varianza, PC2 menos, etc.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20040" y="3858768"/>
            <a:ext cx="8503920" cy="493776"/>
          </a:xfrm>
          <a:prstGeom prst="rect">
            <a:avLst/>
          </a:prstGeom>
          <a:solidFill>
            <a:srgbClr val="512E5F"/>
          </a:solidFill>
          <a:ln w="12700">
            <a:solidFill>
              <a:srgbClr val="7D3C9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" y="3995928"/>
            <a:ext cx="219456" cy="219456"/>
          </a:xfrm>
          <a:prstGeom prst="line">
            <a:avLst/>
          </a:prstGeom>
          <a:solidFill>
            <a:srgbClr val="A569BD"/>
          </a:solidFill>
          <a:ln w="12700">
            <a:solidFill>
              <a:srgbClr val="A569B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5488" y="399592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22960" y="391363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Proyectar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822960" y="409651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 = Xc · V[:, :k]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3931920" y="3986784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D7B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Coordenadas de cada obs. en el espacio de k PCs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F5EEF8"/>
          </a:solidFill>
          <a:ln w="5080">
            <a:solidFill>
              <a:srgbClr val="A569B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74320" y="4791456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7D3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🎙 Mostrar en notebook: np.corrcoef(X.T) tiene muchos valores ≠ 0. Después de PCA, np.corrcoef(X_pca.T) es diagonal ≈ I.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F5EEF8"/>
          </a:solidFill>
          <a:ln w="12700">
            <a:solidFill>
              <a:srgbClr val="F5EE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" cy="960120"/>
          </a:xfrm>
          <a:prstGeom prst="rect">
            <a:avLst/>
          </a:prstGeom>
          <a:solidFill>
            <a:srgbClr val="A569BD"/>
          </a:solidFill>
          <a:ln w="12700">
            <a:solidFill>
              <a:srgbClr val="A569B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46304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D3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60120" y="1828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A2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Eigendecomposición vs SVD — dos caras de la misma moneda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960120" y="676656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A5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SVD es preferida en producción (más estable numéricamente)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20040" y="1078992"/>
            <a:ext cx="8503920" cy="457200"/>
          </a:xfrm>
          <a:prstGeom prst="rect">
            <a:avLst/>
          </a:prstGeom>
          <a:solidFill>
            <a:srgbClr val="512E5F"/>
          </a:solidFill>
          <a:ln w="12700">
            <a:solidFill>
              <a:srgbClr val="512E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1152144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SVD: Xc = U · S · Vᵀ  →  varianza de PCₖ = sₖ² / (n−1)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" y="1627632"/>
            <a:ext cx="2359152" cy="292608"/>
          </a:xfrm>
          <a:prstGeom prst="rect">
            <a:avLst/>
          </a:prstGeom>
          <a:solidFill>
            <a:srgbClr val="512E5F"/>
          </a:solidFill>
          <a:ln w="12700">
            <a:solidFill>
              <a:srgbClr val="512E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673352"/>
            <a:ext cx="2221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0" y="1627632"/>
            <a:ext cx="3273552" cy="292608"/>
          </a:xfrm>
          <a:prstGeom prst="rect">
            <a:avLst/>
          </a:prstGeom>
          <a:solidFill>
            <a:srgbClr val="512E5F"/>
          </a:solidFill>
          <a:ln w="12700">
            <a:solidFill>
              <a:srgbClr val="512E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834640" y="1673352"/>
            <a:ext cx="3136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Eigendecomp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080760" y="1627632"/>
            <a:ext cx="3017520" cy="292608"/>
          </a:xfrm>
          <a:prstGeom prst="rect">
            <a:avLst/>
          </a:prstGeom>
          <a:solidFill>
            <a:srgbClr val="512E5F"/>
          </a:solidFill>
          <a:ln w="12700">
            <a:solidFill>
              <a:srgbClr val="512E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72200" y="1673352"/>
            <a:ext cx="2880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" y="1956816"/>
            <a:ext cx="2359152" cy="365760"/>
          </a:xfrm>
          <a:prstGeom prst="rect">
            <a:avLst/>
          </a:prstGeom>
          <a:solidFill>
            <a:srgbClr val="FAF5FF"/>
          </a:solidFill>
          <a:ln w="3810">
            <a:solidFill>
              <a:srgbClr val="E8D5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0" y="1956816"/>
            <a:ext cx="3273552" cy="365760"/>
          </a:xfrm>
          <a:prstGeom prst="rect">
            <a:avLst/>
          </a:prstGeom>
          <a:solidFill>
            <a:srgbClr val="FAF5FF"/>
          </a:solidFill>
          <a:ln w="3810">
            <a:solidFill>
              <a:srgbClr val="E8D5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080760" y="1956816"/>
            <a:ext cx="3017520" cy="365760"/>
          </a:xfrm>
          <a:prstGeom prst="rect">
            <a:avLst/>
          </a:prstGeom>
          <a:solidFill>
            <a:srgbClr val="FAF5FF"/>
          </a:solidFill>
          <a:ln w="3810">
            <a:solidFill>
              <a:srgbClr val="E8D5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2020824"/>
            <a:ext cx="2221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834640" y="2020824"/>
            <a:ext cx="3136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Σ̂ = XcᵀXc/(n-1)  (p×p)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172200" y="2020824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Xc directamente  (n×p)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0040" y="2359152"/>
            <a:ext cx="2359152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E8D5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0" y="2359152"/>
            <a:ext cx="3273552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E8D5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080760" y="2359152"/>
            <a:ext cx="301752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E8D5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2423160"/>
            <a:ext cx="2221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Direcciones PCs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834640" y="2423160"/>
            <a:ext cx="3136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Eigenvectors de Σ̂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172200" y="2423160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Filas de Vᵀ (right singular vecs)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20040" y="2761488"/>
            <a:ext cx="2359152" cy="365760"/>
          </a:xfrm>
          <a:prstGeom prst="rect">
            <a:avLst/>
          </a:prstGeom>
          <a:solidFill>
            <a:srgbClr val="FAF5FF"/>
          </a:solidFill>
          <a:ln w="3810">
            <a:solidFill>
              <a:srgbClr val="E8D5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743200" y="2761488"/>
            <a:ext cx="3273552" cy="365760"/>
          </a:xfrm>
          <a:prstGeom prst="rect">
            <a:avLst/>
          </a:prstGeom>
          <a:solidFill>
            <a:srgbClr val="FAF5FF"/>
          </a:solidFill>
          <a:ln w="3810">
            <a:solidFill>
              <a:srgbClr val="E8D5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080760" y="2761488"/>
            <a:ext cx="3017520" cy="365760"/>
          </a:xfrm>
          <a:prstGeom prst="rect">
            <a:avLst/>
          </a:prstGeom>
          <a:solidFill>
            <a:srgbClr val="FAF5FF"/>
          </a:solidFill>
          <a:ln w="3810">
            <a:solidFill>
              <a:srgbClr val="E8D5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1480" y="2825496"/>
            <a:ext cx="2221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Varianzas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2834640" y="2825496"/>
            <a:ext cx="3136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Eigenvalues λᵢ de Σ̂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172200" y="2825496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sᵢ²/(n-1)  (valores singulares)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20040" y="3163824"/>
            <a:ext cx="2359152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E8D5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743200" y="3163824"/>
            <a:ext cx="3273552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E8D5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080760" y="3163824"/>
            <a:ext cx="301752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E8D5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11480" y="3227832"/>
            <a:ext cx="2221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¿Mismo resultado?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2834640" y="3227832"/>
            <a:ext cx="3136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Sí — exactamente el mismo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172200" y="3227832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Sí — las varianzas coinciden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320040" y="3566160"/>
            <a:ext cx="2359152" cy="365760"/>
          </a:xfrm>
          <a:prstGeom prst="rect">
            <a:avLst/>
          </a:prstGeom>
          <a:solidFill>
            <a:srgbClr val="FAF5FF"/>
          </a:solidFill>
          <a:ln w="3810">
            <a:solidFill>
              <a:srgbClr val="E8D5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0" y="3566160"/>
            <a:ext cx="3273552" cy="365760"/>
          </a:xfrm>
          <a:prstGeom prst="rect">
            <a:avLst/>
          </a:prstGeom>
          <a:solidFill>
            <a:srgbClr val="FAF5FF"/>
          </a:solidFill>
          <a:ln w="3810">
            <a:solidFill>
              <a:srgbClr val="E8D5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080760" y="3566160"/>
            <a:ext cx="3017520" cy="365760"/>
          </a:xfrm>
          <a:prstGeom prst="rect">
            <a:avLst/>
          </a:prstGeom>
          <a:solidFill>
            <a:srgbClr val="FAF5FF"/>
          </a:solidFill>
          <a:ln w="3810">
            <a:solidFill>
              <a:srgbClr val="E8D5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11480" y="3630168"/>
            <a:ext cx="2221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Estabilidad numérica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2834640" y="3630168"/>
            <a:ext cx="3136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Moderada (cuadra la matriz)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6172200" y="3630168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Alta (operación directa sobre X)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320040" y="3968496"/>
            <a:ext cx="2359152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E8D5F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743200" y="3968496"/>
            <a:ext cx="3273552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E8D5F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080760" y="3968496"/>
            <a:ext cx="301752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E8D5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11480" y="4032504"/>
            <a:ext cx="2221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sklearn usa: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2834640" y="4032504"/>
            <a:ext cx="3136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6172200" y="4032504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Sí — solver='full' o 'arpack'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320040" y="4407408"/>
            <a:ext cx="8503920" cy="402336"/>
          </a:xfrm>
          <a:prstGeom prst="rect">
            <a:avLst/>
          </a:prstGeom>
          <a:solidFill>
            <a:srgbClr val="F5EEF8"/>
          </a:solidFill>
          <a:ln w="6350">
            <a:solidFill>
              <a:srgbClr val="A569BD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75488" y="4480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D3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producción: usar sklearn PCA (SVD interno). Eigendecomp manual = útil para entender, no para escalar.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F5EEF8"/>
          </a:solidFill>
          <a:ln w="5080">
            <a:solidFill>
              <a:srgbClr val="A569BD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74320" y="4791456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7D3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🎙 Verificar en notebook: np.allclose(eigen_vars, svd_vars, rtol=0.01) → True. Los dos métodos dan exactamente lo mismo.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512E5F"/>
          </a:solidFill>
          <a:ln w="12700">
            <a:solidFill>
              <a:srgbClr val="512E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46304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56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60120" y="1828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Scree Plot — cuánta varianza hay en cada componente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960120" y="676656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D7B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Buscar el 'codo': donde la curva se aplana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4114800" cy="3822192"/>
          </a:xfrm>
          <a:prstGeom prst="rect">
            <a:avLst/>
          </a:prstGeom>
          <a:solidFill>
            <a:srgbClr val="FFFFFF"/>
          </a:solidFill>
          <a:ln w="6350">
            <a:solidFill>
              <a:srgbClr val="E8D5F0"/>
            </a:solidFill>
            <a:prstDash val="solid"/>
          </a:ln>
          <a:effectLst>
            <a:outerShdw blurRad="101600" dist="38100" dir="8100000" algn="bl" rotWithShape="0">
              <a:srgbClr val="9B72AA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78992"/>
            <a:ext cx="4114800" cy="50292"/>
          </a:xfrm>
          <a:prstGeom prst="rect">
            <a:avLst/>
          </a:prstGeom>
          <a:solidFill>
            <a:srgbClr val="7D3C98"/>
          </a:solidFill>
          <a:ln w="12700">
            <a:solidFill>
              <a:srgbClr val="7D3C9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118872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D3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muestra el scree plot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" y="1682496"/>
            <a:ext cx="3749040" cy="621792"/>
          </a:xfrm>
          <a:prstGeom prst="rect">
            <a:avLst/>
          </a:prstGeom>
          <a:solidFill>
            <a:srgbClr val="FAF5FF"/>
          </a:solidFill>
          <a:ln w="3810">
            <a:solidFill>
              <a:srgbClr val="E8D5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746504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12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varianza por PC: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94360" y="198424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7A5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Barras decrecientes. PC1 siempre mayor.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75488" y="2377440"/>
            <a:ext cx="3749040" cy="621792"/>
          </a:xfrm>
          <a:prstGeom prst="rect">
            <a:avLst/>
          </a:prstGeom>
          <a:solidFill>
            <a:srgbClr val="FFFFFF"/>
          </a:solidFill>
          <a:ln w="3810">
            <a:solidFill>
              <a:srgbClr val="E8D5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441448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12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Varianza acumulada: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94360" y="267919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7A5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Curva que sube hasta 100%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75488" y="3072384"/>
            <a:ext cx="3749040" cy="621792"/>
          </a:xfrm>
          <a:prstGeom prst="rect">
            <a:avLst/>
          </a:prstGeom>
          <a:solidFill>
            <a:srgbClr val="FAF5FF"/>
          </a:solidFill>
          <a:ln w="3810">
            <a:solidFill>
              <a:srgbClr val="E8D5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3136392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12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Codo: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94360" y="3374136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7A5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 donde la curva se aplana bruscamente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75488" y="3767328"/>
            <a:ext cx="3749040" cy="621792"/>
          </a:xfrm>
          <a:prstGeom prst="rect">
            <a:avLst/>
          </a:prstGeom>
          <a:solidFill>
            <a:srgbClr val="FFFFFF"/>
          </a:solidFill>
          <a:ln w="3810">
            <a:solidFill>
              <a:srgbClr val="E8D5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3831336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12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Interpretación: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94360" y="406908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7A5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PCs antes del codo = señal real</a:t>
            </a: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7A5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PCs después = ruido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663440" y="1078992"/>
            <a:ext cx="4160520" cy="3822192"/>
          </a:xfrm>
          <a:prstGeom prst="rect">
            <a:avLst/>
          </a:prstGeom>
          <a:solidFill>
            <a:srgbClr val="FFFFFF"/>
          </a:solidFill>
          <a:ln w="6350">
            <a:solidFill>
              <a:srgbClr val="E8D5F0"/>
            </a:solidFill>
            <a:prstDash val="solid"/>
          </a:ln>
          <a:effectLst>
            <a:outerShdw blurRad="101600" dist="38100" dir="8100000" algn="bl" rotWithShape="0">
              <a:srgbClr val="9B72AA">
                <a:alpha val="13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63440" y="1078992"/>
            <a:ext cx="4160520" cy="50292"/>
          </a:xfrm>
          <a:prstGeom prst="rect">
            <a:avLst/>
          </a:prstGeom>
          <a:solidFill>
            <a:srgbClr val="A569BD"/>
          </a:solidFill>
          <a:ln w="12700">
            <a:solidFill>
              <a:srgbClr val="A569B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28032" y="118872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56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Criterios de selección rápida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773168" y="1682496"/>
            <a:ext cx="3931920" cy="621792"/>
          </a:xfrm>
          <a:prstGeom prst="rect">
            <a:avLst/>
          </a:prstGeom>
          <a:solidFill>
            <a:srgbClr val="FAF5FF"/>
          </a:solidFill>
          <a:ln w="3810">
            <a:solidFill>
              <a:srgbClr val="E8D5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01184" y="173736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12E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80% varianza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901184" y="2002536"/>
            <a:ext cx="1783080" cy="219456"/>
          </a:xfrm>
          <a:prstGeom prst="rect">
            <a:avLst/>
          </a:prstGeom>
          <a:solidFill>
            <a:srgbClr val="1A2B3C"/>
          </a:solidFill>
          <a:ln w="12700">
            <a:solidFill>
              <a:srgbClr val="1A2B3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56048" y="2020824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n_80=np.argmax(cum&gt;=0.80)+1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766560" y="1737360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7A5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Umbral mínimo razonable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773168" y="2377440"/>
            <a:ext cx="3931920" cy="621792"/>
          </a:xfrm>
          <a:prstGeom prst="rect">
            <a:avLst/>
          </a:prstGeom>
          <a:solidFill>
            <a:srgbClr val="FFFFFF"/>
          </a:solidFill>
          <a:ln w="3810">
            <a:solidFill>
              <a:srgbClr val="E8D5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01184" y="2432304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12E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95% varianza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901184" y="2697480"/>
            <a:ext cx="1783080" cy="219456"/>
          </a:xfrm>
          <a:prstGeom prst="rect">
            <a:avLst/>
          </a:prstGeom>
          <a:solidFill>
            <a:srgbClr val="1A2B3C"/>
          </a:solidFill>
          <a:ln w="12700">
            <a:solidFill>
              <a:srgbClr val="1A2B3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56048" y="2715768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n_95=np.argmax(cum&gt;=0.95)+1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766560" y="2432304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7A5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Conservador — poca pérdida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773168" y="3072384"/>
            <a:ext cx="3931920" cy="621792"/>
          </a:xfrm>
          <a:prstGeom prst="rect">
            <a:avLst/>
          </a:prstGeom>
          <a:solidFill>
            <a:srgbClr val="FAF5FF"/>
          </a:solidFill>
          <a:ln w="3810">
            <a:solidFill>
              <a:srgbClr val="E8D5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01184" y="312724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12E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Kaiser (λ&gt;1)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901184" y="3392424"/>
            <a:ext cx="1783080" cy="219456"/>
          </a:xfrm>
          <a:prstGeom prst="rect">
            <a:avLst/>
          </a:prstGeom>
          <a:solidFill>
            <a:srgbClr val="1A2B3C"/>
          </a:solidFill>
          <a:ln w="12700">
            <a:solidFill>
              <a:srgbClr val="1A2B3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56048" y="3410712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k=np.sum(ev&gt;1)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766560" y="3127248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7A5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Eigenvalue &gt; varianza media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773168" y="3767328"/>
            <a:ext cx="3931920" cy="621792"/>
          </a:xfrm>
          <a:prstGeom prst="rect">
            <a:avLst/>
          </a:prstGeom>
          <a:solidFill>
            <a:srgbClr val="FFFFFF"/>
          </a:solidFill>
          <a:ln w="3810">
            <a:solidFill>
              <a:srgbClr val="E8D5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901184" y="382219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12E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Codo visual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901184" y="4087368"/>
            <a:ext cx="1783080" cy="219456"/>
          </a:xfrm>
          <a:prstGeom prst="rect">
            <a:avLst/>
          </a:prstGeom>
          <a:solidFill>
            <a:srgbClr val="1A2B3C"/>
          </a:solidFill>
          <a:ln w="12700">
            <a:solidFill>
              <a:srgbClr val="1A2B3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56048" y="4105656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2ª diferencia del scree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6766560" y="3822192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7A5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Donde la señal se corta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F5EEF8"/>
          </a:solidFill>
          <a:ln w="5080">
            <a:solidFill>
              <a:srgbClr val="A569B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74320" y="4791456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7D3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🎙 Dataset del notebook: 10 features estandarizadas → n_80=6, n_95=9. Señal real en pocas dimensiones.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F5EEF8"/>
          </a:solidFill>
          <a:ln w="12700">
            <a:solidFill>
              <a:srgbClr val="F5EE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" cy="960120"/>
          </a:xfrm>
          <a:prstGeom prst="rect">
            <a:avLst/>
          </a:prstGeom>
          <a:solidFill>
            <a:srgbClr val="A569BD"/>
          </a:solidFill>
          <a:ln w="12700">
            <a:solidFill>
              <a:srgbClr val="A569B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46304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D3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60120" y="1828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A2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Biplot — features y observaciones juntos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960120" y="676656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A5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Flechas = loadings · Puntos = observaciones en espacio PCA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20040" y="1078992"/>
            <a:ext cx="8503920" cy="438912"/>
          </a:xfrm>
          <a:prstGeom prst="rect">
            <a:avLst/>
          </a:prstGeom>
          <a:solidFill>
            <a:srgbClr val="512E5F"/>
          </a:solidFill>
          <a:ln w="12700">
            <a:solidFill>
              <a:srgbClr val="512E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115214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Loading = correlación de la feature con la PC  →  indica cuánto 'pesa' cada feature en cada dirección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1645920"/>
            <a:ext cx="4069080" cy="3255264"/>
          </a:xfrm>
          <a:prstGeom prst="rect">
            <a:avLst/>
          </a:prstGeom>
          <a:solidFill>
            <a:srgbClr val="FFFFFF"/>
          </a:solidFill>
          <a:ln w="6350">
            <a:solidFill>
              <a:srgbClr val="E8D5F0"/>
            </a:solidFill>
            <a:prstDash val="solid"/>
          </a:ln>
          <a:effectLst>
            <a:outerShdw blurRad="101600" dist="38100" dir="8100000" algn="bl" rotWithShape="0">
              <a:srgbClr val="9B72AA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1645920"/>
            <a:ext cx="4069080" cy="50292"/>
          </a:xfrm>
          <a:prstGeom prst="rect">
            <a:avLst/>
          </a:prstGeom>
          <a:solidFill>
            <a:srgbClr val="7D3C98"/>
          </a:solidFill>
          <a:ln w="12700">
            <a:solidFill>
              <a:srgbClr val="7D3C9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" y="175564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D3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leer el biplot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5488" y="2084832"/>
            <a:ext cx="3749040" cy="402336"/>
          </a:xfrm>
          <a:prstGeom prst="rect">
            <a:avLst/>
          </a:prstGeom>
          <a:solidFill>
            <a:srgbClr val="FAF5FF"/>
          </a:solidFill>
          <a:ln w="3810">
            <a:solidFill>
              <a:srgbClr val="E8D5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157984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12E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Flecha larga: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920240" y="2157984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5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con alta varianza capturada en PC1/PC2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75488" y="2542032"/>
            <a:ext cx="3749040" cy="402336"/>
          </a:xfrm>
          <a:prstGeom prst="rect">
            <a:avLst/>
          </a:prstGeom>
          <a:solidFill>
            <a:srgbClr val="FFFFFF"/>
          </a:solidFill>
          <a:ln w="3810">
            <a:solidFill>
              <a:srgbClr val="E8D5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2615184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12E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Ángulo pequeño: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920240" y="2615184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5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correlacionadas entre sí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75488" y="2999232"/>
            <a:ext cx="3749040" cy="402336"/>
          </a:xfrm>
          <a:prstGeom prst="rect">
            <a:avLst/>
          </a:prstGeom>
          <a:solidFill>
            <a:srgbClr val="FAF5FF"/>
          </a:solidFill>
          <a:ln w="3810">
            <a:solidFill>
              <a:srgbClr val="E8D5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3072384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12E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Ángulo = 90°: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1920240" y="3072384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5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independientes (ortogonales)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75488" y="3456432"/>
            <a:ext cx="3749040" cy="402336"/>
          </a:xfrm>
          <a:prstGeom prst="rect">
            <a:avLst/>
          </a:prstGeom>
          <a:solidFill>
            <a:srgbClr val="FFFFFF"/>
          </a:solidFill>
          <a:ln w="3810">
            <a:solidFill>
              <a:srgbClr val="E8D5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3529584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12E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Ángulo = 180°: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1920240" y="3529584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5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inversamente correlacionadas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75488" y="3913632"/>
            <a:ext cx="3749040" cy="402336"/>
          </a:xfrm>
          <a:prstGeom prst="rect">
            <a:avLst/>
          </a:prstGeom>
          <a:solidFill>
            <a:srgbClr val="FAF5FF"/>
          </a:solidFill>
          <a:ln w="3810">
            <a:solidFill>
              <a:srgbClr val="E8D5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3986784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12E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Punto extremo: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1920240" y="3986784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5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Observación atípica (outlier)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75488" y="4370832"/>
            <a:ext cx="3749040" cy="402336"/>
          </a:xfrm>
          <a:prstGeom prst="rect">
            <a:avLst/>
          </a:prstGeom>
          <a:solidFill>
            <a:srgbClr val="FFFFFF"/>
          </a:solidFill>
          <a:ln w="3810">
            <a:solidFill>
              <a:srgbClr val="E8D5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4360" y="4443984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12E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Cluster de puntos: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1920240" y="4443984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5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de observaciones similares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663440" y="1645920"/>
            <a:ext cx="4160520" cy="3255264"/>
          </a:xfrm>
          <a:prstGeom prst="rect">
            <a:avLst/>
          </a:prstGeom>
          <a:solidFill>
            <a:srgbClr val="FFFFFF"/>
          </a:solidFill>
          <a:ln w="6350">
            <a:solidFill>
              <a:srgbClr val="E8D5F0"/>
            </a:solidFill>
            <a:prstDash val="solid"/>
          </a:ln>
          <a:effectLst>
            <a:outerShdw blurRad="101600" dist="38100" dir="8100000" algn="bl" rotWithShape="0">
              <a:srgbClr val="9B72AA">
                <a:alpha val="13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663440" y="1645920"/>
            <a:ext cx="4160520" cy="50292"/>
          </a:xfrm>
          <a:prstGeom prst="rect">
            <a:avLst/>
          </a:prstGeom>
          <a:solidFill>
            <a:srgbClr val="A569BD"/>
          </a:solidFill>
          <a:ln w="12700">
            <a:solidFill>
              <a:srgbClr val="A569B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28032" y="175564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56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construirlo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773168" y="2121408"/>
            <a:ext cx="3931920" cy="2633472"/>
          </a:xfrm>
          <a:prstGeom prst="rect">
            <a:avLst/>
          </a:prstGeom>
          <a:solidFill>
            <a:srgbClr val="1C2030"/>
          </a:solidFill>
          <a:ln w="6350">
            <a:solidFill>
              <a:srgbClr val="3D2B5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01184" y="217627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C83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Proyectar observaciones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901184" y="245059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pca = PCA(n_components=2)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4901184" y="272491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X_proj = pca.fit_transform(X_sc)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4901184" y="299923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C83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Loadings escalados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4901184" y="327355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loadings = pca.components_.T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4901184" y="354787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loadings *= np.sqrt(pca.explained_variance_)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4901184" y="382219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C83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 Graficar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901184" y="409651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ax.scatter(X_proj[:,0], X_proj[:,1])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4901184" y="437083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ax.annotate('', xy=loadings[i]*3,...)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F5EEF8"/>
          </a:solidFill>
          <a:ln w="5080">
            <a:solidFill>
              <a:srgbClr val="A569B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74320" y="4791456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7D3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🎙 Demo en notebook: el biplot de datos financieros muestra mora_30d y mora_90d en la misma dirección → una PC las resume.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2B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41E2D"/>
          </a:solidFill>
          <a:ln w="12700">
            <a:solidFill>
              <a:srgbClr val="141E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37744" y="137160"/>
            <a:ext cx="155448" cy="155448"/>
          </a:xfrm>
          <a:prstGeom prst="line">
            <a:avLst/>
          </a:prstGeom>
          <a:solidFill>
            <a:srgbClr val="E06C75"/>
          </a:solidFill>
          <a:ln w="12700">
            <a:solidFill>
              <a:srgbClr val="E06C7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12064" y="137160"/>
            <a:ext cx="155448" cy="155448"/>
          </a:xfrm>
          <a:prstGeom prst="line">
            <a:avLst/>
          </a:prstGeom>
          <a:solidFill>
            <a:srgbClr val="E5C07B"/>
          </a:solidFill>
          <a:ln w="12700">
            <a:solidFill>
              <a:srgbClr val="E5C07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6384" y="137160"/>
            <a:ext cx="155448" cy="155448"/>
          </a:xfrm>
          <a:prstGeom prst="line">
            <a:avLst/>
          </a:prstGeom>
          <a:solidFill>
            <a:srgbClr val="98C379"/>
          </a:solidFill>
          <a:ln w="12700">
            <a:solidFill>
              <a:srgbClr val="98C37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80160" y="9144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82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Clase10_PCA_SVD.ipynb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56032" y="566928"/>
            <a:ext cx="4315968" cy="2103120"/>
          </a:xfrm>
          <a:prstGeom prst="rect">
            <a:avLst/>
          </a:prstGeom>
          <a:solidFill>
            <a:srgbClr val="1E2040"/>
          </a:solidFill>
          <a:ln w="6350">
            <a:solidFill>
              <a:srgbClr val="3D2B5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" y="566928"/>
            <a:ext cx="4315968" cy="50292"/>
          </a:xfrm>
          <a:prstGeom prst="rect">
            <a:avLst/>
          </a:prstGeom>
          <a:solidFill>
            <a:srgbClr val="A569BD"/>
          </a:solidFill>
          <a:ln w="12700">
            <a:solidFill>
              <a:srgbClr val="A569B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93192" y="658368"/>
            <a:ext cx="4041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B72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① Eigendecomp manual vs sklearn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20624" y="914400"/>
            <a:ext cx="4041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Xc = X - X.mean(0)               # centrar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20624" y="1156716"/>
            <a:ext cx="4041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Sigma_hat = Xc.T @ Xc / (n-1)    # cov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20624" y="1399032"/>
            <a:ext cx="4041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ev, V = np.linalg.eigh(Sigma_hat) # eigen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20624" y="1641348"/>
            <a:ext cx="4041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idx = np.argsort(ev)[::-1]        # ordenar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20624" y="2125980"/>
            <a:ext cx="4041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C83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Verificar vs sklearn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20624" y="2368296"/>
            <a:ext cx="4041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pca = PCA(); pca.fit(X)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20624" y="2610612"/>
            <a:ext cx="4041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print(np.allclose(ev[idx], pca.explained_variance_))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773168" y="566928"/>
            <a:ext cx="4114800" cy="2103120"/>
          </a:xfrm>
          <a:prstGeom prst="rect">
            <a:avLst/>
          </a:prstGeom>
          <a:solidFill>
            <a:srgbClr val="1E2040"/>
          </a:solidFill>
          <a:ln w="6350">
            <a:solidFill>
              <a:srgbClr val="3D2B5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73168" y="566928"/>
            <a:ext cx="4114800" cy="50292"/>
          </a:xfrm>
          <a:prstGeom prst="rect">
            <a:avLst/>
          </a:prstGeom>
          <a:solidFill>
            <a:srgbClr val="A569BD"/>
          </a:solidFill>
          <a:ln w="12700">
            <a:solidFill>
              <a:srgbClr val="A569B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10328" y="65836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B72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② Scree plot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937760" y="91440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pca_sc = PCA()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937760" y="115671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pca_sc.fit(StandardScaler().fit_transform(X))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937760" y="139903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= pca_sc.explained_variance_ratio_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937760" y="164134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cum = np.cumsum(var)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937760" y="212598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n_80 = np.argmax(cum &gt;= 0.80) + 1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937760" y="236829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n_95 = np.argmax(cum &gt;= 0.95) + 1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56032" y="2816352"/>
            <a:ext cx="8631936" cy="2194560"/>
          </a:xfrm>
          <a:prstGeom prst="rect">
            <a:avLst/>
          </a:prstGeom>
          <a:solidFill>
            <a:srgbClr val="1E2040"/>
          </a:solidFill>
          <a:ln w="6350">
            <a:solidFill>
              <a:srgbClr val="3D2B5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56032" y="2816352"/>
            <a:ext cx="8631936" cy="50292"/>
          </a:xfrm>
          <a:prstGeom prst="rect">
            <a:avLst/>
          </a:prstGeom>
          <a:solidFill>
            <a:srgbClr val="A569BD"/>
          </a:solidFill>
          <a:ln w="12700">
            <a:solidFill>
              <a:srgbClr val="A569B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93192" y="2907792"/>
            <a:ext cx="8357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B72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③ Biplot completo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20624" y="3163824"/>
            <a:ext cx="8357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pca_bp = PCA(n_components=2)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20624" y="3406140"/>
            <a:ext cx="8357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X_proj = pca_bp.fit_transform(X_sc)  # proyectar obs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20624" y="3890772"/>
            <a:ext cx="8357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loadings = pca_bp.components_.T * np.sqrt(pca_bp.explained_variance_)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20624" y="4375404"/>
            <a:ext cx="8357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ax.scatter(X_proj[:,0], X_proj[:,1], alpha=0.5)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20624" y="4617720"/>
            <a:ext cx="8357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i, feat in enumerate(feature_names):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20624" y="4860036"/>
            <a:ext cx="8357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ax.annotate('', xy=loadings[i]*3, arrowprops=...)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794760" cy="5143500"/>
          </a:xfrm>
          <a:prstGeom prst="rect">
            <a:avLst/>
          </a:prstGeom>
          <a:solidFill>
            <a:srgbClr val="512E5F"/>
          </a:solidFill>
          <a:ln w="12700">
            <a:solidFill>
              <a:srgbClr val="512E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794760" y="0"/>
            <a:ext cx="50292" cy="5143500"/>
          </a:xfrm>
          <a:prstGeom prst="rect">
            <a:avLst/>
          </a:prstGeom>
          <a:solidFill>
            <a:srgbClr val="A569BD"/>
          </a:solidFill>
          <a:ln w="12700">
            <a:solidFill>
              <a:srgbClr val="A569B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" y="2651760"/>
            <a:ext cx="3566160" cy="3566160"/>
          </a:xfrm>
          <a:prstGeom prst="line">
            <a:avLst/>
          </a:prstGeom>
          <a:solidFill>
            <a:srgbClr val="7D3C98">
              <a:alpha val="17000"/>
            </a:srgbClr>
          </a:solidFill>
          <a:ln w="12700">
            <a:solidFill>
              <a:srgbClr val="D7BDE2">
                <a:alpha val="28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92608"/>
            <a:ext cx="333756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Clase 10</a:t>
            </a:r>
            <a:endParaRPr lang="en-US" sz="32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completada.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320040" y="1874520"/>
            <a:ext cx="2286000" cy="0"/>
          </a:xfrm>
          <a:prstGeom prst="line">
            <a:avLst/>
          </a:prstGeom>
          <a:noFill/>
          <a:ln w="19050">
            <a:solidFill>
              <a:srgbClr val="A569B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2029968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7B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Docente: Josef Rodriguez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069080" y="27432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 que cubrimos hoy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069080" y="731520"/>
            <a:ext cx="4754880" cy="0"/>
          </a:xfrm>
          <a:prstGeom prst="line">
            <a:avLst/>
          </a:prstGeom>
          <a:noFill/>
          <a:ln w="9525">
            <a:solidFill>
              <a:srgbClr val="E8D5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069080" y="978408"/>
            <a:ext cx="146304" cy="146304"/>
          </a:xfrm>
          <a:prstGeom prst="line">
            <a:avLst/>
          </a:prstGeom>
          <a:solidFill>
            <a:srgbClr val="A569BD"/>
          </a:solidFill>
          <a:ln w="12700">
            <a:solidFill>
              <a:srgbClr val="A569B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15968" y="886968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= eigendecomp de Σ̂ — dirección de máx. varianza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069080" y="1453896"/>
            <a:ext cx="146304" cy="146304"/>
          </a:xfrm>
          <a:prstGeom prst="line">
            <a:avLst/>
          </a:prstGeom>
          <a:solidFill>
            <a:srgbClr val="A569BD"/>
          </a:solidFill>
          <a:ln w="12700">
            <a:solidFill>
              <a:srgbClr val="A569B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15968" y="1362456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SVD de Xc = forma equivalente, más estable numéricamente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069080" y="1929384"/>
            <a:ext cx="146304" cy="146304"/>
          </a:xfrm>
          <a:prstGeom prst="line">
            <a:avLst/>
          </a:prstGeom>
          <a:solidFill>
            <a:srgbClr val="A569BD"/>
          </a:solidFill>
          <a:ln w="12700">
            <a:solidFill>
              <a:srgbClr val="A569B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15968" y="1837944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tr(Σ̂) = Σλᵢ — varianza total conservada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069080" y="2404872"/>
            <a:ext cx="146304" cy="146304"/>
          </a:xfrm>
          <a:prstGeom prst="line">
            <a:avLst/>
          </a:prstGeom>
          <a:solidFill>
            <a:srgbClr val="A569BD"/>
          </a:solidFill>
          <a:ln w="12700">
            <a:solidFill>
              <a:srgbClr val="A569B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15968" y="2313432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 plot: buscar el codo + criterio 80%/95%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069080" y="2880360"/>
            <a:ext cx="146304" cy="146304"/>
          </a:xfrm>
          <a:prstGeom prst="line">
            <a:avLst/>
          </a:prstGeom>
          <a:solidFill>
            <a:srgbClr val="A569BD"/>
          </a:solidFill>
          <a:ln w="12700">
            <a:solidFill>
              <a:srgbClr val="A569B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15968" y="2788920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Biplot: flechas = loadings · ángulo = correlación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069080" y="3355848"/>
            <a:ext cx="146304" cy="146304"/>
          </a:xfrm>
          <a:prstGeom prst="line">
            <a:avLst/>
          </a:prstGeom>
          <a:solidFill>
            <a:srgbClr val="A569BD"/>
          </a:solidFill>
          <a:ln w="12700">
            <a:solidFill>
              <a:srgbClr val="A569B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15968" y="3264408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decorrelaciona — covarianza en nuevo espacio ≈ 0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069080" y="4645152"/>
            <a:ext cx="4754880" cy="347472"/>
          </a:xfrm>
          <a:prstGeom prst="rect">
            <a:avLst/>
          </a:prstGeom>
          <a:solidFill>
            <a:srgbClr val="F5EEF8"/>
          </a:solidFill>
          <a:ln w="6350">
            <a:solidFill>
              <a:srgbClr val="A569B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24528" y="4700016"/>
            <a:ext cx="4462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D3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 clase — C11: Kaiser · Loadings · Reconstrucción · Pipeline PCA+clasificación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218</TotalTime>
  <Words>1302</Words>
  <Application>Microsoft Macintosh PowerPoint</Application>
  <PresentationFormat>On-screen Show (16:9)</PresentationFormat>
  <Paragraphs>176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Courier New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Josef Rodriguez</cp:lastModifiedBy>
  <cp:revision>3</cp:revision>
  <dcterms:created xsi:type="dcterms:W3CDTF">2026-04-17T16:04:02Z</dcterms:created>
  <dcterms:modified xsi:type="dcterms:W3CDTF">2026-04-23T03:21:54Z</dcterms:modified>
</cp:coreProperties>
</file>