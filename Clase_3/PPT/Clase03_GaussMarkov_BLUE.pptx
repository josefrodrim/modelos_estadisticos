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9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4690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176AE">
              <a:alpha val="20000"/>
            </a:srgbClr>
          </a:solidFill>
          <a:ln w="12700">
            <a:solidFill>
              <a:srgbClr val="C8DEF5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27432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β̂</a:t>
            </a:r>
            <a:endParaRPr lang="en-US" sz="16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73736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03 · MÓDULO 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Formulación OLS,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Supuestos Gauss-Markov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Propiedad BLUE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β̂ es el mejor estimador posible — y cuándo deja de serlo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 + NumPy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Enunciar los 5 supuestos Gauss-Markov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saber cuál viola qué — heterocedasticidad, autocorrelación, etc.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E[β̂] = β empíricamente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que prueban la insesgadez del estimador OLS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s² = SSE/(n−p) correctamente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dividir por n−p y no por n — grados de libertad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el panel de 4 gráficos de diagnóstico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ajustados · Q-Q · Scale-location · vs orden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pregunta de hoy: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11480" y="1627632"/>
            <a:ext cx="3383280" cy="53035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70078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OLS y no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otro estimador?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" y="2286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respuesta: Teorema de Gauss-Markov.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los supuestos correctos, OLS es el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Linear Unbiased Estimator (BLUE).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'¿Cuántos de ustedes han verificado los supuestos en su trabajo antes de interpretar resultados?'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5 Supuestos de Gauss-Markov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son necesarios para que OLS sea BLUE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50292" cy="694944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24128" y="11521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Linealidad en parámetros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24128" y="1463040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49047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Xβ + ε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834640" y="117043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Modelo mal especificado (ej. relación cuadrática)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865376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1865376"/>
            <a:ext cx="50292" cy="694944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Exogeneidad estricta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24128" y="2231136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2585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E[ε | X] = 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34640" y="1938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</a:t>
            </a:r>
            <a:r>
              <a:rPr lang="en-US" sz="950" b="1" i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Endogeneidad</a:t>
            </a: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variable omitida correlacionada con 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33472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633472"/>
            <a:ext cx="50292" cy="69494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688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24128" y="2688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Esperanza cero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24128" y="2999232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302666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E[ε] = 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834640" y="270662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Intercepto mal definido — siempre incluir columna de unos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419856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401568"/>
            <a:ext cx="50292" cy="69494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4564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24128" y="34564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Homocedasticidad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24128" y="3767328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37947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Var(ε) = σ²I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834640" y="34747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Heterocedasticidad — varianza crece/decrece con ŷ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4169664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4169664"/>
            <a:ext cx="50292" cy="6949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" y="42245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24128" y="4224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autocorrelación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4128" y="4535424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456285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Cov(εᵢ,εⱼ) = 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834640" y="424281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Series de tiempo, datos espaciales → usar GLS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Pedir al grupo: '¿Han visto alguna vez un gráfico de residuos con patrón de embudo? Eso es GM4 violado.'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E[β̂] = β — Insesgadez de OLS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algebraica y verificación empírica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0233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78992"/>
            <a:ext cx="402336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algebraica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" y="1664208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92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β̂ = (XᵀX)⁻¹Xᵀy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0" y="18105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5488" y="2231136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(XᵀX)⁻¹Xᵀ(Xβ+ε)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0" y="237744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y=Xβ+ε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" y="2798064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β + (XᵀX)⁻¹Xᵀε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3280" y="294436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75488" y="3364992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E[β̂] = β + (XᵀX)⁻¹Xᵀ E[ε]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83280" y="351129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esperanza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75488" y="3931920"/>
            <a:ext cx="3749040" cy="493776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059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E[β̂] = β  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407822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E[ε]=0 (GM3)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617720" y="1078992"/>
            <a:ext cx="42519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1078992"/>
            <a:ext cx="425196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empírica (5000 sims)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36592" y="16276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simulación: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ε ~ N(0, σ²I)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y = Xβ + ε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Calcular β̂ = (XᵀX)⁻¹Xᵀy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36592" y="2633472"/>
            <a:ext cx="3931920" cy="51206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743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E[β̂] ≈ β_real en cada βᵢ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36592" y="32552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Implicancia práctica: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 muchos datasets similares, β̂ acierta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36592" y="39136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garantiza exactitud en UN dataset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36592" y="42611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Sesgo = 0 es propiedad del estimador, no de la muestra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-45719" y="4761738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perfecto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correcto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lo largo de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</a:t>
            </a:r>
            <a:r>
              <a:rPr lang="en-US" sz="850" b="1" i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50" b="1" i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</a:t>
            </a:r>
            <a:endParaRPr lang="en-US" sz="850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s² = SSE/(n−p) — Estimador insesgado de σ²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dividir bien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233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2336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 − p?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" y="1627632"/>
            <a:ext cx="374904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007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s² = SSE/(n−p) = eᵀe/(n−p)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" y="2157984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2402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observaciones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22402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disponibles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" y="2633472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7157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parámetros estimados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0" y="27157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perdidos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3108960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912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0" y="3191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residuales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" y="3584448"/>
            <a:ext cx="3749040" cy="402336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6667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E[s²] = σ²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36667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 ← por eso n−p y no 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1078992"/>
            <a:ext cx="42519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1078992"/>
            <a:ext cx="4251960" cy="5029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 de dividir 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36592" y="1700784"/>
            <a:ext cx="3931920" cy="58521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17922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91072" y="17922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&lt;σ²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64608" y="20665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Subestima la incertidumbre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36592" y="2359152"/>
            <a:ext cx="3931920" cy="58521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2450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SSE/(n-1)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91072" y="2450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≈σ² (casi)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64608" y="27249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pero aún sesgado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3017520"/>
            <a:ext cx="3931920" cy="585216"/>
          </a:xfrm>
          <a:prstGeom prst="rect">
            <a:avLst/>
          </a:prstGeom>
          <a:solidFill>
            <a:srgbClr val="EAF2FB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3108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SSE/(n-p)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91072" y="3108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=σ²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64608" y="33832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 — el correcto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3675888"/>
            <a:ext cx="3931920" cy="10789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inferencia: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64608" y="404164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SE(β̂ⱼ) = √(s² · (XᵀX)⁻¹ⱼⱼ)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s² sesgado da SE incorrectos → t-tests incorrectos → conclusiones equivocadas.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Demostrar con código: simular 3000 veces, mostrar que E[SSE/(n-p)]=σ², E[SSE/n]&lt;σ².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0574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16209" y="100584"/>
            <a:ext cx="791631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 — Best Linear Unbiased Estimator</a:t>
            </a:r>
          </a:p>
          <a:p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</a:rPr>
              <a:t>MELI -   Mejor </a:t>
            </a:r>
            <a:r>
              <a:rPr lang="en-US" sz="2100" b="1" dirty="0" err="1">
                <a:solidFill>
                  <a:srgbClr val="1A2B3C"/>
                </a:solidFill>
                <a:latin typeface="Trebuchet MS" pitchFamily="34" charset="0"/>
              </a:rPr>
              <a:t>Estimador</a:t>
            </a: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</a:rPr>
              <a:t> Lineal </a:t>
            </a:r>
            <a:r>
              <a:rPr lang="en-US" sz="2100" b="1" dirty="0" err="1">
                <a:solidFill>
                  <a:srgbClr val="1A2B3C"/>
                </a:solidFill>
                <a:latin typeface="Trebuchet MS" pitchFamily="34" charset="0"/>
              </a:rPr>
              <a:t>Insesgado</a:t>
            </a:r>
            <a:endParaRPr lang="en-US" sz="2100" b="1" dirty="0">
              <a:solidFill>
                <a:srgbClr val="1A2B3C"/>
              </a:solidFill>
              <a:latin typeface="Trebuchet MS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Gauss-Markov en una slide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51206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de Gauss-Markov: bajo GM1–GM5, β̂ OLS tiene la MENOR VARIANZA entre todos los estimadores lineales insesgados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737360"/>
            <a:ext cx="205740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29768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varianza (más eficiente)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Var(β̂) ≤ Var(β̃) para cualquier otro estimador lineal insesgado β̃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96312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96312" y="1737360"/>
            <a:ext cx="205740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176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2606040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06040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Estimador lineal en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06040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= Cy donde C = (XᵀX)⁻¹Xᵀ — combinación lineal de 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72584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72584" y="1737360"/>
            <a:ext cx="20574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4782312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Unbiased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82312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E[β̂] = β — en promedio, acierta el valor real de β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48856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48856" y="1737360"/>
            <a:ext cx="205740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58584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4400" dirty="0"/>
          </a:p>
        </p:txBody>
      </p:sp>
      <p:sp>
        <p:nvSpPr>
          <p:cNvPr id="33" name="Text 31"/>
          <p:cNvSpPr/>
          <p:nvPr/>
        </p:nvSpPr>
        <p:spPr>
          <a:xfrm>
            <a:off x="6958584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58584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Estimador estadístico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958584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58584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calculable a partir de los datos (X, y)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464515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" y="4700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BLUE no dice que β̂ esté cerca del β real en una muestra. Dice que es la mejor apuesta posible si los supuestos se cumplen.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'Si los supuestos GM se violan, OLS sigue siendo insesgado pero ya no tiene la menor varianza. Por eso diagnosticamos.'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panel de diagnóstico: 4 gráficos obligatorios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interpretar cualquier coeficiente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78992"/>
            <a:ext cx="42062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" y="1188720"/>
            <a:ext cx="384048" cy="38404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Ajustados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" y="153619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ax.scatter(y_hat, 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38912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patrón → homocedasticidad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embudo → GM4 violado → usar WLS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7899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78992"/>
            <a:ext cx="42062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82312" y="1188720"/>
            <a:ext cx="384048" cy="384048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76088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Plot de residuos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76088" y="153619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stats.probplot(e_std, plot=ax)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82312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sobre la diagonal → normalidad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pesadas → no normal → tests no válidos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99923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999232"/>
            <a:ext cx="420624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" y="3108960"/>
            <a:ext cx="384048" cy="38404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268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Scale-Location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2688" y="345643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34930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ax.scatter(y_hat, np.sqrt(abs(e_std)))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8912" y="380390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horizontal plana → varianza constante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ascendente → heterocedasticidad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99923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2999232"/>
            <a:ext cx="4206240" cy="50292"/>
          </a:xfrm>
          <a:prstGeom prst="rect">
            <a:avLst/>
          </a:prstGeom>
          <a:solidFill>
            <a:srgbClr val="3D9970"/>
          </a:solidFill>
          <a:ln w="12700">
            <a:solidFill>
              <a:srgbClr val="3D99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82312" y="3108960"/>
            <a:ext cx="384048" cy="384048"/>
          </a:xfrm>
          <a:prstGeom prst="rect">
            <a:avLst/>
          </a:prstGeom>
          <a:solidFill>
            <a:srgbClr val="3D9970"/>
          </a:solidFill>
          <a:ln w="12700">
            <a:solidFill>
              <a:srgbClr val="3D99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82312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27608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Orden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76088" y="345643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9240" y="34930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ax.plot(range(n), e)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782312" y="380390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tendencia → no autocorrelación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sinusoidal → GM5 violado → DW test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en vivo: datos heterocedasticos → el gráfico 1 muestra embudo. Luego mostrar datos OK. El contraste es inmediato.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Clase03_GaussMarkov_BLUE.ipynb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Estimar s² insesgado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b, *_ = np.linalg.lstsq(X, y, rcond=None)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 = y - X @ b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p  = X.shape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e @ 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   = SSE / (n - p)   # ← insesgado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   = np.sqrt(s2)     # error estándar residual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  <p:txBody>
          <a:bodyPr/>
          <a:lstStyle/>
          <a:p>
            <a:endParaRPr lang="en-PE" dirty="0"/>
          </a:p>
        </p:txBody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Tests de supuestos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Normalidad (Shapiro-Wilk)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_, p_sw = stats.shapiro(e[:250])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Autocorrelación (Durbin-Watson)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 = np.sum(np.diff(e)**2) / (e @ 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Breusch-Pagan (homocedasticidad)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= e**2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b_aux, *_ = np.linalg.lstsq(X, e2, rcond=None)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Panel de 4 gráficos de diagnóstico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axes = plt.subplots(2, 2, figsize=(13, 9))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40614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e_std = e / np.sqrt(s2)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axes[0,0].scatter(y_hat, e)                      # 1. Residuos vs Ajustados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stats.probplot(e_std, dist='norm', plot=axes[0,1]) # 2. Q-Q Plot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axes[1,0].scatter(y_hat, np.sqrt(np.abs(e_std)))  # 3. Scale-Location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axes[1,1].plot(range(n), e)                        # 4. vs Orden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176AE">
              <a:alpha val="17000"/>
            </a:srgbClr>
          </a:solidFill>
          <a:ln w="12700">
            <a:solidFill>
              <a:srgbClr val="C8DEF5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3</a:t>
            </a:r>
            <a:endParaRPr lang="en-US" sz="3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supuestos Gauss-Markov y sus violaciones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E[β̂]=β — insesgadez (algebraica + empírica)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s²=SSE/(n−p) — estimador insesgado de σ²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menor varianza entre estimadores lineales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4 gráficos de diagnóstico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Shapiro-Wilk · Durbin-Watson · Breusch-Pagan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3931920"/>
            <a:ext cx="4754880" cy="98755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023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 — Lunes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24528" y="4297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ajustado · Tabla ANOVA · F-test global · t-tests por βⱼ · Intervalos de confianza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2581</TotalTime>
  <Words>1414</Words>
  <Application>Microsoft Macintosh PowerPoint</Application>
  <PresentationFormat>On-screen Show (16:9)</PresentationFormat>
  <Paragraphs>195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4</cp:revision>
  <dcterms:created xsi:type="dcterms:W3CDTF">2026-03-31T13:19:48Z</dcterms:created>
  <dcterms:modified xsi:type="dcterms:W3CDTF">2026-04-08T19:43:04Z</dcterms:modified>
</cp:coreProperties>
</file>