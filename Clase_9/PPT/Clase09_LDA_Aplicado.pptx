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0" y="0"/>
            <a:ext cx="4206240" cy="51435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645152" y="0"/>
            <a:ext cx="329184" cy="5143500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0" y="274320"/>
            <a:ext cx="3840480" cy="3840480"/>
          </a:xfrm>
          <a:prstGeom prst="oval">
            <a:avLst/>
          </a:prstGeom>
          <a:solidFill>
            <a:srgbClr val="1E8449">
              <a:alpha val="20000"/>
            </a:srgbClr>
          </a:solidFill>
          <a:ln w="12700">
            <a:solidFill>
              <a:srgbClr val="A9DFBF">
                <a:alpha val="3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0" y="91440"/>
            <a:ext cx="3474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0" b="1" dirty="0">
                <a:solidFill>
                  <a:srgbClr val="FFFFFF">
                    <a:alpha val="12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</a:t>
            </a:r>
            <a:endParaRPr lang="en-US" sz="14000" dirty="0"/>
          </a:p>
        </p:txBody>
      </p:sp>
      <p:sp>
        <p:nvSpPr>
          <p:cNvPr id="6" name="Shape 4"/>
          <p:cNvSpPr/>
          <p:nvPr/>
        </p:nvSpPr>
        <p:spPr>
          <a:xfrm>
            <a:off x="411480" y="256032"/>
            <a:ext cx="1920240" cy="292608"/>
          </a:xfrm>
          <a:prstGeom prst="rect">
            <a:avLst/>
          </a:prstGeom>
          <a:solidFill>
            <a:srgbClr val="EAFAF1"/>
          </a:solidFill>
          <a:ln w="6350">
            <a:solidFill>
              <a:srgbClr val="52BE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29260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11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 09 · MÓDULO 3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685800"/>
            <a:ext cx="4069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Interpretación,</a:t>
            </a:r>
            <a:endParaRPr lang="en-US" sz="27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Clasificación y QDA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11480" y="288036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discriminantes · Error por clase · Caso marketing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3456432"/>
            <a:ext cx="2377440" cy="0"/>
          </a:xfrm>
          <a:prstGeom prst="line">
            <a:avLst/>
          </a:prstGeom>
          <a:noFill/>
          <a:ln w="19050">
            <a:solidFill>
              <a:srgbClr val="52BE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362102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Josef Rodriguez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3968496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horas · Nivel avanzado · Python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11480" y="477316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8 · Módulo 3 · Análisis Discriminante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EAFAF1"/>
          </a:solidFill>
          <a:ln w="12700">
            <a:solidFill>
              <a:srgbClr val="EAFAF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¿Qué vas a poder hacer al terminar?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931920" y="1078992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C8E6D4"/>
            </a:solidFill>
            <a:prstDash val="solid"/>
          </a:ln>
          <a:effectLst>
            <a:outerShdw sx="100000" sy="100000" kx="0" ky="0" algn="bl" rotWithShape="0" blurRad="101600" dist="38100" dir="8100000">
              <a:srgbClr val="7DAA8C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931920" y="1078992"/>
            <a:ext cx="4892040" cy="50292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96512" y="11704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26280" y="115214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Interpretar scores discriminantes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26280" y="149047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distancia al centroide · mayor |score| = mayor confianza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931920" y="2011680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C8E6D4"/>
            </a:solidFill>
            <a:prstDash val="solid"/>
          </a:ln>
          <a:effectLst>
            <a:outerShdw sx="100000" sy="100000" kx="0" ky="0" algn="bl" rotWithShape="0" blurRad="101600" dist="38100" dir="8100000">
              <a:srgbClr val="7DAA8C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931920" y="2011680"/>
            <a:ext cx="4892040" cy="50292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96512" y="21031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26280" y="208483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QDA y comparar con LDA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26280" y="24231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 QDA supera a LDA · frontera cuadrática · visualización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931920" y="2944368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C8E6D4"/>
            </a:solidFill>
            <a:prstDash val="solid"/>
          </a:ln>
          <a:effectLst>
            <a:outerShdw sx="100000" sy="100000" kx="0" ky="0" algn="bl" rotWithShape="0" blurRad="101600" dist="38100" dir="8100000">
              <a:srgbClr val="7DAA8C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931920" y="2944368"/>
            <a:ext cx="4892040" cy="50292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96512" y="30358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2B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26280" y="30175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Analizar la matriz de confusión por clase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26280" y="33558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pares de clases se confunden · error por segmento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931920" y="3877056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C8E6D4"/>
            </a:solidFill>
            <a:prstDash val="solid"/>
          </a:ln>
          <a:effectLst>
            <a:outerShdw sx="100000" sy="100000" kx="0" ky="0" algn="bl" rotWithShape="0" blurRad="101600" dist="38100" dir="8100000">
              <a:srgbClr val="7DAA8C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931920" y="3877056"/>
            <a:ext cx="4892040" cy="50292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96512" y="39684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2B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26280" y="39502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Segmentación de clientes de marketing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26280" y="428853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completo LDA/QDA · loadings · predicción de nuevos clientes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11480" y="12070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7A6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mensaje de hoy: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11480" y="1572768"/>
            <a:ext cx="3383280" cy="640080"/>
          </a:xfrm>
          <a:prstGeom prst="rect">
            <a:avLst/>
          </a:prstGeom>
          <a:solidFill>
            <a:srgbClr val="EAFAF1"/>
          </a:solidFill>
          <a:ln w="6350">
            <a:solidFill>
              <a:srgbClr val="52BE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1627632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17A6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 = confianza.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17A6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QDA cuando las nubes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17A6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tienen formas distintas.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AF1"/>
          </a:solidFill>
          <a:ln w="5080">
            <a:solidFill>
              <a:srgbClr val="52BE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Arrancar con pregunta: '¿Qué significa que un modelo clasifique bien en promedio pero mal en una clase específica?'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2B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Scores discriminantes — confianza de la clasificación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A9D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distancia al centroide en espacio discriminante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4069080" cy="3822192"/>
          </a:xfrm>
          <a:prstGeom prst="rect">
            <a:avLst/>
          </a:prstGeom>
          <a:solidFill>
            <a:srgbClr val="FFFFFF"/>
          </a:solidFill>
          <a:ln w="6350">
            <a:solidFill>
              <a:srgbClr val="C8E6D4"/>
            </a:solidFill>
            <a:prstDash val="solid"/>
          </a:ln>
          <a:effectLst>
            <a:outerShdw sx="100000" sy="100000" kx="0" ky="0" algn="bl" rotWithShape="0" blurRad="101600" dist="38100" dir="8100000">
              <a:srgbClr val="7DAA8C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78992"/>
            <a:ext cx="4069080" cy="50292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8872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el score discriminante?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" y="1664208"/>
            <a:ext cx="3749040" cy="457200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1700784"/>
            <a:ext cx="1691640" cy="256032"/>
          </a:xfrm>
          <a:prstGeom prst="rect">
            <a:avLst/>
          </a:prstGeom>
          <a:solidFill>
            <a:srgbClr val="EAFAF1"/>
          </a:solidFill>
          <a:ln w="3810">
            <a:solidFill>
              <a:srgbClr val="52BE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72821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7A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score_i = wᵀxᵢ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31136" y="17556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la observación sobre LD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75488" y="2176272"/>
            <a:ext cx="374904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5488" y="2212848"/>
            <a:ext cx="1691640" cy="256032"/>
          </a:xfrm>
          <a:prstGeom prst="rect">
            <a:avLst/>
          </a:prstGeom>
          <a:solidFill>
            <a:srgbClr val="EAFAF1"/>
          </a:solidFill>
          <a:ln w="3810">
            <a:solidFill>
              <a:srgbClr val="52BE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24028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7A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|score_i| grande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231136" y="226771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alejado de la frontera → alta confianza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75488" y="2688336"/>
            <a:ext cx="3749040" cy="457200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5488" y="2724912"/>
            <a:ext cx="1691640" cy="256032"/>
          </a:xfrm>
          <a:prstGeom prst="rect">
            <a:avLst/>
          </a:prstGeom>
          <a:solidFill>
            <a:srgbClr val="EAFAF1"/>
          </a:solidFill>
          <a:ln w="3810">
            <a:solidFill>
              <a:srgbClr val="52B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2752344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7A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|score_i| ≈ 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31136" y="277977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cerca de la frontera → baja confianza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75488" y="3200400"/>
            <a:ext cx="374904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488" y="3236976"/>
            <a:ext cx="1691640" cy="256032"/>
          </a:xfrm>
          <a:prstGeom prst="rect">
            <a:avLst/>
          </a:prstGeom>
          <a:solidFill>
            <a:srgbClr val="EAFAF1"/>
          </a:solidFill>
          <a:ln w="3810">
            <a:solidFill>
              <a:srgbClr val="52BE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26440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7A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≥ th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231136" y="32918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clasificar como clase 1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75488" y="3712464"/>
            <a:ext cx="3749040" cy="457200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5488" y="3749040"/>
            <a:ext cx="1691640" cy="256032"/>
          </a:xfrm>
          <a:prstGeom prst="rect">
            <a:avLst/>
          </a:prstGeom>
          <a:solidFill>
            <a:srgbClr val="EAFAF1"/>
          </a:solidFill>
          <a:ln w="3810">
            <a:solidFill>
              <a:srgbClr val="52BE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77647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7A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&lt; th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231136" y="380390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clasificar como clase 0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5488" y="4224528"/>
            <a:ext cx="3749040" cy="566928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" y="4279392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D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lda.transform(X) → scores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D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lda.predict_proba(X) → probabilidades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D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Relación: P(clase 1) = σ(score) — sigmoide del score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1078992"/>
            <a:ext cx="4160520" cy="3822192"/>
          </a:xfrm>
          <a:prstGeom prst="rect">
            <a:avLst/>
          </a:prstGeom>
          <a:solidFill>
            <a:srgbClr val="FFFFFF"/>
          </a:solidFill>
          <a:ln w="6350">
            <a:solidFill>
              <a:srgbClr val="C8E6D4"/>
            </a:solidFill>
            <a:prstDash val="solid"/>
          </a:ln>
          <a:effectLst>
            <a:outerShdw sx="100000" sy="100000" kx="0" ky="0" algn="bl" rotWithShape="0" blurRad="101600" dist="38100" dir="8100000">
              <a:srgbClr val="7DAA8C">
                <a:alpha val="13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663440" y="1078992"/>
            <a:ext cx="4160520" cy="50292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28032" y="118872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2B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baja confianza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828032" y="1609344"/>
            <a:ext cx="3840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observaciones cerca de la frontera (|score|≈0) son los casos más difíciles para el modelo.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773168" y="2212848"/>
            <a:ext cx="3931920" cy="475488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01184" y="229514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credit scoring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601968" y="229514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derivar a revisión manual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773168" y="2761488"/>
            <a:ext cx="393192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01184" y="284378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diagnóstico médico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601968" y="284378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solicitar más estudios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773168" y="3310128"/>
            <a:ext cx="3931920" cy="475488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01184" y="339242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marketing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601968" y="339242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probar en ambos segmentos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773168" y="3858768"/>
            <a:ext cx="393192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901184" y="394106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detección de fraude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601968" y="394106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revisar transacción humana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AF1"/>
          </a:solidFill>
          <a:ln w="5080">
            <a:solidFill>
              <a:srgbClr val="52BE8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Demo: ordenar el test set por |score|. Los primeros son los más inciertos → ¿cuántos de esos están mal clasificados?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EAFAF1"/>
          </a:solidFill>
          <a:ln w="12700">
            <a:solidFill>
              <a:srgbClr val="EAFAF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QDA — cuando las covarianzas difieren entre clases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Frontera cuadrática vs lineal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20040" y="1078992"/>
            <a:ext cx="8503920" cy="4572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5214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δₖ(x) = −½ log|Σₖ| − ½(x−μₖ)ᵀΣₖ⁻¹(x−μₖ) + log πₖ  →  Clase = argmax δₖ(x)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1627632"/>
            <a:ext cx="2377440" cy="292608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67335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61488" y="1627632"/>
            <a:ext cx="3273552" cy="292608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52928" y="1673352"/>
            <a:ext cx="3136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08192" y="1627632"/>
            <a:ext cx="2990088" cy="292608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99632" y="1673352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QDA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" y="1956816"/>
            <a:ext cx="2377440" cy="384048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61488" y="1956816"/>
            <a:ext cx="3273552" cy="384048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08192" y="1956816"/>
            <a:ext cx="2990088" cy="384048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2029968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Covarianza estimada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852928" y="2029968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pooled (única para todas las clases)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199632" y="2029968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Σₖ por clase (una por clase)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0040" y="2377440"/>
            <a:ext cx="237744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61488" y="2377440"/>
            <a:ext cx="3273552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08192" y="2377440"/>
            <a:ext cx="2990088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1480" y="24505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Frontera de decisión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852928" y="2450592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Lineal (hiperplano)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199632" y="2450592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Cuadrática (elipsoide)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20040" y="2798064"/>
            <a:ext cx="2377440" cy="384048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761488" y="2798064"/>
            <a:ext cx="3273552" cy="384048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08192" y="2798064"/>
            <a:ext cx="2990088" cy="384048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1480" y="287121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Parámetros estimados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2852928" y="2871216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p(p+1)/2 + K·p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99632" y="2871216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K·p(p+1)/2 + K·p (más)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20040" y="3218688"/>
            <a:ext cx="237744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761488" y="3218688"/>
            <a:ext cx="3273552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08192" y="3218688"/>
            <a:ext cx="2990088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148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sobreajuste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2852928" y="3291840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(menos parámetros)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199632" y="3291840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 (más parámetros)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320040" y="3639312"/>
            <a:ext cx="2377440" cy="384048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761488" y="3639312"/>
            <a:ext cx="3273552" cy="384048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108192" y="3639312"/>
            <a:ext cx="2990088" cy="384048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1480" y="3712464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 usar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2852928" y="3712464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Covarianzas similares entre clases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199632" y="3712464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Covarianzas muy distintas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20040" y="4078224"/>
            <a:ext cx="8503920" cy="640080"/>
          </a:xfrm>
          <a:prstGeom prst="rect">
            <a:avLst/>
          </a:prstGeom>
          <a:solidFill>
            <a:srgbClr val="EAFAF1"/>
          </a:solidFill>
          <a:ln w="6350">
            <a:solidFill>
              <a:srgbClr val="52BE8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75488" y="41330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elegir: QDA vs LDA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75488" y="438912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Calcular np.cov(X[y==k].T) por clase. Si son muy distintas → QDA.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Comparar accuracy LDA vs QDA en validación. Si QDA &gt; LDA → las covarianzas realmente difieren.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AF1"/>
          </a:solidFill>
          <a:ln w="5080">
            <a:solidFill>
              <a:srgbClr val="52BE8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Resultado del notebook: AUC_LDA=0.987, AUC_QDA=0.991. Con covarianzas muy distintas, QDA gana aunque sea marginalmente.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2B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Caso industria: segmentación de clientes de retail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A9D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datos al perfil del cliente — pipeline completo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8503920" cy="420624"/>
          </a:xfrm>
          <a:prstGeom prst="rect">
            <a:avLst/>
          </a:prstGeom>
          <a:solidFill>
            <a:srgbClr val="EAFAF1"/>
          </a:solidFill>
          <a:ln w="6350">
            <a:solidFill>
              <a:srgbClr val="52BE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11338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7A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Dataset: 800 clientes · 3 segmentos · 4 features · LDA + QDA + Logística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0040" y="1609344"/>
            <a:ext cx="4069080" cy="1700784"/>
          </a:xfrm>
          <a:prstGeom prst="rect">
            <a:avLst/>
          </a:prstGeom>
          <a:solidFill>
            <a:srgbClr val="FFFFFF"/>
          </a:solidFill>
          <a:ln w="6350">
            <a:solidFill>
              <a:srgbClr val="C8E6D4"/>
            </a:solidFill>
            <a:prstDash val="solid"/>
          </a:ln>
          <a:effectLst>
            <a:outerShdw sx="100000" sy="100000" kx="0" ky="0" algn="bl" rotWithShape="0" blurRad="101600" dist="38100" dir="8100000">
              <a:srgbClr val="7DAA8C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1609344"/>
            <a:ext cx="4069080" cy="50292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171907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 de segmento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" y="2048256"/>
            <a:ext cx="3749040" cy="347472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" y="2084832"/>
            <a:ext cx="73152" cy="274320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210312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773936" y="210312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frecuencia, alto ticket, pocas online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75488" y="2450592"/>
            <a:ext cx="374904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" y="2487168"/>
            <a:ext cx="73152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" y="250545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Joven Urbano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773936" y="250545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Frecuencia media, compra online, descuentos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5488" y="2852928"/>
            <a:ext cx="3749040" cy="347472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5488" y="2889504"/>
            <a:ext cx="73152" cy="27432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" y="290779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773936" y="290779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Frecuencia alta, bajo ticket, pocas online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63440" y="1609344"/>
            <a:ext cx="4160520" cy="1700784"/>
          </a:xfrm>
          <a:prstGeom prst="rect">
            <a:avLst/>
          </a:prstGeom>
          <a:solidFill>
            <a:srgbClr val="FFFFFF"/>
          </a:solidFill>
          <a:ln w="6350">
            <a:solidFill>
              <a:srgbClr val="C8E6D4"/>
            </a:solidFill>
            <a:prstDash val="solid"/>
          </a:ln>
          <a:effectLst>
            <a:outerShdw sx="100000" sy="100000" kx="0" ky="0" algn="bl" rotWithShape="0" blurRad="101600" dist="38100" dir="8100000">
              <a:srgbClr val="7DAA8C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1609344"/>
            <a:ext cx="4160520" cy="50292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28032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2B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del modelo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73168" y="2048256"/>
            <a:ext cx="2148840" cy="347472"/>
          </a:xfrm>
          <a:prstGeom prst="rect">
            <a:avLst/>
          </a:prstGeom>
          <a:solidFill>
            <a:srgbClr val="117A65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64608" y="21122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967728" y="2048256"/>
            <a:ext cx="2029968" cy="347472"/>
          </a:xfrm>
          <a:prstGeom prst="rect">
            <a:avLst/>
          </a:prstGeom>
          <a:solidFill>
            <a:srgbClr val="117A65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59168" y="211226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773168" y="2450592"/>
            <a:ext cx="214884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64608" y="25146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67728" y="2450592"/>
            <a:ext cx="2029968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059168" y="251460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78.1%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773168" y="2852928"/>
            <a:ext cx="2148840" cy="347472"/>
          </a:xfrm>
          <a:prstGeom prst="rect">
            <a:avLst/>
          </a:prstGeom>
          <a:solidFill>
            <a:srgbClr val="E8F8F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64608" y="291693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QDA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967728" y="2852928"/>
            <a:ext cx="2029968" cy="347472"/>
          </a:xfrm>
          <a:prstGeom prst="rect">
            <a:avLst/>
          </a:prstGeom>
          <a:solidFill>
            <a:srgbClr val="E8F8F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59168" y="2916936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84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81.7% ← mejor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773168" y="3255264"/>
            <a:ext cx="214884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64608" y="331927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Logística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967728" y="3255264"/>
            <a:ext cx="2029968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059168" y="33192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79.4%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0040" y="3401568"/>
            <a:ext cx="4069080" cy="1481328"/>
          </a:xfrm>
          <a:prstGeom prst="rect">
            <a:avLst/>
          </a:prstGeom>
          <a:solidFill>
            <a:srgbClr val="FFFFFF"/>
          </a:solidFill>
          <a:ln w="6350">
            <a:solidFill>
              <a:srgbClr val="C8E6D4"/>
            </a:solidFill>
            <a:prstDash val="solid"/>
          </a:ln>
          <a:effectLst>
            <a:outerShdw sx="100000" sy="100000" kx="0" ky="0" algn="bl" rotWithShape="0" blurRad="101600" dist="38100" dir="8100000">
              <a:srgbClr val="7DAA8C">
                <a:alpha val="13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20040" y="3401568"/>
            <a:ext cx="4069080" cy="50292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" y="351129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Coeficientes LD1 — qué discrimina más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75488" y="3840480"/>
            <a:ext cx="3749040" cy="219456"/>
          </a:xfrm>
          <a:prstGeom prst="rect">
            <a:avLst/>
          </a:prstGeom>
          <a:solidFill>
            <a:srgbClr val="F4FBF7"/>
          </a:solidFill>
          <a:ln w="2540">
            <a:solidFill>
              <a:srgbClr val="C8E6D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94360" y="38587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1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freq_visitas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2011680" y="3858768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84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+0.82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2670048" y="385876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 frecuencia → Familiar/Senior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475488" y="4096512"/>
            <a:ext cx="3749040" cy="219456"/>
          </a:xfrm>
          <a:prstGeom prst="rect">
            <a:avLst/>
          </a:prstGeom>
          <a:solidFill>
            <a:srgbClr val="FFFFFF"/>
          </a:solidFill>
          <a:ln w="2540">
            <a:solidFill>
              <a:srgbClr val="C8E6D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94360" y="4114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1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ticket_prom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2011680" y="411480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84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+0.61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2670048" y="411480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 ticket → Familiar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475488" y="4352544"/>
            <a:ext cx="3749040" cy="219456"/>
          </a:xfrm>
          <a:prstGeom prst="rect">
            <a:avLst/>
          </a:prstGeom>
          <a:solidFill>
            <a:srgbClr val="F4FBF7"/>
          </a:solidFill>
          <a:ln w="2540">
            <a:solidFill>
              <a:srgbClr val="C8E6D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4360" y="43708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1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compras_online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2011680" y="4370832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-0.74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670048" y="4370832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online → Joven Urbano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475488" y="4608576"/>
            <a:ext cx="3749040" cy="219456"/>
          </a:xfrm>
          <a:prstGeom prst="rect">
            <a:avLst/>
          </a:prstGeom>
          <a:solidFill>
            <a:srgbClr val="FFFFFF"/>
          </a:solidFill>
          <a:ln w="2540">
            <a:solidFill>
              <a:srgbClr val="C8E6D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94360" y="46268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1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ratio_dcto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2011680" y="462686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-0.45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2670048" y="4626864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descuentos → Joven Urbano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4663440" y="3401568"/>
            <a:ext cx="4160520" cy="1481328"/>
          </a:xfrm>
          <a:prstGeom prst="rect">
            <a:avLst/>
          </a:prstGeom>
          <a:solidFill>
            <a:srgbClr val="FFFFFF"/>
          </a:solidFill>
          <a:ln w="6350">
            <a:solidFill>
              <a:srgbClr val="C8E6D4"/>
            </a:solidFill>
            <a:prstDash val="solid"/>
          </a:ln>
          <a:effectLst>
            <a:outerShdw sx="100000" sy="100000" kx="0" ky="0" algn="bl" rotWithShape="0" blurRad="101600" dist="38100" dir="8100000">
              <a:srgbClr val="7DAA8C">
                <a:alpha val="13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4663440" y="3401568"/>
            <a:ext cx="4160520" cy="50292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828032" y="351129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Nuevos clientes → segmento predicho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4773168" y="3877056"/>
            <a:ext cx="3931920" cy="274320"/>
          </a:xfrm>
          <a:prstGeom prst="rect">
            <a:avLst/>
          </a:prstGeom>
          <a:solidFill>
            <a:srgbClr val="F4FBF7"/>
          </a:solidFill>
          <a:ln w="2540">
            <a:solidFill>
              <a:srgbClr val="C8E6D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892040" y="391363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(alta frec., alto ticket)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7178040" y="391363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84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Familiar  P=0.82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4773168" y="4187952"/>
            <a:ext cx="3931920" cy="274320"/>
          </a:xfrm>
          <a:prstGeom prst="rect">
            <a:avLst/>
          </a:prstGeom>
          <a:solidFill>
            <a:srgbClr val="FFFFFF"/>
          </a:solidFill>
          <a:ln w="2540">
            <a:solidFill>
              <a:srgbClr val="C8E6D4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892040" y="4224528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(muchas compras online)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7178040" y="422452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84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Joven Urb P=0.79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4773168" y="4498848"/>
            <a:ext cx="3931920" cy="274320"/>
          </a:xfrm>
          <a:prstGeom prst="rect">
            <a:avLst/>
          </a:prstGeom>
          <a:solidFill>
            <a:srgbClr val="F4FBF7"/>
          </a:solidFill>
          <a:ln w="2540">
            <a:solidFill>
              <a:srgbClr val="C8E6D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892040" y="4535424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(frecuencia alta, bajo ticket)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7178040" y="453542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84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Senior    P=0.75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AF1"/>
          </a:solidFill>
          <a:ln w="5080">
            <a:solidFill>
              <a:srgbClr val="52BE8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Este pipeline es exactamente lo que se usa en retail: segmentar clientes para personalizar campañas. LDA da interpretabilidad + clasificación.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41E2D"/>
          </a:solidFill>
          <a:ln w="12700">
            <a:solidFill>
              <a:srgbClr val="141E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37744" y="137160"/>
            <a:ext cx="155448" cy="155448"/>
          </a:xfrm>
          <a:prstGeom prst="oval">
            <a:avLst/>
          </a:prstGeom>
          <a:solidFill>
            <a:srgbClr val="E06C75"/>
          </a:solidFill>
          <a:ln w="12700">
            <a:solidFill>
              <a:srgbClr val="E06C7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2064" y="137160"/>
            <a:ext cx="155448" cy="155448"/>
          </a:xfrm>
          <a:prstGeom prst="oval">
            <a:avLst/>
          </a:prstGeom>
          <a:solidFill>
            <a:srgbClr val="E5C07B"/>
          </a:solidFill>
          <a:ln w="12700">
            <a:solidFill>
              <a:srgbClr val="E5C07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37160"/>
            <a:ext cx="155448" cy="155448"/>
          </a:xfrm>
          <a:prstGeom prst="oval">
            <a:avLst/>
          </a:prstGeom>
          <a:solidFill>
            <a:srgbClr val="98C379"/>
          </a:solidFill>
          <a:ln w="12700">
            <a:solidFill>
              <a:srgbClr val="98C37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914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82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Clase09_LDA_Aplicado.ipynb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56032" y="566928"/>
            <a:ext cx="4315968" cy="2103120"/>
          </a:xfrm>
          <a:prstGeom prst="rect">
            <a:avLst/>
          </a:prstGeom>
          <a:solidFill>
            <a:srgbClr val="1E2D3D"/>
          </a:solidFill>
          <a:ln w="6350">
            <a:solidFill>
              <a:srgbClr val="2D5A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" y="566928"/>
            <a:ext cx="4315968" cy="50292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658368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9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Scores e incertidumbre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20624" y="914400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scores   = lda.transform(X_test)[:, 0]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20624" y="1156716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proba    = lda.predict_proba(X_test)[:, 1]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20624" y="1641348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8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Observaciones menos confiables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20624" y="1883664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incert   = np.abs(scores)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20624" y="2125980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inciertos = np.argsort(incert)[:5]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20624" y="2368296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8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Estos son candidatos a revisión manual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773168" y="566928"/>
            <a:ext cx="4114800" cy="2103120"/>
          </a:xfrm>
          <a:prstGeom prst="rect">
            <a:avLst/>
          </a:prstGeom>
          <a:solidFill>
            <a:srgbClr val="1E2D3D"/>
          </a:solidFill>
          <a:ln w="6350">
            <a:solidFill>
              <a:srgbClr val="2D5A3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73168" y="566928"/>
            <a:ext cx="4114800" cy="50292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10328" y="65836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9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QDA — frontera cuadrática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37760" y="91440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sklearn.discriminant_analysis import \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937760" y="115671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QuadraticDiscriminantAnalysis as QDA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937760" y="16413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qda = QDA()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937760" y="188366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qda.fit(X_train, y_train)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37760" y="212598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8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QDA no tiene .transform() — sin proyección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937760" y="236829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8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Pero sí .predict_proba() y .predict()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56032" y="2816352"/>
            <a:ext cx="8631936" cy="2194560"/>
          </a:xfrm>
          <a:prstGeom prst="rect">
            <a:avLst/>
          </a:prstGeom>
          <a:solidFill>
            <a:srgbClr val="1E2D3D"/>
          </a:solidFill>
          <a:ln w="6350">
            <a:solidFill>
              <a:srgbClr val="2D5A3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6032" y="2816352"/>
            <a:ext cx="8631936" cy="50292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93192" y="2907792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9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Pipeline marketing: comparar LDA, QDA, Logística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20624" y="3163824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sklearn.preprocessing import StandardScaler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20624" y="3648456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 = StandardScaler(); X_sc = sc.fit_transform(X)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20624" y="3890772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modelos = {'LDA': LDA(), 'QDA': QDA(), 'Logistica': LR(C=1e6)}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20624" y="4133088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nm, m in modelos.items():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20624" y="4375404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m.fit(X_tr, y_tr); acc = accuracy_score(y_te, m.predict(X_te))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20624" y="4617720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print(f'{nm}: Acc={acc:.4f}')  # QDA gana con Sigma distintas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94760" cy="51435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794760" y="0"/>
            <a:ext cx="50292" cy="5143500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" y="2651760"/>
            <a:ext cx="3566160" cy="3566160"/>
          </a:xfrm>
          <a:prstGeom prst="oval">
            <a:avLst/>
          </a:prstGeom>
          <a:solidFill>
            <a:srgbClr val="1E8449">
              <a:alpha val="17000"/>
            </a:srgbClr>
          </a:solidFill>
          <a:ln w="12700">
            <a:solidFill>
              <a:srgbClr val="A9DFBF">
                <a:alpha val="2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92608"/>
            <a:ext cx="3337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Módulo 3</a:t>
            </a:r>
            <a:endParaRPr lang="en-US" sz="30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completado ✓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320040" y="2011680"/>
            <a:ext cx="2286000" cy="0"/>
          </a:xfrm>
          <a:prstGeom prst="line">
            <a:avLst/>
          </a:prstGeom>
          <a:noFill/>
          <a:ln w="19050">
            <a:solidFill>
              <a:srgbClr val="52BE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2157984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2B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Discriminante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0040" y="245059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D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Josef Rodriguez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69080" y="27432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Resumen del módulo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069080" y="731520"/>
            <a:ext cx="4754880" cy="0"/>
          </a:xfrm>
          <a:prstGeom prst="line">
            <a:avLst/>
          </a:prstGeom>
          <a:noFill/>
          <a:ln w="9525">
            <a:solidFill>
              <a:srgbClr val="C8E6D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069080" y="868680"/>
            <a:ext cx="4754880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C8E6D4"/>
            </a:solidFill>
            <a:prstDash val="solid"/>
          </a:ln>
          <a:effectLst>
            <a:outerShdw sx="100000" sy="100000" kx="0" ky="0" algn="bl" rotWithShape="0" blurRad="101600" dist="38100" dir="8100000">
              <a:srgbClr val="7DAA8C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069080" y="868680"/>
            <a:ext cx="4754880" cy="50292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24528" y="978408"/>
            <a:ext cx="475488" cy="475488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24528" y="9784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08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28032" y="97840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 8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28032" y="13258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Fisher · Sᴮ/Sᵥᵥ · w = Sᵥᵥ⁻¹(μ₁−μ₀) · LDA multiclase · LDA vs Logística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69080" y="2057400"/>
            <a:ext cx="4754880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C8E6D4"/>
            </a:solidFill>
            <a:prstDash val="solid"/>
          </a:ln>
          <a:effectLst>
            <a:outerShdw sx="100000" sy="100000" kx="0" ky="0" algn="bl" rotWithShape="0" blurRad="101600" dist="38100" dir="8100000">
              <a:srgbClr val="7DAA8C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069080" y="2057400"/>
            <a:ext cx="4754880" cy="50292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24528" y="2167128"/>
            <a:ext cx="475488" cy="475488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24528" y="21671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09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28032" y="216712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 9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28032" y="25146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= confianza · QDA (frontera cuadrática) · Matriz de confusión · Marketing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069080" y="3337560"/>
            <a:ext cx="4754880" cy="1078992"/>
          </a:xfrm>
          <a:prstGeom prst="rect">
            <a:avLst/>
          </a:prstGeom>
          <a:solidFill>
            <a:srgbClr val="EAFAF1"/>
          </a:solidFill>
          <a:ln w="6350">
            <a:solidFill>
              <a:srgbClr val="52BE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24528" y="3410712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takeaways del Módulo 3: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24528" y="3749040"/>
            <a:ext cx="109728" cy="109728"/>
          </a:xfrm>
          <a:prstGeom prst="oval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07408" y="3712464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usa etiquetas para maximizar separación (supervisado, ≠ PCA)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224528" y="3968496"/>
            <a:ext cx="109728" cy="109728"/>
          </a:xfrm>
          <a:prstGeom prst="oval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07408" y="3931920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≈ Logística con MVN. QDA cuando las covarianzas difieren.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224528" y="4187952"/>
            <a:ext cx="109728" cy="109728"/>
          </a:xfrm>
          <a:prstGeom prst="oval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407408" y="4151376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confianza. Casos con score≈0 → derivar a revisión manual.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069080" y="4507992"/>
            <a:ext cx="4754880" cy="475488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24528" y="4581144"/>
            <a:ext cx="4462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D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4: PCA · SVD · Varianza explicada · Scree plot · Loadings · Pipeline completo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2026-04-11T18:32:43Z</dcterms:created>
  <dcterms:modified xsi:type="dcterms:W3CDTF">2026-04-11T18:32:43Z</dcterms:modified>
</cp:coreProperties>
</file>