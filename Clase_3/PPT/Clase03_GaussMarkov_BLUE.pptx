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45152" y="0"/>
            <a:ext cx="329184" cy="51435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3840480" cy="3840480"/>
          </a:xfrm>
          <a:prstGeom prst="oval">
            <a:avLst/>
          </a:prstGeom>
          <a:solidFill>
            <a:srgbClr val="2176AE">
              <a:alpha val="20000"/>
            </a:srgbClr>
          </a:solidFill>
          <a:ln w="12700">
            <a:solidFill>
              <a:srgbClr val="C8DEF5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27432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FFFFF">
                    <a:alpha val="1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β̂</a:t>
            </a:r>
            <a:endParaRPr lang="en-US" sz="16000" dirty="0"/>
          </a:p>
        </p:txBody>
      </p:sp>
      <p:sp>
        <p:nvSpPr>
          <p:cNvPr id="6" name="Shape 4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03 · MÓDULO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Formulación OLS,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Supuestos Gauss-Markov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Propiedad BLUE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β̂ es el mejor estimador posible — y cuándo deja de serlo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456432"/>
            <a:ext cx="2377440" cy="0"/>
          </a:xfrm>
          <a:prstGeom prst="line">
            <a:avLst/>
          </a:prstGeom>
          <a:noFill/>
          <a:ln w="19050">
            <a:solidFill>
              <a:srgbClr val="5BA4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621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968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· Nivel avanzado · Python + NumPy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vas a poder hacer al terminar?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931920" y="107899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1078992"/>
            <a:ext cx="489204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96512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152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Enunciar los 5 supuestos Gauss-Markov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490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saber cuál viola qué — heterocedasticidad, autocorrelación, etc.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2011680"/>
            <a:ext cx="489204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E[β̂] = β empíricamente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Simulaciones que prueban la insesgadez del estimador OLS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2944368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2944368"/>
            <a:ext cx="489204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s² = SSE/(n−p) correctamente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dividir por n−p y no por n — grados de libertad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0" y="3877056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3877056"/>
            <a:ext cx="489204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el panel de 4 gráficos de diagnóstico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vs ajustados · Q-Q · Scale-location · vs orden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pregunta de hoy: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1627632"/>
            <a:ext cx="3383280" cy="53035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170078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3D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OLS y no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3D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otro estimador?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" y="2286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respuesta: Teorema de Gauss-Markov.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los supuestos correctos, OLS es el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Linear Unbiased Estimator (BLUE).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Preguntar: '¿Cuántos de ustedes han verificado los supuestos en su trabajo antes de interpretar resultados?'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5 Supuestos de Gauss-Markov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son necesarios para que OLS sea BLUE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50292" cy="694944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1152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Linealidad en parámetros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24128" y="1463040"/>
            <a:ext cx="1645920" cy="256032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4904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Xβ + ε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34640" y="117043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viola: Modelo mal especificado (ej. relación cuadrática)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865376"/>
            <a:ext cx="850392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65376"/>
            <a:ext cx="50292" cy="69494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920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Exogeneidad estricta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24128" y="2231136"/>
            <a:ext cx="1645920" cy="256032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258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E[ε | X] = 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34640" y="1938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viola: Endogeneidad — variable omitida correlacionada con 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633472"/>
            <a:ext cx="850392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633472"/>
            <a:ext cx="50292" cy="69494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6883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26883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Esperanza cero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4128" y="2999232"/>
            <a:ext cx="1645920" cy="256032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0266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E[ε] = 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34640" y="270662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viola: Intercepto mal definido — siempre incluir columna de unos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401568"/>
            <a:ext cx="850392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401568"/>
            <a:ext cx="50292" cy="6949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4564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24128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Homocedasticidad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24128" y="3767328"/>
            <a:ext cx="1645920" cy="256032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37947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Var(ε) = σ²I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834640" y="3474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viola: Heterocedasticidad — varianza crece/decrece con ŷ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169664"/>
            <a:ext cx="850392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169664"/>
            <a:ext cx="50292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224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24128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autocorrelación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24128" y="4535424"/>
            <a:ext cx="1645920" cy="256032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45628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Cov(εᵢ,εⱼ) = 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834640" y="424281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viola: Series de tiempo, datos espaciales → usar GLS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Pedir al grupo: '¿Han visto alguna vez un gráfico de residuos con patrón de embudo? Eso es GM4 violado.'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E[β̂] = β — Insesgadez de OLS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algebraica y verificación empírica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02336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402336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algebraica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1664208"/>
            <a:ext cx="3749040" cy="493776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92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β̂ = (XᵀX)⁻¹Xᵀy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0" y="18105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5488" y="2231136"/>
            <a:ext cx="3749040" cy="493776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59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(XᵀX)⁻¹Xᵀ(Xβ+ε)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0" y="23774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y=Xβ+ε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" y="2798064"/>
            <a:ext cx="3749040" cy="493776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β + (XᵀX)⁻¹Xᵀε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29443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5488" y="3364992"/>
            <a:ext cx="3749040" cy="493776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E[β̂] = β + (XᵀX)⁻¹Xᵀ E[ε]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35112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esperanza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5488" y="3931920"/>
            <a:ext cx="3749040" cy="493776"/>
          </a:xfrm>
          <a:prstGeom prst="rect">
            <a:avLst/>
          </a:prstGeom>
          <a:solidFill>
            <a:srgbClr val="0F3D6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59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E[β̂] = β  ✓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40782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E[ε]=0 (GM3)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0" y="1078992"/>
            <a:ext cx="425196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1078992"/>
            <a:ext cx="425196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empírica (5000 sims)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36592" y="16276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simulación: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ε ~ N(0, σ²I)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y = Xβ + 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Calcular β̂ = (XᵀX)⁻¹Xᵀy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36592" y="2633472"/>
            <a:ext cx="3931920" cy="51206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Resultado: E[β̂] ≈ β_real en cada βᵢ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6592" y="32552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Implicancia práctica: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3566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 muchos datasets similares, β̂ acierta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36592" y="39136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garantiza exactitud en UN dataset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36592" y="42611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Sesgo = 0 es propiedad del estimador, no de la muestra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Ejecutar en vivo: simular 200 datasets, graficar histograma de β̂₁. Ver que está centrado en β_real.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s² = SSE/(n−p) — Estimador insesgado de σ²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dividir bien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02336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023360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 − p?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" y="1627632"/>
            <a:ext cx="3749040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0078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s² = SSE/(n−p) = eᵀe/(n−p)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" y="2157984"/>
            <a:ext cx="37490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402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observaciones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22402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disponibles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633472"/>
            <a:ext cx="37490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157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parámetros estimados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715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de libertad perdidos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108960"/>
            <a:ext cx="37490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912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191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de libertad residuales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3584448"/>
            <a:ext cx="3749040" cy="402336"/>
          </a:xfrm>
          <a:prstGeom prst="rect">
            <a:avLst/>
          </a:prstGeom>
          <a:solidFill>
            <a:srgbClr val="0F3D6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667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E[s²] = σ²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3666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insesgado ← por eso n−p y no 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1078992"/>
            <a:ext cx="425196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078992"/>
            <a:ext cx="4251960" cy="502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 de dividir mal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36592" y="1700784"/>
            <a:ext cx="3931920" cy="585216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792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SSE/n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1792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E[·] &lt;σ²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20665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Subestima la incertidumbre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6592" y="2359152"/>
            <a:ext cx="3931920" cy="585216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450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SSE/(n-1)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91072" y="2450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E[·] ≈σ² (casi)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2724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pero aún sesgado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3017520"/>
            <a:ext cx="3931920" cy="585216"/>
          </a:xfrm>
          <a:prstGeom prst="rect">
            <a:avLst/>
          </a:prstGeom>
          <a:solidFill>
            <a:srgbClr val="EAF2FB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108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SSE/(n-p)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91072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E[·] =σ²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64608" y="3383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Insesgado — el correcto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36592" y="3675888"/>
            <a:ext cx="3931920" cy="10789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inferencia: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64608" y="404164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SE(β̂ⱼ) = √(s² · (XᵀX)⁻¹ⱼⱼ)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s² sesgado da SE incorrectos → t-tests incorrectos → conclusiones equivocadas.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Demostrar con código: simular 3000 veces, mostrar que E[SSE/(n-p)]=σ², E[SSE/n]&lt;σ².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 — Best Linear Unbiased Estimator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Teorema de Gauss-Markov en una slide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51206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de Gauss-Markov: bajo GM1–GM5, β̂ OLS tiene la MENOR VARIANZA entre todos los estimadores lineales insesgados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20574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37360"/>
            <a:ext cx="2057400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8288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3D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29768" y="25146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2880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varianza (más eficiente)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" y="3200400"/>
            <a:ext cx="1847088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2735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Var(β̂) ≤ Var(β̃) para cualquier otro estimador lineal insesgado β̃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96312" y="1737360"/>
            <a:ext cx="20574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96312" y="1737360"/>
            <a:ext cx="205740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8288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17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2606040" y="25146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06040" y="2880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Estimador lineal en 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06040" y="3200400"/>
            <a:ext cx="1847088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2735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 = Cy donde C = (XᵀX)⁻¹Xᵀ — combinación lineal de 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72584" y="1737360"/>
            <a:ext cx="20574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72584" y="1737360"/>
            <a:ext cx="205740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18288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A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4782312" y="25146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82312" y="2880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Insesgado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82312" y="3200400"/>
            <a:ext cx="1847088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32735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E[β̂] = β — en promedio, acierta el valor real de β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48856" y="1737360"/>
            <a:ext cx="20574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48856" y="1737360"/>
            <a:ext cx="2057400" cy="502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58584" y="18288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6958584" y="25146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58584" y="2880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Estimador estadístico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58584" y="3200400"/>
            <a:ext cx="1847088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58584" y="32735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calculable a partir de los datos (X, y)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700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BLUE no dice que β̂ esté cerca del β real en una muestra. Dice que es la mejor apuesta posible si los supuestos se cumplen.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'Si los supuestos GM se violan, OLS sigue siendo insesgado pero ya no tiene la menor varianza. Por eso diagnosticamos.'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panel de diagnóstico: 4 gráficos obligatorios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interpretar cualquier coeficiente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20624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88720"/>
            <a:ext cx="384048" cy="38404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vs Ajustados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" y="1536192"/>
            <a:ext cx="2194560" cy="274320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572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ax.scatter(y_hat, e)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" y="188366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patrón → homocedasticidad ✓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embudo → GM4 violado → usar WLS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078992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78992"/>
            <a:ext cx="420624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82312" y="1188720"/>
            <a:ext cx="384048" cy="384048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76088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Q-Q Plot de residuos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76088" y="1536192"/>
            <a:ext cx="2194560" cy="274320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572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stats.probplot(e_std, plot=ax)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82312" y="188366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sobre la diagonal → normalidad ✓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 pesadas → no normal → tests no válidos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999232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99232"/>
            <a:ext cx="4206240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3108960"/>
            <a:ext cx="384048" cy="384048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2688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Scale-Location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2688" y="3456432"/>
            <a:ext cx="2194560" cy="274320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493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ax.scatter(y_hat, np.sqrt(abs(e_std)))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8912" y="380390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horizontal plana → varianza constante ✓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ascendente → heterocedasticidad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2999232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999232"/>
            <a:ext cx="420624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82312" y="3108960"/>
            <a:ext cx="384048" cy="384048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76088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vs Orden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276088" y="3456432"/>
            <a:ext cx="2194560" cy="274320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3493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ax.plot(range(n), e)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82312" y="380390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tendencia → no autocorrelación ✓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sinusoidal → GM5 violado → DW test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Mostrar en vivo: datos heterocedasticos → el gráfico 1 muestra embudo. Luego mostrar datos OK. El contraste es inmediato.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1E2D"/>
          </a:solidFill>
          <a:ln w="12700">
            <a:solidFill>
              <a:srgbClr val="14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137160"/>
            <a:ext cx="155448" cy="155448"/>
          </a:xfrm>
          <a:prstGeom prst="oval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137160"/>
            <a:ext cx="155448" cy="155448"/>
          </a:xfrm>
          <a:prstGeom prst="oval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37160"/>
            <a:ext cx="155448" cy="155448"/>
          </a:xfrm>
          <a:prstGeom prst="oval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91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·  Clase03_GaussMarkov_BLUE.ipynb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4315968" cy="2103120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566928"/>
            <a:ext cx="4315968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6583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Estimar s² insesgado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9144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b, *_ = np.linalg.lstsq(X, y, rcond=None)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15671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   = y - X @ 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139903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p  = X.shape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188366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  = e @ 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212598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  = SSE / (n - p)   # ← insesgado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3682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   = np.sqrt(s2)     # error estándar residual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73168" y="566928"/>
            <a:ext cx="4114800" cy="2103120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566928"/>
            <a:ext cx="411480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658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Tests de supuestos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914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Normalidad (Shapiro-Wilk)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11567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_, p_sw = stats.shapiro(e[:250])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399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Autocorrelación (Durbin-Watson)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6413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 = np.sum(np.diff(e)**2) / (e @ 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1883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Breusch-Pagan (homocedasticidad)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1259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= e**2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2368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b_aux, *_ = np.linalg.lstsq(X, e2, rcond=None)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816352"/>
            <a:ext cx="8631936" cy="2194560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816352"/>
            <a:ext cx="8631936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90779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Panel de 4 gráficos de diagnóstico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20624" y="316382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plt.subplots(2, 2, figsize=(13, 9))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0624" y="340614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e_std = e / np.sqrt(s2)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364845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axes[0,0].scatter(y_hat, e)                      # 1. Residuos vs Ajustados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389077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stats.probplot(e_std, dist='norm', plot=axes[0,1]) # 2. Q-Q Plot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" y="4133088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axes[1,0].scatter(y_hat, np.sqrt(np.abs(e_std)))  # 3. Scale-Location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" y="437540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axes[1,1].plot(range(n), e)                        # 4. vs Orden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0"/>
            <a:ext cx="50292" cy="51435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651760"/>
            <a:ext cx="3566160" cy="3566160"/>
          </a:xfrm>
          <a:prstGeom prst="oval">
            <a:avLst/>
          </a:prstGeom>
          <a:solidFill>
            <a:srgbClr val="2176AE">
              <a:alpha val="17000"/>
            </a:srgbClr>
          </a:solidFill>
          <a:ln w="12700">
            <a:solidFill>
              <a:srgbClr val="C8DEF5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92608"/>
            <a:ext cx="3337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 3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completada.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286000" cy="0"/>
          </a:xfrm>
          <a:prstGeom prst="line">
            <a:avLst/>
          </a:prstGeom>
          <a:noFill/>
          <a:ln w="19050">
            <a:solidFill>
              <a:srgbClr val="5BA4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299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9080" y="274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cubrimos hoy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731520"/>
            <a:ext cx="4754880" cy="0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978408"/>
            <a:ext cx="146304" cy="146304"/>
          </a:xfrm>
          <a:prstGeom prst="oval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886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supuestos Gauss-Markov y sus violaciones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1453896"/>
            <a:ext cx="146304" cy="146304"/>
          </a:xfrm>
          <a:prstGeom prst="oval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362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E[β̂]=β — insesgadez (algebraica + empírica)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1929384"/>
            <a:ext cx="146304" cy="146304"/>
          </a:xfrm>
          <a:prstGeom prst="oval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837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s²=SSE/(n−p) — estimador insesgado de σ²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2404872"/>
            <a:ext cx="146304" cy="146304"/>
          </a:xfrm>
          <a:prstGeom prst="oval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2313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— menor varianza entre estimadores lineales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69080" y="2880360"/>
            <a:ext cx="146304" cy="146304"/>
          </a:xfrm>
          <a:prstGeom prst="oval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2788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4 gráficos de diagnóstico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3355848"/>
            <a:ext cx="146304" cy="146304"/>
          </a:xfrm>
          <a:prstGeom prst="oval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3264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Shapiro-Wilk · Durbin-Watson · Breusch-Pagan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69080" y="3931920"/>
            <a:ext cx="4754880" cy="98755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40233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— Lunes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24528" y="42976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ajustado · Tabla ANOVA · F-test global · t-tests por βⱼ · Intervalos de confianza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2026-03-31T13:19:48Z</dcterms:created>
  <dcterms:modified xsi:type="dcterms:W3CDTF">2026-03-31T13:19:48Z</dcterms:modified>
</cp:coreProperties>
</file>