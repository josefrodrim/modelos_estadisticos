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71" d="100"/>
          <a:sy n="171" d="100"/>
        </p:scale>
        <p:origin x="46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683197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0" y="0"/>
            <a:ext cx="4206240" cy="5143500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645152" y="0"/>
            <a:ext cx="329184" cy="5143500"/>
          </a:xfrm>
          <a:prstGeom prst="rect">
            <a:avLst/>
          </a:prstGeom>
          <a:solidFill>
            <a:srgbClr val="52BE80"/>
          </a:solidFill>
          <a:ln w="12700">
            <a:solidFill>
              <a:srgbClr val="52BE8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669280" y="274320"/>
            <a:ext cx="3840480" cy="3840480"/>
          </a:xfrm>
          <a:prstGeom prst="line">
            <a:avLst/>
          </a:prstGeom>
          <a:solidFill>
            <a:srgbClr val="1E8449">
              <a:alpha val="20000"/>
            </a:srgbClr>
          </a:solidFill>
          <a:ln w="12700">
            <a:solidFill>
              <a:srgbClr val="A9DFBF">
                <a:alpha val="35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0" y="91440"/>
            <a:ext cx="34747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0" b="1" dirty="0">
                <a:solidFill>
                  <a:srgbClr val="FFFFFF">
                    <a:alpha val="12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14000" dirty="0"/>
          </a:p>
        </p:txBody>
      </p:sp>
      <p:sp>
        <p:nvSpPr>
          <p:cNvPr id="6" name="Shape 4"/>
          <p:cNvSpPr/>
          <p:nvPr/>
        </p:nvSpPr>
        <p:spPr>
          <a:xfrm>
            <a:off x="411480" y="256032"/>
            <a:ext cx="1920240" cy="292608"/>
          </a:xfrm>
          <a:prstGeom prst="rect">
            <a:avLst/>
          </a:prstGeom>
          <a:solidFill>
            <a:srgbClr val="EAFAF1"/>
          </a:solidFill>
          <a:ln w="6350">
            <a:solidFill>
              <a:srgbClr val="52BE8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5488" y="292608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117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CLASE 08 · MÓDULO 3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685800"/>
            <a:ext cx="4069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A2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Análisis Discriminante</a:t>
            </a:r>
            <a:endParaRPr lang="en-US" sz="27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A2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Lineal (LDA)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411480" y="2880360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D8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Fisher · Frontera de decisión · LDA vs Logística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" y="3456432"/>
            <a:ext cx="2377440" cy="0"/>
          </a:xfrm>
          <a:prstGeom prst="line">
            <a:avLst/>
          </a:prstGeom>
          <a:noFill/>
          <a:ln w="19050">
            <a:solidFill>
              <a:srgbClr val="52BE8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3621024"/>
            <a:ext cx="4069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Docente: Josef Rodriguez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11480" y="3968496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D8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horas · Nivel avanzado · Python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11480" y="4773168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D8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8 · Módulo 3 · Análisis Discriminante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EAFAF1"/>
          </a:solidFill>
          <a:ln w="12700">
            <a:solidFill>
              <a:srgbClr val="EAFAF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0292" cy="960120"/>
          </a:xfrm>
          <a:prstGeom prst="rect">
            <a:avLst/>
          </a:prstGeom>
          <a:solidFill>
            <a:srgbClr val="52BE80"/>
          </a:solidFill>
          <a:ln w="12700">
            <a:solidFill>
              <a:srgbClr val="52BE8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A2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¿Qué vas a poder hacer al terminar?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3931920" y="1078992"/>
            <a:ext cx="489204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C8E6D4"/>
            </a:solidFill>
            <a:prstDash val="solid"/>
          </a:ln>
          <a:effectLst>
            <a:outerShdw blurRad="101600" dist="38100" dir="8100000" algn="bl" rotWithShape="0">
              <a:srgbClr val="7DAA8C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931920" y="1078992"/>
            <a:ext cx="4892040" cy="50292"/>
          </a:xfrm>
          <a:prstGeom prst="rect">
            <a:avLst/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096512" y="11704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26280" y="115214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Derivar la regla de Fisher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26280" y="149047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D8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Maximizar J(w) = wᵀSᴮw / wᵀSᵥᵥw — la idea geométrica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931920" y="2011680"/>
            <a:ext cx="489204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C8E6D4"/>
            </a:solidFill>
            <a:prstDash val="solid"/>
          </a:ln>
          <a:effectLst>
            <a:outerShdw blurRad="101600" dist="38100" dir="8100000" algn="bl" rotWithShape="0">
              <a:srgbClr val="7DAA8C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931920" y="2011680"/>
            <a:ext cx="4892040" cy="50292"/>
          </a:xfrm>
          <a:prstGeom prst="rect">
            <a:avLst/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96512" y="21031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26280" y="208483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Calcular Sᴮ, Sᵥᵥ y w = Sᵥᵥ⁻¹(μ₁−μ₀)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26280" y="242316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D8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Manualmente en NumPy y verificar contra sklearn LDA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931920" y="2944368"/>
            <a:ext cx="489204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C8E6D4"/>
            </a:solidFill>
            <a:prstDash val="solid"/>
          </a:ln>
          <a:effectLst>
            <a:outerShdw blurRad="101600" dist="38100" dir="8100000" algn="bl" rotWithShape="0">
              <a:srgbClr val="7DAA8C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931920" y="2944368"/>
            <a:ext cx="4892040" cy="50292"/>
          </a:xfrm>
          <a:prstGeom prst="rect">
            <a:avLst/>
          </a:prstGeom>
          <a:solidFill>
            <a:srgbClr val="52BE80"/>
          </a:solidFill>
          <a:ln w="12700">
            <a:solidFill>
              <a:srgbClr val="52BE8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096512" y="303580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2B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26280" y="30175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Interpretar la frontera de decisión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26280" y="335584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D8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sobre w · umbral · distancia como confianza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931920" y="3877056"/>
            <a:ext cx="489204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C8E6D4"/>
            </a:solidFill>
            <a:prstDash val="solid"/>
          </a:ln>
          <a:effectLst>
            <a:outerShdw blurRad="101600" dist="38100" dir="8100000" algn="bl" rotWithShape="0">
              <a:srgbClr val="7DAA8C">
                <a:alpha val="13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931920" y="3877056"/>
            <a:ext cx="4892040" cy="50292"/>
          </a:xfrm>
          <a:prstGeom prst="rect">
            <a:avLst/>
          </a:prstGeom>
          <a:solidFill>
            <a:srgbClr val="52BE80"/>
          </a:solidFill>
          <a:ln w="12700">
            <a:solidFill>
              <a:srgbClr val="52BE8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096512" y="396849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2B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26280" y="395020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Comparar LDA con Logística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26280" y="4288536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D8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Cuándo son equivalentes · outliers · distribuciones no normales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11480" y="120700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7A6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pregunta de hoy: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11480" y="1572768"/>
            <a:ext cx="3383280" cy="548640"/>
          </a:xfrm>
          <a:prstGeom prst="rect">
            <a:avLst/>
          </a:prstGeom>
          <a:solidFill>
            <a:srgbClr val="EAFAF1"/>
          </a:solidFill>
          <a:ln w="6350">
            <a:solidFill>
              <a:srgbClr val="52BE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1627632"/>
            <a:ext cx="3154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17A6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¿En qué dirección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17A6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 separan mejor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17A6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dos nubes de puntos?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11480" y="224942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D8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Fisher: la dirección que maximiza la separación entre medias dividida por la dispersión interna.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AFAF1"/>
          </a:solidFill>
          <a:ln w="5080">
            <a:solidFill>
              <a:srgbClr val="52BE8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74320" y="479145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 Preguntar: '¿Cuántos conocen PCA? LDA es similar pero supervisado — usa las etiquetas de clase para guiar la proyección.'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B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46304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2B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012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regla de Fisher — maximizar separación / dispersión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960120" y="67665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A9D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Geometría detrás de LDA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320040" y="1078992"/>
            <a:ext cx="8503920" cy="475488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5488" y="1152144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J(w) = wᵀSᴮw / wᵀSᵥᵥw  →  máx w*  =  Sᵥᵥ⁻¹(μ₁ − μ₀)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0040" y="1682496"/>
            <a:ext cx="4069080" cy="3218688"/>
          </a:xfrm>
          <a:prstGeom prst="rect">
            <a:avLst/>
          </a:prstGeom>
          <a:solidFill>
            <a:srgbClr val="FFFFFF"/>
          </a:solidFill>
          <a:ln w="6350">
            <a:solidFill>
              <a:srgbClr val="C8E6D4"/>
            </a:solidFill>
            <a:prstDash val="solid"/>
          </a:ln>
          <a:effectLst>
            <a:outerShdw blurRad="101600" dist="38100" dir="8100000" algn="bl" rotWithShape="0">
              <a:srgbClr val="7DAA8C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0040" y="1682496"/>
            <a:ext cx="4069080" cy="50292"/>
          </a:xfrm>
          <a:prstGeom prst="rect">
            <a:avLst/>
          </a:prstGeom>
          <a:solidFill>
            <a:srgbClr val="52BE80"/>
          </a:solidFill>
          <a:ln w="12700">
            <a:solidFill>
              <a:srgbClr val="52BE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5488" y="1792224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2B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dos matrices scatter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5488" y="2176272"/>
            <a:ext cx="3749040" cy="804672"/>
          </a:xfrm>
          <a:prstGeom prst="rect">
            <a:avLst/>
          </a:prstGeom>
          <a:solidFill>
            <a:srgbClr val="F4FBF7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223113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17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Sᵥᵥ (within-class)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487168" y="2212848"/>
            <a:ext cx="1600200" cy="256032"/>
          </a:xfrm>
          <a:prstGeom prst="rect">
            <a:avLst/>
          </a:prstGeom>
          <a:solidFill>
            <a:srgbClr val="EAFAF1"/>
          </a:solidFill>
          <a:ln w="3810">
            <a:solidFill>
              <a:srgbClr val="52BE8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42032" y="2240280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7A6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Σₖ(xᵢ−μₖ)(xᵢ−μₖ)ᵀ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4360" y="2523744"/>
            <a:ext cx="3520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D8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Dispersión DENTRO de cada clase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D8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Queremos que sea pequeña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75488" y="3072384"/>
            <a:ext cx="3749040" cy="804672"/>
          </a:xfrm>
          <a:prstGeom prst="rect">
            <a:avLst/>
          </a:prstGeom>
          <a:solidFill>
            <a:srgbClr val="FFFFFF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31272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17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Sᴮ (between-class)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487168" y="3108960"/>
            <a:ext cx="1600200" cy="256032"/>
          </a:xfrm>
          <a:prstGeom prst="rect">
            <a:avLst/>
          </a:prstGeom>
          <a:solidFill>
            <a:srgbClr val="EAFAF1"/>
          </a:solidFill>
          <a:ln w="3810">
            <a:solidFill>
              <a:srgbClr val="52B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42032" y="3136392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7A6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nₖ Σₖ(μₖ−μ)(μₖ−μ)ᵀ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94360" y="3419856"/>
            <a:ext cx="3520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D8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Dispersión ENTRE medias de clase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D8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Queremos que sea grande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75488" y="3968496"/>
            <a:ext cx="3749040" cy="804672"/>
          </a:xfrm>
          <a:prstGeom prst="rect">
            <a:avLst/>
          </a:prstGeom>
          <a:solidFill>
            <a:srgbClr val="F4FBF7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" y="402336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17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 = Sᵥᵥ⁻¹(μ₁−μ₀)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487168" y="4005072"/>
            <a:ext cx="1600200" cy="256032"/>
          </a:xfrm>
          <a:prstGeom prst="rect">
            <a:avLst/>
          </a:prstGeom>
          <a:solidFill>
            <a:srgbClr val="EAFAF1"/>
          </a:solidFill>
          <a:ln w="3810">
            <a:solidFill>
              <a:srgbClr val="52BE8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542032" y="4032504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7A6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solución cerrada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94360" y="4315968"/>
            <a:ext cx="3520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D8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iterativa — calcula directamente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663440" y="1682496"/>
            <a:ext cx="4160520" cy="3218688"/>
          </a:xfrm>
          <a:prstGeom prst="rect">
            <a:avLst/>
          </a:prstGeom>
          <a:solidFill>
            <a:srgbClr val="FFFFFF"/>
          </a:solidFill>
          <a:ln w="6350">
            <a:solidFill>
              <a:srgbClr val="C8E6D4"/>
            </a:solidFill>
            <a:prstDash val="solid"/>
          </a:ln>
          <a:effectLst>
            <a:outerShdw blurRad="101600" dist="38100" dir="8100000" algn="bl" rotWithShape="0">
              <a:srgbClr val="7DAA8C">
                <a:alpha val="13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63440" y="1682496"/>
            <a:ext cx="4160520" cy="50292"/>
          </a:xfrm>
          <a:prstGeom prst="rect">
            <a:avLst/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28032" y="17922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Intuición geométrica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828032" y="221284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8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Proyectar todos los puntos sobre w: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73168" y="2542032"/>
            <a:ext cx="3931920" cy="438912"/>
          </a:xfrm>
          <a:prstGeom prst="rect">
            <a:avLst/>
          </a:prstGeom>
          <a:solidFill>
            <a:srgbClr val="F4FBF7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901184" y="261518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17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Separación: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943600" y="2615184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D8A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z₀.mean() vs z₁.mean() — lo más distinto posible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773168" y="3035808"/>
            <a:ext cx="3931920" cy="438912"/>
          </a:xfrm>
          <a:prstGeom prst="rect">
            <a:avLst/>
          </a:prstGeom>
          <a:solidFill>
            <a:srgbClr val="FFFFFF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901184" y="310896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17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Dispersión: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943600" y="3108960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D8A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z₀.std() y z₁.std() — lo más pequeña posible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773168" y="3529584"/>
            <a:ext cx="3931920" cy="438912"/>
          </a:xfrm>
          <a:prstGeom prst="rect">
            <a:avLst/>
          </a:prstGeom>
          <a:solidFill>
            <a:srgbClr val="F4FBF7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901184" y="360273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17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Frontera: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943600" y="3602736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D8A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 = (z₀.mean() + z₁.mean()) / 2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773168" y="4023360"/>
            <a:ext cx="3931920" cy="438912"/>
          </a:xfrm>
          <a:prstGeom prst="rect">
            <a:avLst/>
          </a:prstGeom>
          <a:solidFill>
            <a:srgbClr val="FFFFFF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901184" y="409651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17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Clasificar: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943600" y="4096512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D8A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→ Clase 1 si wᵀx ≥ th, sino Clase 0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773168" y="4553712"/>
            <a:ext cx="3931920" cy="274320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901184" y="4590288"/>
            <a:ext cx="3703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A9D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 ≈ 98.7% en datos de crédito separados como en el notebook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AFAF1"/>
          </a:solidFill>
          <a:ln w="5080">
            <a:solidFill>
              <a:srgbClr val="52BE8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74320" y="479145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 Dibujar en pizarrón: dos nubes de puntos, una flecha que las separa (buena dirección) y otra que no (mala dirección).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EAFAF1"/>
          </a:solidFill>
          <a:ln w="12700">
            <a:solidFill>
              <a:srgbClr val="EAFAF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0292" cy="960120"/>
          </a:xfrm>
          <a:prstGeom prst="rect">
            <a:avLst/>
          </a:prstGeom>
          <a:solidFill>
            <a:srgbClr val="52BE80"/>
          </a:solidFill>
          <a:ln w="12700">
            <a:solidFill>
              <a:srgbClr val="52BE8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46304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A2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Supuestos de LDA — qué tiene que cumplirse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60120" y="67665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D8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estos supuestos, LDA pierde optimalidad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20040" y="1078992"/>
            <a:ext cx="8503920" cy="438912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115214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 los supuestos se cumplen → LDA es el clasificador de Bayes óptimo (menor error posible)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" y="1664208"/>
            <a:ext cx="8503920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C8E6D4"/>
            </a:solidFill>
            <a:prstDash val="solid"/>
          </a:ln>
          <a:effectLst>
            <a:outerShdw blurRad="101600" dist="38100" dir="8100000" algn="bl" rotWithShape="0">
              <a:srgbClr val="7DAA8C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" y="1664208"/>
            <a:ext cx="8503920" cy="50292"/>
          </a:xfrm>
          <a:prstGeom prst="rect">
            <a:avLst/>
          </a:prstGeom>
          <a:solidFill>
            <a:srgbClr val="52BE80"/>
          </a:solidFill>
          <a:ln w="12700">
            <a:solidFill>
              <a:srgbClr val="52BE8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" y="1773936"/>
            <a:ext cx="438912" cy="438912"/>
          </a:xfrm>
          <a:prstGeom prst="rect">
            <a:avLst/>
          </a:prstGeom>
          <a:solidFill>
            <a:srgbClr val="52BE80"/>
          </a:solidFill>
          <a:ln w="12700">
            <a:solidFill>
              <a:srgbClr val="52BE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" y="177393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S1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24128" y="17556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multivariante por clase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024128" y="2066544"/>
            <a:ext cx="2606040" cy="237744"/>
          </a:xfrm>
          <a:prstGeom prst="rect">
            <a:avLst/>
          </a:prstGeom>
          <a:solidFill>
            <a:srgbClr val="EAFAF1"/>
          </a:solidFill>
          <a:ln w="3810">
            <a:solidFill>
              <a:srgbClr val="52BE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78992" y="2093976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7A6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Xₖ ~ N(μₖ, Σ)  para cada clase k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730752" y="1755648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viola: Datos muy asimétricos, outliers severos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419088" y="175564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D8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Solución: Transformar features (log, Box-Cox) o usar Logística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20040" y="2670048"/>
            <a:ext cx="8503920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C8E6D4"/>
            </a:solidFill>
            <a:prstDash val="solid"/>
          </a:ln>
          <a:effectLst>
            <a:outerShdw blurRad="101600" dist="38100" dir="8100000" algn="bl" rotWithShape="0">
              <a:srgbClr val="7DAA8C">
                <a:alpha val="13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20040" y="2670048"/>
            <a:ext cx="8503920" cy="50292"/>
          </a:xfrm>
          <a:prstGeom prst="rect">
            <a:avLst/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5488" y="2779776"/>
            <a:ext cx="438912" cy="438912"/>
          </a:xfrm>
          <a:prstGeom prst="rect">
            <a:avLst/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5488" y="27797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S2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24128" y="27614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Covarianza común Σ entre clases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024128" y="3072384"/>
            <a:ext cx="2606040" cy="237744"/>
          </a:xfrm>
          <a:prstGeom prst="rect">
            <a:avLst/>
          </a:prstGeom>
          <a:solidFill>
            <a:srgbClr val="EAFAF1"/>
          </a:solidFill>
          <a:ln w="3810">
            <a:solidFill>
              <a:srgbClr val="52BE8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78992" y="3099816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7A6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Σ₀ = Σ₁ = ⋯ = Σ  (misma para todas las clases)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730752" y="2761488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viola: Nubes de puntos con formas muy distintas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419088" y="276148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D8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Solución: Usar QDA que estima Σₖ separada por clase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20040" y="3675888"/>
            <a:ext cx="8503920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C8E6D4"/>
            </a:solidFill>
            <a:prstDash val="solid"/>
          </a:ln>
          <a:effectLst>
            <a:outerShdw blurRad="101600" dist="38100" dir="8100000" algn="bl" rotWithShape="0">
              <a:srgbClr val="7DAA8C">
                <a:alpha val="13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320040" y="3675888"/>
            <a:ext cx="8503920" cy="50292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75488" y="3785616"/>
            <a:ext cx="438912" cy="438912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5488" y="378561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S3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024128" y="37673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&gt;&gt; p (más datos que features)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1024128" y="4078224"/>
            <a:ext cx="2606040" cy="237744"/>
          </a:xfrm>
          <a:prstGeom prst="rect">
            <a:avLst/>
          </a:prstGeom>
          <a:solidFill>
            <a:srgbClr val="EAFAF1"/>
          </a:solidFill>
          <a:ln w="3810">
            <a:solidFill>
              <a:srgbClr val="52BE8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78992" y="4105656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7A6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Ratio n/p &gt; 5 mínimo, idealmente &gt; 10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3730752" y="3767328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viola: Sᵥᵥ casi singular — inversión inestable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419088" y="376732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D8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Solución: Regularized LDA (LDA shrinkage) o PCA previa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AFAF1"/>
          </a:solidFill>
          <a:ln w="5080">
            <a:solidFill>
              <a:srgbClr val="52BE8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74320" y="479145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 Verificar supuesto S2: imprimir np.cov(X[y==0].T) y np.cov(X[y==1].T). Si son muy distintas → QDA.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B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46304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2B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012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LDA multiclase — reducción a K−1 dimensiones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960120" y="67665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A9D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Visualizar y clasificar con muchos grupos simultáneamente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320040" y="1078992"/>
            <a:ext cx="4069080" cy="3822192"/>
          </a:xfrm>
          <a:prstGeom prst="rect">
            <a:avLst/>
          </a:prstGeom>
          <a:solidFill>
            <a:srgbClr val="FFFFFF"/>
          </a:solidFill>
          <a:ln w="6350">
            <a:solidFill>
              <a:srgbClr val="C8E6D4"/>
            </a:solidFill>
            <a:prstDash val="solid"/>
          </a:ln>
          <a:effectLst>
            <a:outerShdw blurRad="101600" dist="38100" dir="8100000" algn="bl" rotWithShape="0">
              <a:srgbClr val="7DAA8C">
                <a:alpha val="13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078992"/>
            <a:ext cx="4069080" cy="50292"/>
          </a:xfrm>
          <a:prstGeom prst="rect">
            <a:avLst/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1188720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Generalización a K clases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5488" y="1682496"/>
            <a:ext cx="3749040" cy="621792"/>
          </a:xfrm>
          <a:prstGeom prst="rect">
            <a:avLst/>
          </a:prstGeom>
          <a:solidFill>
            <a:srgbClr val="F4FBF7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173736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17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clases → K−1 ejes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94360" y="1975104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D8A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clases: 1 eje LD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D8A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clases: 2 ejes LD1, LD2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D8A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 clases: K−1 ejes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75488" y="2377440"/>
            <a:ext cx="3749040" cy="621792"/>
          </a:xfrm>
          <a:prstGeom prst="rect">
            <a:avLst/>
          </a:prstGeom>
          <a:solidFill>
            <a:srgbClr val="FFFFFF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43230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17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Sᴮ generalizada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94360" y="2670048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D8A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Σₖ nₖ(μₖ−μ)(μₖ−μ)ᵀ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D8A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Donde μ = media global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75488" y="3072384"/>
            <a:ext cx="3749040" cy="621792"/>
          </a:xfrm>
          <a:prstGeom prst="rect">
            <a:avLst/>
          </a:prstGeom>
          <a:solidFill>
            <a:srgbClr val="F4FBF7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312724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17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94360" y="3364992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D8A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lda.transform(X)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D8A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Reduce dimensión a K−1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75488" y="3767328"/>
            <a:ext cx="3749040" cy="621792"/>
          </a:xfrm>
          <a:prstGeom prst="rect">
            <a:avLst/>
          </a:prstGeom>
          <a:solidFill>
            <a:srgbClr val="FFFFFF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3822192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17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Clasificar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94360" y="4059936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D8A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Distancia a centroide más cercano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D8A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 espacio discriminante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663440" y="1078992"/>
            <a:ext cx="4160520" cy="3822192"/>
          </a:xfrm>
          <a:prstGeom prst="rect">
            <a:avLst/>
          </a:prstGeom>
          <a:solidFill>
            <a:srgbClr val="FFFFFF"/>
          </a:solidFill>
          <a:ln w="6350">
            <a:solidFill>
              <a:srgbClr val="C8E6D4"/>
            </a:solidFill>
            <a:prstDash val="solid"/>
          </a:ln>
          <a:effectLst>
            <a:outerShdw blurRad="101600" dist="38100" dir="8100000" algn="bl" rotWithShape="0">
              <a:srgbClr val="7DAA8C">
                <a:alpha val="13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663440" y="1078992"/>
            <a:ext cx="4160520" cy="50292"/>
          </a:xfrm>
          <a:prstGeom prst="rect">
            <a:avLst/>
          </a:prstGeom>
          <a:solidFill>
            <a:srgbClr val="52BE80"/>
          </a:solidFill>
          <a:ln w="12700">
            <a:solidFill>
              <a:srgbClr val="52BE8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28032" y="118872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2B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Coeficientes discriminantes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828032" y="1627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D8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lda.scalings_ — importancia de cada feature en cada eje LD: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773168" y="1993392"/>
            <a:ext cx="3931920" cy="658368"/>
          </a:xfrm>
          <a:prstGeom prst="rect">
            <a:avLst/>
          </a:prstGeom>
          <a:solidFill>
            <a:srgbClr val="1C2B3A"/>
          </a:solidFill>
          <a:ln w="6350">
            <a:solidFill>
              <a:srgbClr val="2D5A3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01184" y="2048256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nm, c1, c2 in zip(feats, lda.scalings_[:,0], lda.scalings_[:,1]):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print(f'{nm}: LD1={c1:+.3f}  LD2={c2:+.3f}')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828032" y="274320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D8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Interpretación:</a:t>
            </a: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D8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LD1 = dirección que separa más las 3 clases</a:t>
            </a: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D8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LD2 = siguiente dirección ortogonal a LD1</a:t>
            </a: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D8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Loadings grandes → esa feature discrimina más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773168" y="3566160"/>
            <a:ext cx="3931920" cy="1188720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01184" y="3639312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A9D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real — segmentación de riesgo bancario: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901184" y="393192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clases: Alto / Medio / Bajo riesgo</a:t>
            </a:r>
            <a:endParaRPr lang="en-US" sz="9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features: deuda, historial, ingresos, antigüedad</a:t>
            </a:r>
            <a:endParaRPr lang="en-US" sz="9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= 82.5% con LDA</a:t>
            </a:r>
            <a:endParaRPr lang="en-US" sz="9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LD1-LD2 muestra separación clara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AFAF1"/>
          </a:solidFill>
          <a:ln w="5080">
            <a:solidFill>
              <a:srgbClr val="52BE8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74320" y="479145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 Mostrar en vivo: lda.transform(X) reduce de 4D a 2D. Hacer scatter LD1 vs LD2 — los 3 grupos se ven separados.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EAFAF1"/>
          </a:solidFill>
          <a:ln w="12700">
            <a:solidFill>
              <a:srgbClr val="EAFAF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0292" cy="960120"/>
          </a:xfrm>
          <a:prstGeom prst="rect">
            <a:avLst/>
          </a:prstGeom>
          <a:solidFill>
            <a:srgbClr val="52BE80"/>
          </a:solidFill>
          <a:ln w="12700">
            <a:solidFill>
              <a:srgbClr val="52BE8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46304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A2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LDA vs Logística — cuándo usar cada uno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60120" y="67665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D8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Supuestos, robustez y performance comparados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20040" y="1078992"/>
            <a:ext cx="8503920" cy="438912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115214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Cuando MVN se cumple: LDA ≈ Logística en AUC/Acc. Con violaciones: Logística es más robusta.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" y="1609344"/>
            <a:ext cx="2048256" cy="310896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1655064"/>
            <a:ext cx="1911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423160" y="1609344"/>
            <a:ext cx="2724912" cy="310896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14600" y="1655064"/>
            <a:ext cx="2587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212080" y="1609344"/>
            <a:ext cx="3611880" cy="310896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03520" y="1655064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Logística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0040" y="1956816"/>
            <a:ext cx="2048256" cy="365760"/>
          </a:xfrm>
          <a:prstGeom prst="rect">
            <a:avLst/>
          </a:prstGeom>
          <a:solidFill>
            <a:srgbClr val="F4FBF7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423160" y="1956816"/>
            <a:ext cx="2724912" cy="365760"/>
          </a:xfrm>
          <a:prstGeom prst="rect">
            <a:avLst/>
          </a:prstGeom>
          <a:solidFill>
            <a:srgbClr val="F4FBF7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212080" y="1956816"/>
            <a:ext cx="3611880" cy="365760"/>
          </a:xfrm>
          <a:prstGeom prst="rect">
            <a:avLst/>
          </a:prstGeom>
          <a:solidFill>
            <a:srgbClr val="F4FBF7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1480" y="2020824"/>
            <a:ext cx="1911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Supuesto sobre X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514600" y="2020824"/>
            <a:ext cx="2587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MVN + Σ común por clase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303520" y="20208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Ninguno — semi-paramétrico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20040" y="2368296"/>
            <a:ext cx="2048256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423160" y="2368296"/>
            <a:ext cx="2724912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212080" y="2368296"/>
            <a:ext cx="361188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11480" y="2432304"/>
            <a:ext cx="1911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Estimación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2514600" y="2432304"/>
            <a:ext cx="2587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Máx. var. entre clases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303520" y="243230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MLE — maximizar log-lik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20040" y="2779776"/>
            <a:ext cx="2048256" cy="365760"/>
          </a:xfrm>
          <a:prstGeom prst="rect">
            <a:avLst/>
          </a:prstGeom>
          <a:solidFill>
            <a:srgbClr val="F4FBF7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423160" y="2779776"/>
            <a:ext cx="2724912" cy="365760"/>
          </a:xfrm>
          <a:prstGeom prst="rect">
            <a:avLst/>
          </a:prstGeom>
          <a:solidFill>
            <a:srgbClr val="F4FBF7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212080" y="2779776"/>
            <a:ext cx="3611880" cy="365760"/>
          </a:xfrm>
          <a:prstGeom prst="rect">
            <a:avLst/>
          </a:prstGeom>
          <a:solidFill>
            <a:srgbClr val="F4FBF7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11480" y="2843784"/>
            <a:ext cx="1911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 de clases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2514600" y="2843784"/>
            <a:ext cx="2587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clases naturalmente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303520" y="284378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Binario (o multinomial extra)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320040" y="3191256"/>
            <a:ext cx="2048256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423160" y="3191256"/>
            <a:ext cx="2724912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212080" y="3191256"/>
            <a:ext cx="361188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1480" y="3255264"/>
            <a:ext cx="1911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Robustez a outliers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2514600" y="3255264"/>
            <a:ext cx="2587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Baja — sensible a outliers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303520" y="325526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 — más flexible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320040" y="3602736"/>
            <a:ext cx="2048256" cy="365760"/>
          </a:xfrm>
          <a:prstGeom prst="rect">
            <a:avLst/>
          </a:prstGeom>
          <a:solidFill>
            <a:srgbClr val="F4FBF7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423160" y="3602736"/>
            <a:ext cx="2724912" cy="365760"/>
          </a:xfrm>
          <a:prstGeom prst="rect">
            <a:avLst/>
          </a:prstGeom>
          <a:solidFill>
            <a:srgbClr val="F4FBF7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212080" y="3602736"/>
            <a:ext cx="3611880" cy="365760"/>
          </a:xfrm>
          <a:prstGeom prst="rect">
            <a:avLst/>
          </a:prstGeom>
          <a:solidFill>
            <a:srgbClr val="F4FBF7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11480" y="3666744"/>
            <a:ext cx="1911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Eficiencia estadística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2514600" y="3666744"/>
            <a:ext cx="2587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Mayor si MVN se cumple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5303520" y="366674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si MVN se cumple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320040" y="4014216"/>
            <a:ext cx="2048256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423160" y="4014216"/>
            <a:ext cx="2724912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212080" y="4014216"/>
            <a:ext cx="361188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C8E6D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11480" y="4078224"/>
            <a:ext cx="1911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cuando...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2514600" y="4078224"/>
            <a:ext cx="2587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aprox. normales, multiclase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5303520" y="40782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normales, features mixtas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320040" y="4507992"/>
            <a:ext cx="8503920" cy="347472"/>
          </a:xfrm>
          <a:prstGeom prst="rect">
            <a:avLst/>
          </a:prstGeom>
          <a:solidFill>
            <a:srgbClr val="EAFAF1"/>
          </a:solidFill>
          <a:ln w="6350">
            <a:solidFill>
              <a:srgbClr val="52BE8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75488" y="456285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empírico: Normal (MVN OK) → AUC_LDA≈AUC_Log. Con outliers → AUC_Log &gt; AUC_LDA.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AFAF1"/>
          </a:solidFill>
          <a:ln w="5080">
            <a:solidFill>
              <a:srgbClr val="52BE8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74320" y="479145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 Demo en vivo: agregar 30 outliers severos al dataset. Ver cómo cae el AUC de LDA pero Logística se mantiene.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2B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41E2D"/>
          </a:solidFill>
          <a:ln w="12700">
            <a:solidFill>
              <a:srgbClr val="141E2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37744" y="137160"/>
            <a:ext cx="155448" cy="155448"/>
          </a:xfrm>
          <a:prstGeom prst="line">
            <a:avLst/>
          </a:prstGeom>
          <a:solidFill>
            <a:srgbClr val="E06C75"/>
          </a:solidFill>
          <a:ln w="12700">
            <a:solidFill>
              <a:srgbClr val="E06C7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12064" y="137160"/>
            <a:ext cx="155448" cy="155448"/>
          </a:xfrm>
          <a:prstGeom prst="line">
            <a:avLst/>
          </a:prstGeom>
          <a:solidFill>
            <a:srgbClr val="E5C07B"/>
          </a:solidFill>
          <a:ln w="12700">
            <a:solidFill>
              <a:srgbClr val="E5C07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37160"/>
            <a:ext cx="155448" cy="155448"/>
          </a:xfrm>
          <a:prstGeom prst="line">
            <a:avLst/>
          </a:prstGeom>
          <a:solidFill>
            <a:srgbClr val="98C379"/>
          </a:solidFill>
          <a:ln w="12700">
            <a:solidFill>
              <a:srgbClr val="98C37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9144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82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Clase08_LDA.ipynb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56032" y="566928"/>
            <a:ext cx="4315968" cy="2103120"/>
          </a:xfrm>
          <a:prstGeom prst="rect">
            <a:avLst/>
          </a:prstGeom>
          <a:solidFill>
            <a:srgbClr val="1E2D3D"/>
          </a:solidFill>
          <a:ln w="6350">
            <a:solidFill>
              <a:srgbClr val="2D5A3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56032" y="566928"/>
            <a:ext cx="4315968" cy="50292"/>
          </a:xfrm>
          <a:prstGeom prst="rect">
            <a:avLst/>
          </a:prstGeom>
          <a:solidFill>
            <a:srgbClr val="52BE80"/>
          </a:solidFill>
          <a:ln w="12700">
            <a:solidFill>
              <a:srgbClr val="52BE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3192" y="658368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9B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Fisher manual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20624" y="914400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mu0, mu1 = X0.mean(0), X1.mean(0)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20624" y="1156716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 = (X0-mu0).T@(X0-mu0) + (X1-mu1).T@(X1-mu1)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20624" y="1399032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 = np.linalg.inv(Sw) @ (mu1 - mu0)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20624" y="1641348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/= np.linalg.norm(w)   # normalizar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20624" y="2125980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z0 = X0 @ w;  z1 = X1 @ w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20624" y="2368296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 = (z0.mean() + z1.mean()) / 2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773168" y="566928"/>
            <a:ext cx="4114800" cy="2103120"/>
          </a:xfrm>
          <a:prstGeom prst="rect">
            <a:avLst/>
          </a:prstGeom>
          <a:solidFill>
            <a:srgbClr val="1E2D3D"/>
          </a:solidFill>
          <a:ln w="6350">
            <a:solidFill>
              <a:srgbClr val="2D5A3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73168" y="566928"/>
            <a:ext cx="4114800" cy="50292"/>
          </a:xfrm>
          <a:prstGeom prst="rect">
            <a:avLst/>
          </a:prstGeom>
          <a:solidFill>
            <a:srgbClr val="52BE80"/>
          </a:solidFill>
          <a:ln w="12700">
            <a:solidFill>
              <a:srgbClr val="52BE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10328" y="65836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9B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LDA sklearn multiclase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937760" y="91440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sklearn.discriminant_analysis import \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937760" y="1156716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LinearDiscriminantAnalysis as LDA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937760" y="164134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lda = LDA()  # solver='svd' por defecto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937760" y="1883664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lda.fit(X_train, y_train)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937760" y="212598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X_proj = lda.transform(X_test)  # K-1 dims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937760" y="2368296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print(lda.scalings_)  # coefs LD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256032" y="2816352"/>
            <a:ext cx="8631936" cy="2194560"/>
          </a:xfrm>
          <a:prstGeom prst="rect">
            <a:avLst/>
          </a:prstGeom>
          <a:solidFill>
            <a:srgbClr val="1E2D3D"/>
          </a:solidFill>
          <a:ln w="6350">
            <a:solidFill>
              <a:srgbClr val="2D5A3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56032" y="2816352"/>
            <a:ext cx="8631936" cy="50292"/>
          </a:xfrm>
          <a:prstGeom prst="rect">
            <a:avLst/>
          </a:prstGeom>
          <a:solidFill>
            <a:srgbClr val="52BE80"/>
          </a:solidFill>
          <a:ln w="12700">
            <a:solidFill>
              <a:srgbClr val="52BE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93192" y="2907792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9B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Comparación LDA vs Logística — resultados típicos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420624" y="3163824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modelos = {'LDA': LDA(), 'Logística': LogisticRegression(C=1e6)}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20624" y="3406140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nm, m in modelos.items():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20624" y="3648456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m.fit(X_tr, y_tr)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420624" y="3890772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auc = roc_auc_score(y_te, m.predict_proba(X_te)[:,1])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20624" y="4133088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acc = accuracy_score(y_te, m.predict(X_te))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20624" y="4375404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print(f'{nm}: AUC={auc:.4f}  Acc={acc:.4f}')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420624" y="4617720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C83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Normal→ LDA≈Log | Outliers→ Logística gana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94760" cy="5143500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794760" y="0"/>
            <a:ext cx="50292" cy="5143500"/>
          </a:xfrm>
          <a:prstGeom prst="rect">
            <a:avLst/>
          </a:prstGeom>
          <a:solidFill>
            <a:srgbClr val="52BE80"/>
          </a:solidFill>
          <a:ln w="12700">
            <a:solidFill>
              <a:srgbClr val="52BE8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" y="2651760"/>
            <a:ext cx="3566160" cy="3566160"/>
          </a:xfrm>
          <a:prstGeom prst="line">
            <a:avLst/>
          </a:prstGeom>
          <a:solidFill>
            <a:srgbClr val="1E8449">
              <a:alpha val="17000"/>
            </a:srgbClr>
          </a:solidFill>
          <a:ln w="12700">
            <a:solidFill>
              <a:srgbClr val="A9DFBF">
                <a:alpha val="2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292608"/>
            <a:ext cx="333756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Clase 8</a:t>
            </a:r>
            <a:endParaRPr lang="en-US" sz="32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completada.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320040" y="1874520"/>
            <a:ext cx="2286000" cy="0"/>
          </a:xfrm>
          <a:prstGeom prst="line">
            <a:avLst/>
          </a:prstGeom>
          <a:noFill/>
          <a:ln w="19050">
            <a:solidFill>
              <a:srgbClr val="52BE8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2029968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9D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Docente: Josef Rodriguez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069080" y="27432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 que cubrimos hoy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069080" y="731520"/>
            <a:ext cx="4754880" cy="0"/>
          </a:xfrm>
          <a:prstGeom prst="line">
            <a:avLst/>
          </a:prstGeom>
          <a:noFill/>
          <a:ln w="9525">
            <a:solidFill>
              <a:srgbClr val="C8E6D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069080" y="978408"/>
            <a:ext cx="146304" cy="146304"/>
          </a:xfrm>
          <a:prstGeom prst="line">
            <a:avLst/>
          </a:prstGeom>
          <a:solidFill>
            <a:srgbClr val="52BE80"/>
          </a:solidFill>
          <a:ln w="12700">
            <a:solidFill>
              <a:srgbClr val="52BE8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15968" y="88696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Fisher: w = Sᵥᵥ⁻¹(μ₁−μ₀) — fórmula cerrada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069080" y="1453896"/>
            <a:ext cx="146304" cy="146304"/>
          </a:xfrm>
          <a:prstGeom prst="line">
            <a:avLst/>
          </a:prstGeom>
          <a:solidFill>
            <a:srgbClr val="52BE80"/>
          </a:solidFill>
          <a:ln w="12700">
            <a:solidFill>
              <a:srgbClr val="52BE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15968" y="136245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Sᴮ = varianza entre medias · Sᵥᵥ = varianza interna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069080" y="1929384"/>
            <a:ext cx="146304" cy="146304"/>
          </a:xfrm>
          <a:prstGeom prst="line">
            <a:avLst/>
          </a:prstGeom>
          <a:solidFill>
            <a:srgbClr val="52BE80"/>
          </a:solidFill>
          <a:ln w="12700">
            <a:solidFill>
              <a:srgbClr val="52BE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15968" y="183794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Frontera = (z₀.mean() + z₁.mean()) / 2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069080" y="2404872"/>
            <a:ext cx="146304" cy="146304"/>
          </a:xfrm>
          <a:prstGeom prst="line">
            <a:avLst/>
          </a:prstGeom>
          <a:solidFill>
            <a:srgbClr val="52BE80"/>
          </a:solidFill>
          <a:ln w="12700">
            <a:solidFill>
              <a:srgbClr val="52BE8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15968" y="231343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 multiclase reduce a K−1 dimensiones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069080" y="2880360"/>
            <a:ext cx="146304" cy="146304"/>
          </a:xfrm>
          <a:prstGeom prst="line">
            <a:avLst/>
          </a:prstGeom>
          <a:solidFill>
            <a:srgbClr val="52BE80"/>
          </a:solidFill>
          <a:ln w="12700">
            <a:solidFill>
              <a:srgbClr val="52B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15968" y="278892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Supuestos: MVN + Σ común — verificar antes de usar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069080" y="3355848"/>
            <a:ext cx="146304" cy="146304"/>
          </a:xfrm>
          <a:prstGeom prst="line">
            <a:avLst/>
          </a:prstGeom>
          <a:solidFill>
            <a:srgbClr val="52BE80"/>
          </a:solidFill>
          <a:ln w="12700">
            <a:solidFill>
              <a:srgbClr val="52BE8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15968" y="326440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outliers: Logística es más robusta que LDA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069080" y="4645152"/>
            <a:ext cx="4754880" cy="347472"/>
          </a:xfrm>
          <a:prstGeom prst="rect">
            <a:avLst/>
          </a:prstGeom>
          <a:solidFill>
            <a:srgbClr val="EAFAF1"/>
          </a:solidFill>
          <a:ln w="6350">
            <a:solidFill>
              <a:srgbClr val="52BE8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224528" y="4700016"/>
            <a:ext cx="4462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Próxima: Clase 9 — Scores · QDA · Error por clase · Caso marketing completo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1384</Words>
  <Application>Microsoft Macintosh PowerPoint</Application>
  <PresentationFormat>On-screen Show (16:9)</PresentationFormat>
  <Paragraphs>175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Calibri</vt:lpstr>
      <vt:lpstr>Courier New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Josef Rodriguez</cp:lastModifiedBy>
  <cp:revision>2</cp:revision>
  <dcterms:created xsi:type="dcterms:W3CDTF">2026-04-11T18:32:43Z</dcterms:created>
  <dcterms:modified xsi:type="dcterms:W3CDTF">2026-04-18T00:34:06Z</dcterms:modified>
</cp:coreProperties>
</file>