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45152" y="0"/>
            <a:ext cx="329184" cy="51435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oval">
            <a:avLst/>
          </a:prstGeom>
          <a:solidFill>
            <a:srgbClr val="2176AE">
              <a:alpha val="20000"/>
            </a:srgbClr>
          </a:solidFill>
          <a:ln w="12700">
            <a:solidFill>
              <a:srgbClr val="C8DEF5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1371600"/>
            <a:ext cx="1828800" cy="1828800"/>
          </a:xfrm>
          <a:prstGeom prst="oval">
            <a:avLst/>
          </a:prstGeom>
          <a:solidFill>
            <a:srgbClr val="5BA4CF">
              <a:alpha val="3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2743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b="1" dirty="0">
                <a:solidFill>
                  <a:srgbClr val="FFFFFF">
                    <a:alpha val="1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λ</a:t>
            </a:r>
            <a:endParaRPr lang="en-US" sz="17000" dirty="0"/>
          </a:p>
        </p:txBody>
      </p:sp>
      <p:sp>
        <p:nvSpPr>
          <p:cNvPr id="7" name="Shape 5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02 · MÓDULO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68580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Eigenvalues,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Matrices Aleatorias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Normal Multivariante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entre álgebra lineal y probabilidad en regresión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456432"/>
            <a:ext cx="2377440" cy="0"/>
          </a:xfrm>
          <a:prstGeom prst="line">
            <a:avLst/>
          </a:prstGeom>
          <a:noFill/>
          <a:ln w="19050">
            <a:solidFill>
              <a:srgbClr val="5BA4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968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Nivel avanzado · Python + NumPy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poder hacer al terminar?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931920" y="107899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078992"/>
            <a:ext cx="489204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6512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152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Eigendecomposición de XᵀX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490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significan los eigenvalues en el contexto del dataset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2011680"/>
            <a:ext cx="489204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de esperanzas y covarianza 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E[x], Var(x), Cov(xᵢ,xⱼ) — construirlos y estimarlos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2944368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2944368"/>
            <a:ext cx="48920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desde la Normal Multivariante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· propiedades · por qué importa en OLS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0" y="3877056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3877056"/>
            <a:ext cx="48920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la distribución de β̂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 ~ N(β, σ²(XᵀX)⁻¹) — la base de toda la inferencia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resultado clave: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1627632"/>
            <a:ext cx="3383280" cy="548640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7007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β̂ ~ N(β, σ²(XᵀX)⁻¹)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" y="2286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distribución es la base de los t-tests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los intervalos de confianza de la Clase 4.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Preguntar: '¿Alguien ya escuchó hablar de eigenvalues?' — activar conocimiento previo antes de empezar.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= λv — La idea en simple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que no rota, solo se escala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11480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eigenvalue?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una matriz A cuadrada: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374904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568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  =  λ 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(eigenvector):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84832" y="24688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que NO rota al multiplicar por 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(eigenvalue):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4832" y="29992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escalar: cuánto se estira (+) o comprime (−) esa dirección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simétrica: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84832" y="352958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eigenvectors ortogonales entre sí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def. positiva: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84832" y="40599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todos los λᵢ &gt; 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1078992"/>
            <a:ext cx="420624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078992"/>
            <a:ext cx="42062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1887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Eigendecomposición y sus usos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73168" y="1627632"/>
            <a:ext cx="3886200" cy="42062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6824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=  V Λ Vᵀ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73168" y="212140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 = matriz de eigenvectors (columnas)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Λ = diagonal de eigenvalues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73168" y="2761488"/>
            <a:ext cx="3886200" cy="512064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8163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tr(A) = Σ λᵢ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0540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eigenvalues = traza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73168" y="3346704"/>
            <a:ext cx="388620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401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det(A) = Π λᵢ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639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= determinante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73168" y="3931920"/>
            <a:ext cx="3886200" cy="512064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9867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A⁻¹ = V Λ⁻¹ Vᵀ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4224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inversa por eigendecomp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73168" y="4517136"/>
            <a:ext cx="388620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572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def. pos. ⟺ todos λᵢ &gt; 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4809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invertibilidad de XᵀX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Dibujar en pizarrón: un círculo transformado en elipse. Los eigenvalues son los semiejes de esa elipse.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Eigenvalues de XᵀX — qué dicen del dataset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antes de invertir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 de condición ≈ λ_max / λ_min   —   el ratio que define la estabilidad numérica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196596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7373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691640"/>
            <a:ext cx="219456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XᵀX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416052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737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84832"/>
            <a:ext cx="196596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2084832"/>
            <a:ext cx="219456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084832"/>
            <a:ext cx="41605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1671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λᵢ &gt;&gt; 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87168" y="2167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XᵀX def. positiva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21671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estable · β̂ único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542032"/>
            <a:ext cx="19659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2542032"/>
            <a:ext cx="21945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542032"/>
            <a:ext cx="41605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6243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Algún λᵢ ≈ 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87168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Casi singular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26243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 · cond alto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999232"/>
            <a:ext cx="196596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2999232"/>
            <a:ext cx="219456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999232"/>
            <a:ext cx="41605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081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λᵢ = 0 exacto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87168" y="3081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Singular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30815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invertible · β̂ no existe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749040"/>
            <a:ext cx="8503920" cy="1143000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749040"/>
            <a:ext cx="850392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404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Diagnóstico de XᵀX con eigenvalues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" y="4096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eigvals = np.linalg.eigvalsh(X.T @ X)   # eigenvalues de XᵀX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" y="43388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print('λ mín:', eigvals.min().round(4))  # pequeño → casi-singular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" y="45811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print('λ máx:', eigvals.max().round(4))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" y="48234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print('cond :', eigvals.max()/eigvals.min())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" y="50657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tr(XᵀX) = Σλᵢ   |   det(XᵀX) = Πλᵢ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Mostrar en vivo: duplicar una columna de X y ver cómo λ_mín cae a ≈0. El cond explota.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Matrices Aleatorias: E[x] y Cov(x)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álgebra a la probabilidad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61488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761488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8872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de esperanzas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572768"/>
            <a:ext cx="2432304" cy="402336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276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 = E[x]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04825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μᵢ = E[xᵢ]  — media de cada componente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24688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Estimado con: μ̂ = (1/n) Σᵢ xᵢ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88950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 regresión: E[y|X] = Xβ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82112" y="1078992"/>
            <a:ext cx="2761488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078992"/>
            <a:ext cx="2761488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118872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covarianzas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46704" y="1572768"/>
            <a:ext cx="2432304" cy="402336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38144" y="16276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Cov(x)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46704" y="204825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σᵢᵢ = Var(xᵢ)  en la diagonal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46704" y="24688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σᵢⱼ = Cov(xᵢ,xⱼ)  fuera de diagonal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46704" y="288950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Σ es simétrica y def. semipositiva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9904" y="1078992"/>
            <a:ext cx="2761488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9904" y="1078992"/>
            <a:ext cx="2761488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118872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correlaciones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54496" y="1572768"/>
            <a:ext cx="2432304" cy="402336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16276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D⁻¹ Σ D⁻¹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54496" y="204825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Rᵢⱼ ∈ [−1, 1]  siempre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54496" y="24688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Diagonal = 1  por construcción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54496" y="288950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R=I → variables independientes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Anclar: 'Σ es la generalización vectorial de σ². Tiene toda la información de variabilidad del dataset.'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Normal Multivariante (MVN)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Generalización vectorial de la distribución normal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53035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~ Nₙ(μ, Σ)   →   f(x) ∝ exp(−½ (x−μ)ᵀ Σ⁻¹ (x−μ))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41605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73936"/>
            <a:ext cx="416052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836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23113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xᵢ ~ N(μᵢ, σᵢᵢ) — las marginales son siempre normales univariadas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73936"/>
            <a:ext cx="41605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773936"/>
            <a:ext cx="416052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8836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 lineales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82312" y="223113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+ b ~ N(Aμ + b, AΣAᵀ) — clave para derivar distribución de β̂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91256"/>
            <a:ext cx="41605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91256"/>
            <a:ext cx="4160520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3009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36484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Σ es diagonal → xᵢ y xⱼ son independientes ↔ Cov(xᵢ,xⱼ)=0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191256"/>
            <a:ext cx="41605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3191256"/>
            <a:ext cx="416052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009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82312" y="36484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prob. constante = elipses definidas por Σ — los eigenvalues dan los semiejes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'La MVN es el modelo probabilístico que asumimos para los errores ε en regresión. Sin ella no hay t-tests ni F-tests.'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distribución de β̂ — el resultado central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 desemboca aquí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11480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 paso a paso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00784"/>
            <a:ext cx="3749040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373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=  Xβ + 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03704"/>
            <a:ext cx="3749040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402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6928" y="2423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 ~ N(0, σ²I)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3749040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2926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~ N(Xβ, σ²I)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09544"/>
            <a:ext cx="3749040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461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 es lineal en 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6928" y="3429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β̂ = (XᵀX)⁻¹Xᵀ y  =  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3749040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7490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Comb. lineal de MVN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" y="3931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β̂ ~ N(Cμ_y, C Σ_y Cᵀ)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15384"/>
            <a:ext cx="3749040" cy="438912"/>
          </a:xfrm>
          <a:prstGeom prst="rect">
            <a:avLst/>
          </a:prstGeom>
          <a:solidFill>
            <a:srgbClr val="0F3D6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251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66928" y="4434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β̂ ~ N(β, σ²(XᵀX)⁻¹)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1078992"/>
            <a:ext cx="420624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1078992"/>
            <a:ext cx="42062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11887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nos da esta distribución?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73168" y="1700784"/>
            <a:ext cx="3886200" cy="694944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1773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E[β̂] = β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01184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 es INSESGADO — en promedio acierta el valor real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73168" y="2468880"/>
            <a:ext cx="388620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Cov(β̂) = σ²(XᵀX)⁻¹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01184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conocida → errores estándar → t-tests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73168" y="3236976"/>
            <a:ext cx="3886200" cy="694944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β̂ⱼ ~ N(βⱼ, σ²[(XᵀX)⁻¹]ⱼⱼ)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01184" y="3602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coeficiente individualmente normal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73168" y="4005072"/>
            <a:ext cx="388620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4078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 de confianza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01184" y="4370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β̂ⱼ ± t_{n-p,0.975} · SE(β̂ⱼ)  — Clase 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'Esta slide es el puente entre álgebra lineal y estadística. Sin la distribución de β̂ no podemos hacer inferencia.'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1E2D"/>
          </a:solidFill>
          <a:ln w="12700">
            <a:solidFill>
              <a:srgbClr val="14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137160"/>
            <a:ext cx="155448" cy="155448"/>
          </a:xfrm>
          <a:prstGeom prst="oval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37160"/>
            <a:ext cx="155448" cy="155448"/>
          </a:xfrm>
          <a:prstGeom prst="oval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7160"/>
            <a:ext cx="155448" cy="155448"/>
          </a:xfrm>
          <a:prstGeom prst="oval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·  Laboratorio Python  —  Clase02_Eigenvalues_MVN.ipynb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4315968" cy="2103120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566928"/>
            <a:ext cx="4315968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6583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Eigendecomposición de XᵀX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9144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eigvals, V = np.linalg.eigh(XtX)   # simétrica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15671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    = np.diag(eigvals)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139903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print('λ mín/máx:', eigvals.min(), eigvals.max())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188366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Reconstruir: A = VΛVᵀ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21259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print(np.allclose(XtX, V @ Lambda @ V.T))  # True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3682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print('det =', np.prod(eigvals).round(2))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3168" y="566928"/>
            <a:ext cx="4114800" cy="2103120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566928"/>
            <a:ext cx="411480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Normal Multivariante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914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    = np.array([5., -2., 8.])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1156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 = np.array([[4,1.5,-0.5],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399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[1.5,9,2.],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6413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[-0.5,2.,1.]])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1883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np.random.multivariate_normal(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1259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mu, Sigma, 1000)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2368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Sigma_hat = np.cov(datos, rowvar=False)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816352"/>
            <a:ext cx="8631936" cy="2194560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816352"/>
            <a:ext cx="8631936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90779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Verificar distribución de β̂ empíricamente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20624" y="316382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beta_hats = np.zeros((2000, p))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0624" y="340614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range(2000):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364845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eps        = np.random.normal(0, sigma, n)     # ε ~ N(0,σ²I)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389077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y_s        = X @ beta_true + eps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" y="4133088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beta_hats[s], *_ = np.linalg.lstsq(X, y_s, rcond=None)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" y="461772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Cov_teorica  = sigma**2 * np.linalg.inv(X.T @ X)  # σ²(XᵀX)⁻¹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0624" y="486003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print(np.allclose(Cov_teorica, np.cov(beta_hats, rowvar=False), atol=0.1))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50292" cy="51435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651760"/>
            <a:ext cx="3566160" cy="3566160"/>
          </a:xfrm>
          <a:prstGeom prst="oval">
            <a:avLst/>
          </a:prstGeom>
          <a:solidFill>
            <a:srgbClr val="2176AE">
              <a:alpha val="17000"/>
            </a:srgbClr>
          </a:solidFill>
          <a:ln w="12700">
            <a:solidFill>
              <a:srgbClr val="C8DEF5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 2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completada.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286000" cy="0"/>
          </a:xfrm>
          <a:prstGeom prst="line">
            <a:avLst/>
          </a:prstGeom>
          <a:noFill/>
          <a:ln w="19050">
            <a:solidFill>
              <a:srgbClr val="5BA4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299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9080" y="274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cubrimos hoy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731520"/>
            <a:ext cx="4754880" cy="0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978408"/>
            <a:ext cx="146304" cy="146304"/>
          </a:xfrm>
          <a:prstGeom prst="oval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886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e eigenvectors — Av=λv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1453896"/>
            <a:ext cx="146304" cy="146304"/>
          </a:xfrm>
          <a:prstGeom prst="oval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362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A=VΛVᵀ — tr y det vía eigenvalues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1929384"/>
            <a:ext cx="146304" cy="146304"/>
          </a:xfrm>
          <a:prstGeom prst="oval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837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E[x], Var(x), Cov(x,y) = Σ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2404872"/>
            <a:ext cx="146304" cy="146304"/>
          </a:xfrm>
          <a:prstGeom prst="oval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2313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Multivariante — propiedades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69080" y="2880360"/>
            <a:ext cx="146304" cy="146304"/>
          </a:xfrm>
          <a:prstGeom prst="oval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2788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 ~ N(β, σ²(XᵀX)⁻¹) — insesgadez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3355848"/>
            <a:ext cx="146304" cy="146304"/>
          </a:xfrm>
          <a:prstGeom prst="oval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3264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de β̂ sube con correlación entre features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69080" y="3931920"/>
            <a:ext cx="4754880" cy="98755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40233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— Viernes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24528" y="42976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Gauss-Markov · BLUE · s² insesgado · Diagnósticos con 4 gráficos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2026-03-31T13:17:23Z</dcterms:created>
  <dcterms:modified xsi:type="dcterms:W3CDTF">2026-03-31T13:17:23Z</dcterms:modified>
</cp:coreProperties>
</file>