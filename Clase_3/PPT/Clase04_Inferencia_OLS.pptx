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08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176AE">
              <a:alpha val="20000"/>
            </a:srgbClr>
          </a:solidFill>
          <a:ln w="12700">
            <a:solidFill>
              <a:srgbClr val="C8DEF5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27432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17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73736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04 · MÓDULO 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Diagnósticos, R² y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Prueba de Hipótesis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Lineal General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modelo estimado al informe con inferencia completa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 + NumPy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R² y R² ajustado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cuándo conviene cada uno y por qué R²_adj penaliza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tabla ANOVA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 = SSR + SSE · grados de libertad · cuadrados medios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F-test global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β₁=…=βₚ₋₁=0 · cuándo rechazar · qué significa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t-tests e intervalos de confianza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SE(β̂ⱼ) · t-stat · p-valor · IC 95% para cada coeficiente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Flujo de la clase: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16642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 = SSR + SSE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19933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23225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y R²_adj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2980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F-test global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33101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36393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t-tests por β̂ⱼ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39684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4297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'Hoy cerramos el ciclo de Regresión Lineal. Todo lo que calculemos viene directamente de la distribución de β̂ que vimos en Clase 2.'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Descomposición SST = SSR + SSE</a:t>
            </a:r>
          </a:p>
          <a:p>
            <a:pPr marL="0" indent="0">
              <a:buNone/>
            </a:pPr>
            <a:r>
              <a:rPr lang="en-US" sz="1000" dirty="0"/>
              <a:t>SST (Total sum of Squares) / SSR(Regression Sum of Squares) / SSE (Error sum of squares)</a:t>
            </a:r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ANOVA — la base de toda la inferencia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192024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1247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1078992"/>
            <a:ext cx="164592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2471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69080" y="1078992"/>
            <a:ext cx="137160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11247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1078992"/>
            <a:ext cx="146304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3560" y="112471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6600" y="1078992"/>
            <a:ext cx="169164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78040" y="11247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1463040"/>
            <a:ext cx="192024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1720" y="1463040"/>
            <a:ext cx="164592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69080" y="1463040"/>
            <a:ext cx="137160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1463040"/>
            <a:ext cx="146304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86600" y="1463040"/>
            <a:ext cx="1691640" cy="438912"/>
          </a:xfrm>
          <a:prstGeom prst="rect">
            <a:avLst/>
          </a:prstGeom>
          <a:solidFill>
            <a:srgbClr val="EAF2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55448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423160" y="15544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 = Σ(ŷ−ȳ)²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60520" y="15544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p−1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23560" y="1554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MSR = SSR/(p−1)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178040" y="15544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MSR/MSE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1938528"/>
            <a:ext cx="19202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31720" y="1938528"/>
            <a:ext cx="164592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9080" y="1938528"/>
            <a:ext cx="137160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938528"/>
            <a:ext cx="14630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86600" y="1938528"/>
            <a:ext cx="1691640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20299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23160" y="202996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= Σ(y−ŷ)²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160520" y="20299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n−p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23560" y="2029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 = SSE/(n−p)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178040" y="2029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2414016"/>
            <a:ext cx="192024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31720" y="2414016"/>
            <a:ext cx="164592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2414016"/>
            <a:ext cx="137160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32120" y="2414016"/>
            <a:ext cx="146304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86600" y="2414016"/>
            <a:ext cx="1691640" cy="438912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5054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423160" y="250545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 = Σ(y−ȳ)²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160520" y="250545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n−1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23560" y="250545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178040" y="250545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01752" y="2822067"/>
            <a:ext cx="850392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2883789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 = SSR + SSE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559552" y="2902077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fundamental — siempre se cumple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01752" y="3469005"/>
            <a:ext cx="850392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3523869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 = SSR/SST = 1 − SSE/SST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559552" y="3542157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varianza explicada por el modelo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20040" y="3877056"/>
            <a:ext cx="8503920" cy="585216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" y="3950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MSR/MSE ~ F(p−1, n−p)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577840" y="396849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Estadístico para probar si el modelo tiene poder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en pizarrón: dibujar las tres sumas de cuadrados geométricamente como distancias al cuadrado.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R² vs R² Ajustado — ¿cuándo usar cada uno?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sube siempre. R²_adj penaliza la complejidad.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0233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78992"/>
            <a:ext cx="402336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simple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" y="1609344"/>
            <a:ext cx="3749040" cy="43891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73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 = 1 − SSE/SST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1396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10512" y="2139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[0, 1]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5968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siempre: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10512" y="2596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agregar cualquier feature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0540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10512" y="30540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favorece modelos sobreajustados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35112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10512" y="3511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comparás el MISMO modelo con más datos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1078992"/>
            <a:ext cx="42519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1078992"/>
            <a:ext cx="425196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36592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Ajustado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09160" y="1609344"/>
            <a:ext cx="4114800" cy="43891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16733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R²_adj = 1 − (1−R²)·(n−1)/(n−p)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36592" y="2139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bajar: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08192" y="213969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agregás feature inútil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36592" y="25968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Penaliza: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08192" y="259689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parámetro adicional 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30540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08192" y="305409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R²_adj ≤ R²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35112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cuando: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08192" y="351129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comparás modelos con distinto 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645152"/>
            <a:ext cx="850392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4700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siempre reportar ambos. Si R² &gt;&gt; R²_adj, hay features inútiles — revisar el modelo.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 en vivo: agregar 10 features de ruido puro. Mostrar que R² sube pero R²_adj cae. El modelo está sobreajustado.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Prueba F Global — ¿tiene sentido el modelo?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β₁ = β₂ = ⋯ = βₚ₋₁ = 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14800" cy="394100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11480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y estadístico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09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87552" y="16093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β₁ = β₂ = ⋯ = βₚ₋₁ = 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019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87552" y="19019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 menos un βⱼ ≠ 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" y="2249424"/>
            <a:ext cx="374904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3225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MSR/MSE = [SSR/(p−1)] / [SSE/(n−p)]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980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bajo H₀: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~ F(p−1, n−p)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3438144"/>
            <a:ext cx="3749040" cy="129844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54787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H₀ si: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82219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&gt; F_crit(α, p−1, n−p)   o   p-valor &lt; α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411480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Típicamente α = 0.05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891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rechazás H₀ → ningún β es significativo → buscar otras features.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1078991"/>
            <a:ext cx="4160520" cy="3941003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práctica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73168" y="1682496"/>
            <a:ext cx="3931920" cy="640080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7556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&gt; 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17556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0.001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482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muy fuerte: el modelo tiene poder explicativo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3168" y="2395728"/>
            <a:ext cx="3931920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468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≈ 4–10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2468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0.05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761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moderada: rechazamos H₀ al 5%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73168" y="3108960"/>
            <a:ext cx="3931920" cy="640080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3182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≈ 1–4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35040" y="3182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≈ 0.05–0.2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4747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débil: revisar features del modelo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3822192"/>
            <a:ext cx="3931920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3895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&lt; 1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35040" y="3895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&gt; 0.2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1879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evidencia: el modelo no mejora sobre la media</a:t>
            </a:r>
            <a:endParaRPr lang="en-US" sz="850" dirty="0"/>
          </a:p>
        </p:txBody>
      </p:sp>
      <p:sp>
        <p:nvSpPr>
          <p:cNvPr id="43" name="Shape 35">
            <a:extLst>
              <a:ext uri="{FF2B5EF4-FFF2-40B4-BE49-F238E27FC236}">
                <a16:creationId xmlns:a16="http://schemas.microsoft.com/office/drawing/2014/main" id="{88605D70-C487-0FA2-8096-20633464DF37}"/>
              </a:ext>
            </a:extLst>
          </p:cNvPr>
          <p:cNvSpPr/>
          <p:nvPr/>
        </p:nvSpPr>
        <p:spPr>
          <a:xfrm>
            <a:off x="4758869" y="4521708"/>
            <a:ext cx="3931920" cy="416052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3BDA20B7-46D4-CE65-93C9-C8AC5B6671DB}"/>
              </a:ext>
            </a:extLst>
          </p:cNvPr>
          <p:cNvSpPr/>
          <p:nvPr/>
        </p:nvSpPr>
        <p:spPr>
          <a:xfrm>
            <a:off x="4937759" y="4617720"/>
            <a:ext cx="31752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b="1" dirty="0">
              <a:solidFill>
                <a:srgbClr val="0F3D6E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P-value &lt; 0,05 </a:t>
            </a:r>
            <a:r>
              <a:rPr lang="en-US" sz="900" b="1" dirty="0" err="1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rechazamos</a:t>
            </a:r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Ho</a:t>
            </a:r>
          </a:p>
          <a:p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cs typeface="Courier New" pitchFamily="34" charset="-120"/>
              </a:rPr>
              <a:t>P-value </a:t>
            </a:r>
            <a:r>
              <a:rPr lang="en-PE" sz="900" b="1" dirty="0">
                <a:solidFill>
                  <a:srgbClr val="0F3D6E"/>
                </a:solidFill>
                <a:latin typeface="Courier New" pitchFamily="34" charset="0"/>
                <a:cs typeface="Courier New" pitchFamily="34" charset="-120"/>
              </a:rPr>
              <a:t>&gt;=</a:t>
            </a:r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cs typeface="Courier New" pitchFamily="34" charset="-120"/>
              </a:rPr>
              <a:t> </a:t>
            </a:r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0,05 no </a:t>
            </a:r>
            <a:r>
              <a:rPr lang="en-US" sz="900" b="1" dirty="0" err="1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rechazamos</a:t>
            </a:r>
            <a:r>
              <a:rPr lang="en-US" sz="9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Ho</a:t>
            </a:r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t-tests e Intervalos de Confianza por β̂ⱼ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individual sobre cada coeficiente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51206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H₀: βⱼ = 0  (esa feature no aporta, dado el resto del modelo)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4023360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737360"/>
            <a:ext cx="402336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47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Estadístico 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" y="2249424"/>
            <a:ext cx="374904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3225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tⱼ = β̂ⱼ / SE(β̂ⱼ)   ~   t(n−p)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" y="2798064"/>
            <a:ext cx="3749040" cy="420624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SE(β̂ⱼ) = √(s² · (XᵀX)⁻¹ⱼⱼ)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3101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p-valor: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83080" y="33101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P(T &gt; |tⱼ|) bajo H₀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7124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H₀: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83080" y="37124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p-valor &lt; α = 0.05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Significativo: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1148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***p&lt;0.001  **p&lt;0.01  *p&lt;0.05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1737360"/>
            <a:ext cx="4251960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737360"/>
            <a:ext cx="425196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8470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 de confianza al 95%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2249424"/>
            <a:ext cx="411480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23225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β̂ⱼ ± t_{n-p, 0.975} · SE(β̂ⱼ)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2798064"/>
            <a:ext cx="4114800" cy="420624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8803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6208" y="28803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95% de confianza, βⱼ está en este rango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273552"/>
            <a:ext cx="4114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3558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0 ∈ IC: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36208" y="33558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significativo (equivale a p-valor &gt; 5%)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3749040"/>
            <a:ext cx="4114800" cy="420624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8032" y="38313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0 ∉ IC: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36208" y="38313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significativo (IC más informativo que p-valor)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09160" y="4224528"/>
            <a:ext cx="4114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43068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 del IC: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36208" y="43068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la magnitud, no solo si es significativo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'Un IC que no cruza el cero equivale al rechazo del t-test. Pero el IC dice mucho más: el rango plausible del efecto.'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aplicado: tabla de regresión de salarios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resultados como un analista senior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338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salario (USD)    X = [intercepto | experiencia | educacion | sector_tech | gestion]    n=400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499616"/>
            <a:ext cx="114300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45336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8760" y="1499616"/>
            <a:ext cx="123444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81912" y="1545336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88920" y="1499616"/>
            <a:ext cx="91440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62072" y="154533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9040" y="1499616"/>
            <a:ext cx="86868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1545336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t-stat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1499616"/>
            <a:ext cx="91440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154533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p-valor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499616"/>
            <a:ext cx="123444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1545336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IC_lower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1499616"/>
            <a:ext cx="1920240" cy="32918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76872" y="1545336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IC_upper / Signif.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1865376"/>
            <a:ext cx="11430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1947672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08760" y="1865376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81912" y="1947672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31245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88920" y="1865376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62072" y="194767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49040" y="1865376"/>
            <a:ext cx="86868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22192" y="1947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35.03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1865376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6592" y="194767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&lt;0.001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1865376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1947672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29495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903720" y="1865376"/>
            <a:ext cx="19202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76872" y="194767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32995  ***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2304288"/>
            <a:ext cx="1143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2386584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08760" y="2304288"/>
            <a:ext cx="12344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81912" y="2386584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1985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88920" y="2304288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62072" y="2386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749040" y="2304288"/>
            <a:ext cx="8686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22192" y="2386584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25.45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63440" y="2304288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2386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&lt;0.001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23560" y="2304288"/>
            <a:ext cx="12344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6712" y="2386584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1832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903720" y="2304288"/>
            <a:ext cx="19202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76872" y="2386584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2138  ***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" y="2743200"/>
            <a:ext cx="11430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2825496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educacion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508760" y="2743200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581912" y="2825496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3420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88920" y="2743200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862072" y="282549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749040" y="2743200"/>
            <a:ext cx="86868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22192" y="2825496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21.92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2743200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36592" y="282549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&lt;0.001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623560" y="2743200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96712" y="2825496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3113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903720" y="2743200"/>
            <a:ext cx="19202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6872" y="2825496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3727  ***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320040" y="3182112"/>
            <a:ext cx="1143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3192" y="3264408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sector_tech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508760" y="3182112"/>
            <a:ext cx="12344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81912" y="3264408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11850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788920" y="3182112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862072" y="326440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680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749040" y="3182112"/>
            <a:ext cx="8686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22192" y="3264408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17.43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4663440" y="3182112"/>
            <a:ext cx="9144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36592" y="326440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&lt;0.001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623560" y="3182112"/>
            <a:ext cx="12344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96712" y="3264408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10516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6903720" y="3182112"/>
            <a:ext cx="19202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976872" y="326440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13184  ***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20040" y="3621024"/>
            <a:ext cx="11430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3192" y="370332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508760" y="3621024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581912" y="3703320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1490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2788920" y="3621024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62072" y="37033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115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3749040" y="3621024"/>
            <a:ext cx="86868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22192" y="370332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12.96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663440" y="3621024"/>
            <a:ext cx="91440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36592" y="37033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&lt;0.001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23560" y="3621024"/>
            <a:ext cx="12344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96712" y="3703320"/>
            <a:ext cx="1124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1264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6903720" y="3621024"/>
            <a:ext cx="19202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976872" y="3703320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1716  ***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20040" y="4041648"/>
            <a:ext cx="8503920" cy="34747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75488" y="40965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R²=0.892  R²_adj=0.891  F(4,395)=820.3  p&lt;0.001  s=7,850 USD  (todas las features significativas al 0.1%)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475488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Interpretación: +1 año de experiencia → +1,985 USD/año. Sector tech → +11,850 USD. Todos los IC no cruzan el cero.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'¿Qué variable tiene mayor impacto en magnitud? ¿Cuál es más precisa (SE más chico)?' Leer la tabla juntos.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Clase04_Inferencia_OLS.ipynb  —  ols_summary()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R², R²_adj y ANOVA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 = ((y - y.mean())**2).sum()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= (e @ e)          # e = y - X@beta_hat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 = SST - SSE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     = 1 - SSE/SST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R2_adj = 1 - (SSE/df_e)/(SST/df_t)  # df=n-p,n-1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   = (SSR/df_r) / (SSE/df_e)      # MSR/MSE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pF   = 1 - stats.f.cdf(F, df_r, df_e)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73168" y="566928"/>
            <a:ext cx="4114800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t-tests e intervalos de confianza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XtX_inv = np.linalg.inv(X.T @ X)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  = SSE / (n - p)    # estimador insesgado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 = np.sqrt(s2 * np.diag(XtX_inv))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  = beta_hat / SE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pv  = 2*(1 - stats.t.cdf(np.abs(t), df=n-p))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 = stats.t.ppf(0.975, df=n-p)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  = [beta_hat - tc*SE, beta_hat + tc*SE]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6032" y="2926080"/>
            <a:ext cx="8631936" cy="202996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926080"/>
            <a:ext cx="8631936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30175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Función ols_summary() completa — genera tabla tipo statsmodels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0624" y="327355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ols_summary(X, y, feature_names=None):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51586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n, p = X.shape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375818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beta_hat, *_ = np.linalg.lstsq(X, y, rcond=None)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00050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... calcula SST, SSE, SSR, R2, R2_adj, F, pF, SE, t, pv, IC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24281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print(f'R²={R2:.4f}  R²_adj={R2adj:.4f}  F={F:.2f}  p={pF:.4e}')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20624" y="448513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nm in enumerate(names):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" y="472744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sig = '***' if pv[i]&lt;0.001 else '**' if pv[i]&lt;0.01 else '*'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20624" y="496976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print(f'{nm:14s} β̂={beta[i]:+.4f}  SE={SE[i]:.4f}  t={t[i]:.3f}  {sig}')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176AE">
              <a:alpha val="17000"/>
            </a:srgbClr>
          </a:solidFill>
          <a:ln w="12700">
            <a:solidFill>
              <a:srgbClr val="C8DEF5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1</a:t>
            </a:r>
            <a:endParaRPr lang="en-US" sz="3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completado ✓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takeaways del módulo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914400"/>
            <a:ext cx="475488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914400"/>
            <a:ext cx="475488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1005840"/>
            <a:ext cx="475488" cy="47548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005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10241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completo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13716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→ X con intercepto → verificar rango → β̂ = (XᵀX)⁻¹Xᵀy → diagnosticar → reportar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76272"/>
            <a:ext cx="475488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2176272"/>
            <a:ext cx="475488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267712"/>
            <a:ext cx="475488" cy="475488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80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es obligatorio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28032" y="263347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los 4 gráficos + 3 tests no podés concluir que el modelo es válido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438144"/>
            <a:ext cx="475488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069080" y="3438144"/>
            <a:ext cx="475488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24528" y="3529584"/>
            <a:ext cx="475488" cy="47548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3529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28032" y="35478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R²_adj + F primero, t-tests después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28032" y="389534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ver si el modelo global tiene sentido. Luego interpretar coeficientes.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módulo → Regresión Logística: Clase 5 · Formulación desde el GLM · Función logit · Log-verosimilitud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1647</Words>
  <Application>Microsoft Macintosh PowerPoint</Application>
  <PresentationFormat>On-screen Show (16:9)</PresentationFormat>
  <Paragraphs>242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2026-03-31T13:22:30Z</dcterms:created>
  <dcterms:modified xsi:type="dcterms:W3CDTF">2026-04-09T02:01:26Z</dcterms:modified>
</cp:coreProperties>
</file>