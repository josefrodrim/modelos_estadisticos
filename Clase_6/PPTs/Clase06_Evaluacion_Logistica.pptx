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45152" y="0"/>
            <a:ext cx="329184" cy="514350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274320"/>
            <a:ext cx="3840480" cy="3840480"/>
          </a:xfrm>
          <a:prstGeom prst="oval">
            <a:avLst/>
          </a:prstGeom>
          <a:solidFill>
            <a:srgbClr val="2E86C1">
              <a:alpha val="20000"/>
            </a:srgbClr>
          </a:solidFill>
          <a:ln w="12700">
            <a:solidFill>
              <a:srgbClr val="AED6F1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256032"/>
            <a:ext cx="1920240" cy="292608"/>
          </a:xfrm>
          <a:prstGeom prst="rect">
            <a:avLst/>
          </a:prstGeom>
          <a:solidFill>
            <a:srgbClr val="EAF2FB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2926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06 · MÓDULO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685800"/>
            <a:ext cx="4069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Evaluación y Diagnósticos</a:t>
            </a:r>
            <a:endParaRPr lang="en-US" sz="2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Regresión Logística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8803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Deviance · AIC · Wald test · Pseudo R² · Curvas ROC/AUC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2377440" cy="0"/>
          </a:xfrm>
          <a:prstGeom prst="line">
            <a:avLst/>
          </a:prstGeom>
          <a:noFill/>
          <a:ln w="19050">
            <a:solidFill>
              <a:srgbClr val="5DAD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210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9684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 · Nivel avanzado · Python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477316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8 · Módulo 2 · Regresión Logística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760720" y="54864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>
                    <a:alpha val="12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</a:t>
            </a:r>
            <a:endParaRPr lang="en-US" sz="1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de evaluación logística — el equivalente del R² y el F-test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4160520" cy="5029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188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" y="1572768"/>
            <a:ext cx="3840480" cy="420624"/>
          </a:xfrm>
          <a:prstGeom prst="rect">
            <a:avLst/>
          </a:prstGeom>
          <a:solidFill>
            <a:srgbClr val="EAF2FB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6276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−2·ℓ(β̂)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206654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Análogo al SSE. Menor = mejor ajuste. D=0 → ajuste perfecto.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078992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078992"/>
            <a:ext cx="4160520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188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 R² McFadden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82312" y="1572768"/>
            <a:ext cx="3840480" cy="420624"/>
          </a:xfrm>
          <a:prstGeom prst="rect">
            <a:avLst/>
          </a:prstGeom>
          <a:solidFill>
            <a:srgbClr val="EAF2FB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6276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R²_McF = 1 − ℓ(β̂)/ℓ₀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82312" y="206654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0.1–0.2 aceptable · 0.2–0.4 bueno · &gt;0.4 excelente.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980944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80944"/>
            <a:ext cx="4160520" cy="502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0906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" y="3474720"/>
            <a:ext cx="3840480" cy="420624"/>
          </a:xfrm>
          <a:prstGeom prst="rect">
            <a:avLst/>
          </a:prstGeom>
          <a:solidFill>
            <a:srgbClr val="EAF2FB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5295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AIC = 2p − 2·ℓ(β̂)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" y="396849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 por número de parámetros. Menor = mejor.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2980944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2980944"/>
            <a:ext cx="4160520" cy="5029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30906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Wald test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82312" y="3474720"/>
            <a:ext cx="3840480" cy="420624"/>
          </a:xfrm>
          <a:prstGeom prst="rect">
            <a:avLst/>
          </a:prstGeom>
          <a:solidFill>
            <a:srgbClr val="EAF2FB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5295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zⱼ = β̂ⱼ / SE(β̂ⱼ) ~ N(0,1)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82312" y="396849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Análogo al t-test. H₀: βⱼ=0. Rechazar si |z|&gt;1.96.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5DAD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Diferencia crítica: Pseudo R²=0.2 en logística ≈ R²=0.6 en OLS. Son escalas distintas — nunca comparar directamente.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Curva ROC y AUC — el estándar de evaluación en clasificación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P(p̂(positivo) &gt; p̂(negativo))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06908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4069080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887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construye la ROC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1609344"/>
            <a:ext cx="3749040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824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threshold t: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16824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clasificar como 1 si p̂ ≥ 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2066544"/>
            <a:ext cx="3749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396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TPR: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21396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TP/(TP+FN) — Sensibilidad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" y="2523744"/>
            <a:ext cx="3749040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968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FPR: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25968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FP/(FP+TN) = 1 − Especificidad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" y="2980944"/>
            <a:ext cx="3749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0540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Graficar: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30540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TPR vs FPR para todo t ∈ [0,1]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" y="3438144"/>
            <a:ext cx="3749040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112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35112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Área bajo la curva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" y="3931920"/>
            <a:ext cx="3749040" cy="7498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00507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ED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 = 0.5: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965960" y="400507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Aleatorio — no discrimina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4360" y="417880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ED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0.7–0.8: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65960" y="4178808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Aceptable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94360" y="435254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ED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0.8–0.9: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965960" y="4352544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94360" y="452628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ED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 &gt; 0.9: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65960" y="4526280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— verificar sobreajuste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1078992"/>
            <a:ext cx="416052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078992"/>
            <a:ext cx="4160520" cy="5029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1188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— no siempre 0.5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73168" y="1700784"/>
            <a:ext cx="3931920" cy="640080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1184" y="17739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Youden J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01184" y="20482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TPR − FPR → maximizar para balance óptimo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01184" y="21945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cuando: Cuando FN y FP tienen igual costo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73168" y="2414016"/>
            <a:ext cx="393192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01184" y="2487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 de negocio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01184" y="27614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argmin[FN·cost_FN + FP·cost_FP]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01184" y="29077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cuando: Fraude: costo FN &gt;&gt; costo FP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73168" y="3127248"/>
            <a:ext cx="3931920" cy="640080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01184" y="3200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F1-score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01184" y="3474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2·Prec·Rec/(Prec+Rec) → maximizar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901184" y="362102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cuando: Datasets muy desbalanceados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5DAD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Demo en vivo: cambiar threshold de 0.5 a 0.3 → más sensibilidad, menos especificidad. ¿Qué le conviene al banco?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Wald Test — tabla de coeficientes completa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SE(β̂) · z-stat · p-valor · OR con IC al 95%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8503920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5214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SE(β̂ⱼ) = √(I(β̂)⁻¹ⱼⱼ)   donde   I(β) = Xᵀ diag(p̂(1−p̂)) X   — Matriz de información de Fisher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1298448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7099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64208" y="1664208"/>
            <a:ext cx="1024128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17099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1664208"/>
            <a:ext cx="914400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16352" y="170992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03320" y="1664208"/>
            <a:ext cx="914400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76472" y="170992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z-stat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664208"/>
            <a:ext cx="1152144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170992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70448" y="1664208"/>
            <a:ext cx="1444752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70992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OR=eˢᵝ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60920" y="1664208"/>
            <a:ext cx="1463040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34072" y="170992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011680"/>
            <a:ext cx="1298448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4208" y="2011680"/>
            <a:ext cx="1024128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2011680"/>
            <a:ext cx="914400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03320" y="2011680"/>
            <a:ext cx="914400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011680"/>
            <a:ext cx="1152144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70448" y="2011680"/>
            <a:ext cx="1444752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60920" y="2011680"/>
            <a:ext cx="1463040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209397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737360" y="20939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-1.50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816352" y="209397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776472" y="209397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-6.82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36592" y="2093976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&lt;0.001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43600" y="209397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434072" y="209397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2450592"/>
            <a:ext cx="1298448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64208" y="2450592"/>
            <a:ext cx="1024128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0" y="2450592"/>
            <a:ext cx="9144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03320" y="2450592"/>
            <a:ext cx="9144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2450592"/>
            <a:ext cx="1152144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70448" y="2450592"/>
            <a:ext cx="1444752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60920" y="2450592"/>
            <a:ext cx="1463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3192" y="25328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737360" y="25328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-1.20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816352" y="253288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0.18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776472" y="253288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-6.67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36592" y="2532888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&lt;0.001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943600" y="253288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434072" y="253288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2889504"/>
            <a:ext cx="1298448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664208" y="2889504"/>
            <a:ext cx="1024128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0" y="2889504"/>
            <a:ext cx="914400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03320" y="2889504"/>
            <a:ext cx="914400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63440" y="2889504"/>
            <a:ext cx="1152144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70448" y="2889504"/>
            <a:ext cx="1444752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60920" y="2889504"/>
            <a:ext cx="1463040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3192" y="29718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deuda_ratio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737360" y="2971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1.80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2816352" y="297180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0.21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776472" y="297180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8.57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736592" y="2971800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&lt;0.001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943600" y="2971800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6.05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434072" y="297180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***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20040" y="3328416"/>
            <a:ext cx="1298448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64208" y="3328416"/>
            <a:ext cx="1024128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0" y="3328416"/>
            <a:ext cx="9144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03320" y="3328416"/>
            <a:ext cx="9144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63440" y="3328416"/>
            <a:ext cx="1152144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870448" y="3328416"/>
            <a:ext cx="1444752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360920" y="3328416"/>
            <a:ext cx="14630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93192" y="34107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antiguedad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1737360" y="34107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-0.45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2816352" y="34107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0.14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3776472" y="34107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-3.21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4736592" y="341071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943600" y="341071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0.64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7434072" y="341071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20040" y="3767328"/>
            <a:ext cx="1298448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664208" y="3767328"/>
            <a:ext cx="1024128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43200" y="3767328"/>
            <a:ext cx="914400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703320" y="3767328"/>
            <a:ext cx="914400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663440" y="3767328"/>
            <a:ext cx="1152144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870448" y="3767328"/>
            <a:ext cx="1444752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360920" y="3767328"/>
            <a:ext cx="1463040" cy="402336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3192" y="38496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num_productos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1737360" y="38496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-0.20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2816352" y="384962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0.19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3776472" y="384962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-1.05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4736592" y="3849624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0.293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5943600" y="3849624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0.82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7434072" y="384962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(ns)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320040" y="4315968"/>
            <a:ext cx="8503920" cy="530352"/>
          </a:xfrm>
          <a:prstGeom prst="rect">
            <a:avLst/>
          </a:prstGeom>
          <a:solidFill>
            <a:srgbClr val="EAF2FB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75488" y="4389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num_productos: no significativo (p=0.29) → el modelo no necesita esta feature. Se puede eliminar sin perder poder predictivo.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5DADE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Pregunta: '¿Qué feature tiene mayor OR? ¿Cuál tiene el mayor z en valor absoluto? ¿Son la misma?'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Aplicación: detección de fraude bancario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desbalanceados — umbral óptimo — trade-off negocio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14800" cy="3730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41148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887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desafío del fraude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1609344"/>
            <a:ext cx="3749040" cy="420624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824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fraude: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20240" y="16824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~0.5–2% de transacciones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2084832"/>
            <a:ext cx="37490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579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20240" y="21579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negativas por cada positiva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" y="2560320"/>
            <a:ext cx="3749040" cy="420624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334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20240" y="26334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no detectado = pérdida directa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" y="3035808"/>
            <a:ext cx="37490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1089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920240" y="31089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falsa = fricción cliente → costo reputacional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" y="3511296"/>
            <a:ext cx="3749040" cy="420624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844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clave: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920240" y="35844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+ threshold bajo (detectar más)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" y="3986784"/>
            <a:ext cx="37490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0599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típico: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920240" y="40599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0.2–0.3 (no 0.5)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078992"/>
            <a:ext cx="4160520" cy="3730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9EAFC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078992"/>
            <a:ext cx="4160520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1188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del modelo (AUC=0.91)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73168" y="1609344"/>
            <a:ext cx="1005840" cy="420624"/>
          </a:xfrm>
          <a:prstGeom prst="rect">
            <a:avLst/>
          </a:prstGeom>
          <a:solidFill>
            <a:srgbClr val="1A5276"/>
          </a:solidFill>
          <a:ln w="3810">
            <a:solidFill>
              <a:srgbClr val="1A52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700784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33872" y="1609344"/>
            <a:ext cx="896112" cy="420624"/>
          </a:xfrm>
          <a:prstGeom prst="rect">
            <a:avLst/>
          </a:prstGeom>
          <a:solidFill>
            <a:srgbClr val="1A5276"/>
          </a:solidFill>
          <a:ln w="3810">
            <a:solidFill>
              <a:srgbClr val="1A52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07024" y="170078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84848" y="1609344"/>
            <a:ext cx="896112" cy="420624"/>
          </a:xfrm>
          <a:prstGeom prst="rect">
            <a:avLst/>
          </a:prstGeom>
          <a:solidFill>
            <a:srgbClr val="1A5276"/>
          </a:solidFill>
          <a:ln w="3810">
            <a:solidFill>
              <a:srgbClr val="1A52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170078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717536" y="1609344"/>
            <a:ext cx="896112" cy="420624"/>
          </a:xfrm>
          <a:prstGeom prst="rect">
            <a:avLst/>
          </a:prstGeom>
          <a:solidFill>
            <a:srgbClr val="1A5276"/>
          </a:solidFill>
          <a:ln w="3810">
            <a:solidFill>
              <a:srgbClr val="1A52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90688" y="170078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73168" y="2084832"/>
            <a:ext cx="1005840" cy="420624"/>
          </a:xfrm>
          <a:prstGeom prst="rect">
            <a:avLst/>
          </a:prstGeom>
          <a:solidFill>
            <a:srgbClr val="FEF9E7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17627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33872" y="2084832"/>
            <a:ext cx="896112" cy="420624"/>
          </a:xfrm>
          <a:prstGeom prst="rect">
            <a:avLst/>
          </a:prstGeom>
          <a:solidFill>
            <a:srgbClr val="FEF9E7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07024" y="2176272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84848" y="2084832"/>
            <a:ext cx="896112" cy="420624"/>
          </a:xfrm>
          <a:prstGeom prst="rect">
            <a:avLst/>
          </a:prstGeom>
          <a:solidFill>
            <a:srgbClr val="FEF9E7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2176272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717536" y="2084832"/>
            <a:ext cx="896112" cy="420624"/>
          </a:xfrm>
          <a:prstGeom prst="rect">
            <a:avLst/>
          </a:prstGeom>
          <a:solidFill>
            <a:srgbClr val="FEF9E7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90688" y="2176272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73168" y="2560320"/>
            <a:ext cx="1005840" cy="420624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265176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833872" y="2560320"/>
            <a:ext cx="896112" cy="420624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07024" y="265176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84848" y="2560320"/>
            <a:ext cx="896112" cy="420624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0" y="265176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17536" y="2560320"/>
            <a:ext cx="896112" cy="420624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90688" y="265176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73168" y="3035808"/>
            <a:ext cx="10058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0" y="3127248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833872" y="3035808"/>
            <a:ext cx="89611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07024" y="312724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784848" y="3035808"/>
            <a:ext cx="89611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58000" y="312724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717536" y="3035808"/>
            <a:ext cx="896112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90688" y="312724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773168" y="3621024"/>
            <a:ext cx="3931920" cy="1024128"/>
          </a:xfrm>
          <a:prstGeom prst="rect">
            <a:avLst/>
          </a:prstGeom>
          <a:solidFill>
            <a:srgbClr val="EAF2FB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01184" y="3694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de negocio: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901184" y="3968496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0.2 captura 94% del fraude pero genera más falsas alarmas. Para el banco, el costo del fraude no detectado &gt;&gt; costo de revisar una transacción.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5DADE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El AUC y el threshold son decisiones independientes. AUC = calidad del modelo. Threshold = decisión de negocio.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1E2D"/>
          </a:solidFill>
          <a:ln w="12700">
            <a:solidFill>
              <a:srgbClr val="14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" y="137160"/>
            <a:ext cx="155448" cy="155448"/>
          </a:xfrm>
          <a:prstGeom prst="oval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137160"/>
            <a:ext cx="155448" cy="155448"/>
          </a:xfrm>
          <a:prstGeom prst="oval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37160"/>
            <a:ext cx="155448" cy="155448"/>
          </a:xfrm>
          <a:prstGeom prst="oval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91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Clase06_Evaluacion_Logistica.ipynb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566928"/>
            <a:ext cx="4315968" cy="2103120"/>
          </a:xfrm>
          <a:prstGeom prst="rect">
            <a:avLst/>
          </a:prstGeom>
          <a:solidFill>
            <a:srgbClr val="1E2D3D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566928"/>
            <a:ext cx="4315968" cy="5029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6583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Deviance, Pseudo R² y AIC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0624" y="91440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Log-verosimilitud del modelo nulo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115671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 = y.mean()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0624" y="1399032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ll_null = np.sum(y*np.log(p0)+(1-y)*np.log(1-p0))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0624" y="164134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ll_full = log_lik(beta_hat, X, y)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0624" y="1883664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R2_mcf = 1 - ll_full / ll_null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0624" y="212598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AIC    = 2*p - 2*ll_full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0624" y="236829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print(f'R²_McF={R2_mcf:.4f}  AIC={AIC:.2f}')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73168" y="566928"/>
            <a:ext cx="4114800" cy="2103120"/>
          </a:xfrm>
          <a:prstGeom prst="rect">
            <a:avLst/>
          </a:prstGeom>
          <a:solidFill>
            <a:srgbClr val="1E2D3D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73168" y="566928"/>
            <a:ext cx="4114800" cy="5029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6583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Wald test (SE vía Fisher)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37760" y="9144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p_hat = expit(X @ beta_hat)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11567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    = p_hat * (1 - p_hat)   # pesos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1399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I_mat = X.T @ (W[:,None]*X)   # Fisher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16413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   = np.sqrt(np.diag(np.linalg.inv(I_mat)))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18836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    = beta_hat / SE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21259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    = 2*(1-stats.norm.cdf(np.abs(z)))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816352"/>
            <a:ext cx="8631936" cy="2194560"/>
          </a:xfrm>
          <a:prstGeom prst="rect">
            <a:avLst/>
          </a:prstGeom>
          <a:solidFill>
            <a:srgbClr val="1E2D3D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816352"/>
            <a:ext cx="8631936" cy="5029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2907792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Curva ROC y threshold óptimo (Youden)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20624" y="3163824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roc_curve, roc_auc_score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0624" y="3648456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fpr, tpr, thresholds = roc_curve(y_test, y_proba)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0624" y="3890772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 = roc_auc_score(y_test, y_proba)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0624" y="4375404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       = tpr - fpr                       # Youden J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20624" y="4617720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opt_th   = thresholds[np.argmax(J)]        # threshold óptimo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0624" y="4860036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  = (y_proba &gt;= opt_th).astype(int) # clasificar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94760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94760" y="0"/>
            <a:ext cx="50292" cy="514350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2651760"/>
            <a:ext cx="3566160" cy="3566160"/>
          </a:xfrm>
          <a:prstGeom prst="oval">
            <a:avLst/>
          </a:prstGeom>
          <a:solidFill>
            <a:srgbClr val="2E86C1">
              <a:alpha val="17000"/>
            </a:srgbClr>
          </a:solidFill>
          <a:ln w="12700">
            <a:solidFill>
              <a:srgbClr val="AED6F1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92608"/>
            <a:ext cx="33375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Clase 6</a:t>
            </a:r>
            <a:endParaRPr lang="en-US" sz="3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completada.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2286000" cy="0"/>
          </a:xfrm>
          <a:prstGeom prst="line">
            <a:avLst/>
          </a:prstGeom>
          <a:noFill/>
          <a:ln w="19050">
            <a:solidFill>
              <a:srgbClr val="5DAD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0299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9080" y="2743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cubrimos hoy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9080" y="731520"/>
            <a:ext cx="4754880" cy="0"/>
          </a:xfrm>
          <a:prstGeom prst="line">
            <a:avLst/>
          </a:prstGeom>
          <a:noFill/>
          <a:ln w="9525">
            <a:solidFill>
              <a:srgbClr val="D0E8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9080" y="978408"/>
            <a:ext cx="146304" cy="146304"/>
          </a:xfrm>
          <a:prstGeom prst="oval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5968" y="8869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Deviance = −2ℓ — análogo del SSE en OLS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69080" y="1453896"/>
            <a:ext cx="146304" cy="146304"/>
          </a:xfrm>
          <a:prstGeom prst="oval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5968" y="136245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 R² McFadden — no comparar con R² de OLS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69080" y="1929384"/>
            <a:ext cx="146304" cy="146304"/>
          </a:xfrm>
          <a:prstGeom prst="oval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18379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penaliza por número de parámetros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69080" y="2404872"/>
            <a:ext cx="146304" cy="146304"/>
          </a:xfrm>
          <a:prstGeom prst="oval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23134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Wald test — SE via matriz de Fisher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069080" y="2880360"/>
            <a:ext cx="146304" cy="146304"/>
          </a:xfrm>
          <a:prstGeom prst="oval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2788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calidad del modelo (independiente del threshold)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69080" y="3355848"/>
            <a:ext cx="146304" cy="146304"/>
          </a:xfrm>
          <a:prstGeom prst="oval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32644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óptimo = decisión de negocio, no siempre 0.5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069080" y="4645152"/>
            <a:ext cx="4754880" cy="347472"/>
          </a:xfrm>
          <a:prstGeom prst="rect">
            <a:avLst/>
          </a:prstGeom>
          <a:solidFill>
            <a:srgbClr val="EAF2FB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24528" y="4700016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clase: Clase 7 — Threshold por costo · Logística vs LDA · Scoring completo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2026-04-10T23:12:50Z</dcterms:created>
  <dcterms:modified xsi:type="dcterms:W3CDTF">2026-04-10T23:12:50Z</dcterms:modified>
</cp:coreProperties>
</file>