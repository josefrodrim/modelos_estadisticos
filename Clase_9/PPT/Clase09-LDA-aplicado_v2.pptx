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embeddedFontLst>
    <p:embeddedFont>
      <p:font typeface="Lato" panose="020F0502020204030203" pitchFamily="34" charset="0"/>
      <p:regular r:id="rId22"/>
      <p:bold r:id="rId23"/>
      <p:italic r:id="rId24"/>
      <p:boldItalic r:id="rId25"/>
    </p:embeddedFont>
    <p:embeddedFont>
      <p:font typeface="Poppins" pitchFamily="2" charset="77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90AD5D8-DF8C-41D6-B2C2-2F6D6464341E}">
  <a:tblStyle styleId="{B90AD5D8-DF8C-41D6-B2C2-2F6D6464341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3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1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57687" y="3827115"/>
            <a:ext cx="3476625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3876675" y="516284"/>
            <a:ext cx="44386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B82F6"/>
                </a:solidFill>
                <a:latin typeface="Lato"/>
                <a:ea typeface="Lato"/>
                <a:cs typeface="Lato"/>
                <a:sym typeface="Lato"/>
              </a:rPr>
              <a:t>MÓDULO 3 · ANÁLISIS DISCRIMINANTE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1040159"/>
            <a:ext cx="11601450" cy="1726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1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Interpretación</a:t>
            </a:r>
            <a:r>
              <a:rPr lang="en-US" sz="51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51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Clasificación</a:t>
            </a:r>
            <a:r>
              <a:rPr lang="en-US" sz="51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y QDA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38500" y="4639696"/>
            <a:ext cx="5715000" cy="1428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95550"/>
            <a:ext cx="3492400" cy="281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495550"/>
            <a:ext cx="3492549" cy="281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7950" y="2495550"/>
            <a:ext cx="3492400" cy="28194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794228" y="3476625"/>
            <a:ext cx="304694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Confianza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866775" y="4019550"/>
            <a:ext cx="29018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Interpretar los </a:t>
            </a: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scores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como una medida de incertidumbre en la clasificación.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4572375" y="3476625"/>
            <a:ext cx="304709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QDA vs LDA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4644925" y="4019550"/>
            <a:ext cx="29019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Implementar fronteras cuadráticas y saber cuándo superan a las lineales.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350679" y="3476625"/>
            <a:ext cx="304694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Segmentación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8423225" y="4019550"/>
            <a:ext cx="29018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Ejecutar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un pipeline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completo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de marketing para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perfilar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clientes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retail.</a:t>
            </a:r>
            <a:endParaRPr dirty="0"/>
          </a:p>
        </p:txBody>
      </p:sp>
      <p:pic>
        <p:nvPicPr>
          <p:cNvPr id="103" name="Google Shape;103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08150" y="2838450"/>
            <a:ext cx="4191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10113" y="2838450"/>
            <a:ext cx="3714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64600" y="283845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762000" y="571500"/>
            <a:ext cx="114014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¿Qué aprenderemos hoy?</a:t>
            </a:r>
            <a:endParaRPr/>
          </a:p>
        </p:txBody>
      </p:sp>
      <p:sp>
        <p:nvSpPr>
          <p:cNvPr id="107" name="Google Shape;107;p14"/>
          <p:cNvSpPr/>
          <p:nvPr/>
        </p:nvSpPr>
        <p:spPr>
          <a:xfrm>
            <a:off x="571500" y="571500"/>
            <a:ext cx="76200" cy="571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43587" y="1646932"/>
            <a:ext cx="504825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1595437" y="2504182"/>
            <a:ext cx="9001125" cy="1782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¿</a:t>
            </a:r>
            <a:r>
              <a:rPr lang="en-US" sz="39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Qué</a:t>
            </a:r>
            <a:r>
              <a:rPr lang="en-US" sz="39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9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significa</a:t>
            </a:r>
            <a:r>
              <a:rPr lang="en-US" sz="39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9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que</a:t>
            </a:r>
            <a:r>
              <a:rPr lang="en-US" sz="39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un </a:t>
            </a:r>
            <a:r>
              <a:rPr lang="en-US" sz="39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modelo</a:t>
            </a:r>
            <a:r>
              <a:rPr lang="en-US" sz="39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9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clasifique</a:t>
            </a:r>
            <a:r>
              <a:rPr lang="en-US" sz="39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bien </a:t>
            </a:r>
            <a:r>
              <a:rPr lang="en-US" sz="39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en</a:t>
            </a:r>
            <a:r>
              <a:rPr lang="en-US" sz="39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9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promedio</a:t>
            </a:r>
            <a:r>
              <a:rPr lang="en-US" sz="39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9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pero</a:t>
            </a:r>
            <a:r>
              <a:rPr lang="en-US" sz="39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mal </a:t>
            </a:r>
            <a:r>
              <a:rPr lang="en-US" sz="39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en</a:t>
            </a:r>
            <a:r>
              <a:rPr lang="en-US" sz="39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9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una</a:t>
            </a:r>
            <a:r>
              <a:rPr lang="en-US" sz="39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9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clase</a:t>
            </a:r>
            <a:r>
              <a:rPr lang="en-US" sz="39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9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específica</a:t>
            </a:r>
            <a:r>
              <a:rPr lang="en-US" sz="39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?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1809750" y="4667994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B82F6"/>
                </a:solidFill>
                <a:latin typeface="Lato"/>
                <a:ea typeface="Lato"/>
                <a:cs typeface="Lato"/>
                <a:sym typeface="Lato"/>
              </a:rPr>
              <a:t>Arranquemos con esta pregunta clave de negocio.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776513"/>
            <a:ext cx="5286375" cy="647848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571500" y="2471588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¿Qué es el Score?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571500" y="3014513"/>
            <a:ext cx="52863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 la </a:t>
            </a: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proyección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de una observación sobre el espacio discriminante que maximiza la separación de clases.</a:t>
            </a:r>
            <a:endParaRPr/>
          </a:p>
        </p:txBody>
      </p:sp>
      <p:pic>
        <p:nvPicPr>
          <p:cNvPr id="125" name="Google Shape;125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43650" y="2009775"/>
            <a:ext cx="5267325" cy="3790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4014638"/>
            <a:ext cx="4752975" cy="171598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6"/>
          <p:cNvSpPr txBox="1"/>
          <p:nvPr/>
        </p:nvSpPr>
        <p:spPr>
          <a:xfrm>
            <a:off x="838200" y="4614862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952500" y="4614850"/>
            <a:ext cx="5267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|score| alto: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Punto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alejado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de la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frontera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→ </a:t>
            </a:r>
            <a:r>
              <a:rPr lang="en-US" sz="1500" b="1" i="0" u="none" strike="noStrike" cap="none" dirty="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Alta </a:t>
            </a:r>
            <a:r>
              <a:rPr lang="en-US" sz="1500" b="1" dirty="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confianza</a:t>
            </a:r>
            <a:endParaRPr dirty="0"/>
          </a:p>
        </p:txBody>
      </p:sp>
      <p:sp>
        <p:nvSpPr>
          <p:cNvPr id="129" name="Google Shape;129;p16"/>
          <p:cNvSpPr txBox="1"/>
          <p:nvPr/>
        </p:nvSpPr>
        <p:spPr>
          <a:xfrm>
            <a:off x="571500" y="4900589"/>
            <a:ext cx="490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457200" marR="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Lato"/>
              <a:buChar char="●"/>
            </a:pP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|score| ≈ 0: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Punto en zona gris → </a:t>
            </a: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Baja confianza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762000" y="571500"/>
            <a:ext cx="114014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01. Scores Discriminantes</a:t>
            </a:r>
            <a:endParaRPr/>
          </a:p>
        </p:txBody>
      </p:sp>
      <p:sp>
        <p:nvSpPr>
          <p:cNvPr id="131" name="Google Shape;131;p16"/>
          <p:cNvSpPr/>
          <p:nvPr/>
        </p:nvSpPr>
        <p:spPr>
          <a:xfrm>
            <a:off x="571500" y="571500"/>
            <a:ext cx="76200" cy="571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10717"/>
            <a:ext cx="5286375" cy="2989064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7"/>
          <p:cNvSpPr txBox="1"/>
          <p:nvPr/>
        </p:nvSpPr>
        <p:spPr>
          <a:xfrm>
            <a:off x="857250" y="2696467"/>
            <a:ext cx="47148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En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problemas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binarios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mapeamos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el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score 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una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probabilidad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posterior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mediante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la </a:t>
            </a:r>
            <a:r>
              <a:rPr lang="en-US" sz="1500" b="1" i="0" u="none" strike="noStrike" cap="none" dirty="0" err="1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función</a:t>
            </a:r>
            <a:r>
              <a:rPr lang="en-US" sz="1500" b="1" i="0" u="none" strike="noStrike" cap="none" dirty="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 err="1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sigmoide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endParaRPr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857250" y="4399657"/>
            <a:ext cx="47148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Un score de 0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resulta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P=0.5,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el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punto de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máxima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incertidumbre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para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el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modelo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pic>
        <p:nvPicPr>
          <p:cNvPr id="140" name="Google Shape;140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2525" y="3696592"/>
            <a:ext cx="4181475" cy="27443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7"/>
          <p:cNvSpPr txBox="1"/>
          <p:nvPr/>
        </p:nvSpPr>
        <p:spPr>
          <a:xfrm>
            <a:off x="762000" y="571500"/>
            <a:ext cx="114014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De Score a Probabilidad</a:t>
            </a:r>
            <a:endParaRPr/>
          </a:p>
        </p:txBody>
      </p:sp>
      <p:sp>
        <p:nvSpPr>
          <p:cNvPr id="143" name="Google Shape;143;p17"/>
          <p:cNvSpPr/>
          <p:nvPr/>
        </p:nvSpPr>
        <p:spPr>
          <a:xfrm>
            <a:off x="571500" y="571500"/>
            <a:ext cx="76200" cy="571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09900"/>
            <a:ext cx="3492400" cy="2457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3009900"/>
            <a:ext cx="3492549" cy="2457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7950" y="3009900"/>
            <a:ext cx="3492400" cy="245745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8"/>
          <p:cNvSpPr txBox="1"/>
          <p:nvPr/>
        </p:nvSpPr>
        <p:spPr>
          <a:xfrm>
            <a:off x="3128962" y="2343150"/>
            <a:ext cx="5934000" cy="5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Cuando </a:t>
            </a:r>
            <a:r>
              <a:rPr lang="en-US" sz="15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score se aproxima a  0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, las decisiones automatizadas son riesgosas.</a:t>
            </a:r>
            <a:endParaRPr/>
          </a:p>
        </p:txBody>
      </p:sp>
      <p:pic>
        <p:nvPicPr>
          <p:cNvPr id="153" name="Google Shape;153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79575" y="3305175"/>
            <a:ext cx="47625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8"/>
          <p:cNvSpPr txBox="1"/>
          <p:nvPr/>
        </p:nvSpPr>
        <p:spPr>
          <a:xfrm>
            <a:off x="794228" y="3914775"/>
            <a:ext cx="304694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Credit Scoring</a:t>
            </a:r>
            <a:endParaRPr/>
          </a:p>
        </p:txBody>
      </p:sp>
      <p:sp>
        <p:nvSpPr>
          <p:cNvPr id="155" name="Google Shape;155;p18"/>
          <p:cNvSpPr txBox="1"/>
          <p:nvPr/>
        </p:nvSpPr>
        <p:spPr>
          <a:xfrm>
            <a:off x="866775" y="4457700"/>
            <a:ext cx="29018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Derivar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el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perfil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un </a:t>
            </a:r>
            <a:r>
              <a:rPr lang="en-US" sz="1500" b="1" i="0" u="none" strike="noStrike" cap="none" dirty="0" err="1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comité</a:t>
            </a:r>
            <a:r>
              <a:rPr lang="en-US" sz="1500" b="1" i="0" u="none" strike="noStrike" cap="none" dirty="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500" b="1" i="0" u="none" strike="noStrike" cap="none" dirty="0" err="1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riesgos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para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evaluación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manual.</a:t>
            </a:r>
            <a:endParaRPr dirty="0"/>
          </a:p>
        </p:txBody>
      </p:sp>
      <p:pic>
        <p:nvPicPr>
          <p:cNvPr id="156" name="Google Shape;156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57726" y="3305175"/>
            <a:ext cx="47625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/>
          <p:cNvSpPr txBox="1"/>
          <p:nvPr/>
        </p:nvSpPr>
        <p:spPr>
          <a:xfrm>
            <a:off x="4572375" y="3914775"/>
            <a:ext cx="304709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Salud</a:t>
            </a:r>
            <a:endParaRPr/>
          </a:p>
        </p:txBody>
      </p:sp>
      <p:sp>
        <p:nvSpPr>
          <p:cNvPr id="158" name="Google Shape;158;p18"/>
          <p:cNvSpPr txBox="1"/>
          <p:nvPr/>
        </p:nvSpPr>
        <p:spPr>
          <a:xfrm>
            <a:off x="4644925" y="4457700"/>
            <a:ext cx="2901999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Solicitar </a:t>
            </a: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pruebas complementarias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ante un diagnóstico incierto.</a:t>
            </a:r>
            <a:endParaRPr/>
          </a:p>
        </p:txBody>
      </p:sp>
      <p:pic>
        <p:nvPicPr>
          <p:cNvPr id="159" name="Google Shape;159;p18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64600" y="3305175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/>
          <p:cNvSpPr txBox="1"/>
          <p:nvPr/>
        </p:nvSpPr>
        <p:spPr>
          <a:xfrm>
            <a:off x="8350679" y="3914775"/>
            <a:ext cx="304694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Fraude</a:t>
            </a:r>
            <a:endParaRPr/>
          </a:p>
        </p:txBody>
      </p:sp>
      <p:sp>
        <p:nvSpPr>
          <p:cNvPr id="161" name="Google Shape;161;p18"/>
          <p:cNvSpPr txBox="1"/>
          <p:nvPr/>
        </p:nvSpPr>
        <p:spPr>
          <a:xfrm>
            <a:off x="8423225" y="4457700"/>
            <a:ext cx="29018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Bloqueo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preventivo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y </a:t>
            </a:r>
            <a:r>
              <a:rPr lang="en-US" sz="1500" b="1" i="0" u="none" strike="noStrike" cap="none" dirty="0" err="1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verificación</a:t>
            </a:r>
            <a:r>
              <a:rPr lang="en-US" sz="1500" b="1" i="0" u="none" strike="noStrike" cap="none" dirty="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 humana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de la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transacción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162" name="Google Shape;162;p18"/>
          <p:cNvSpPr txBox="1"/>
          <p:nvPr/>
        </p:nvSpPr>
        <p:spPr>
          <a:xfrm>
            <a:off x="762000" y="571500"/>
            <a:ext cx="114014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Casos de Baja Confianza</a:t>
            </a:r>
            <a:endParaRPr/>
          </a:p>
        </p:txBody>
      </p:sp>
      <p:sp>
        <p:nvSpPr>
          <p:cNvPr id="163" name="Google Shape;163;p18"/>
          <p:cNvSpPr/>
          <p:nvPr/>
        </p:nvSpPr>
        <p:spPr>
          <a:xfrm>
            <a:off x="571500" y="571500"/>
            <a:ext cx="76200" cy="571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9"/>
          <p:cNvSpPr txBox="1"/>
          <p:nvPr/>
        </p:nvSpPr>
        <p:spPr>
          <a:xfrm>
            <a:off x="571500" y="2490787"/>
            <a:ext cx="11049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B82F6"/>
                </a:solidFill>
                <a:latin typeface="Lato"/>
                <a:ea typeface="Lato"/>
                <a:cs typeface="Lato"/>
                <a:sym typeface="Lato"/>
              </a:rPr>
              <a:t>CAPÍTULO II</a:t>
            </a:r>
            <a:endParaRPr/>
          </a:p>
        </p:txBody>
      </p:sp>
      <p:sp>
        <p:nvSpPr>
          <p:cNvPr id="170" name="Google Shape;170;p19"/>
          <p:cNvSpPr txBox="1"/>
          <p:nvPr/>
        </p:nvSpPr>
        <p:spPr>
          <a:xfrm>
            <a:off x="295275" y="2919412"/>
            <a:ext cx="1160145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QDA: </a:t>
            </a:r>
            <a:r>
              <a:rPr lang="en-US" sz="18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Flexibilidad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Cuadrática</a:t>
            </a:r>
            <a:endParaRPr dirty="0"/>
          </a:p>
        </p:txBody>
      </p:sp>
      <p:sp>
        <p:nvSpPr>
          <p:cNvPr id="171" name="Google Shape;171;p19"/>
          <p:cNvSpPr/>
          <p:nvPr/>
        </p:nvSpPr>
        <p:spPr>
          <a:xfrm>
            <a:off x="5715000" y="3538537"/>
            <a:ext cx="762000" cy="571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571500" y="3881437"/>
            <a:ext cx="11049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Cuando las </a:t>
            </a:r>
            <a:r>
              <a:rPr lang="en-US" sz="1800" b="0" i="0" u="none" strike="noStrike" cap="none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covarianzas</a:t>
            </a:r>
            <a:r>
              <a:rPr lang="en-US" sz="1800" b="0" i="0" u="none" strike="noStrike" cap="none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difieren</a:t>
            </a:r>
            <a:r>
              <a:rPr lang="en-US" sz="1800" b="0" i="0" u="none" strike="noStrike" cap="none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 entre </a:t>
            </a:r>
            <a:r>
              <a:rPr lang="en-US" sz="1800" b="0" i="0" u="none" strike="noStrike" cap="none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clases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7770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0"/>
          <p:cNvSpPr txBox="1"/>
          <p:nvPr/>
        </p:nvSpPr>
        <p:spPr>
          <a:xfrm>
            <a:off x="571500" y="2492275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Forma de las Clases</a:t>
            </a:r>
            <a:endParaRPr/>
          </a:p>
        </p:txBody>
      </p:sp>
      <p:sp>
        <p:nvSpPr>
          <p:cNvPr id="180" name="Google Shape;180;p20"/>
          <p:cNvSpPr txBox="1"/>
          <p:nvPr/>
        </p:nvSpPr>
        <p:spPr>
          <a:xfrm>
            <a:off x="571500" y="3035200"/>
            <a:ext cx="52863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LDA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asume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que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todas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las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clases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comparten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la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misma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matriz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covarianza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Σ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Todas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las "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nubes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"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tienen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la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misma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forma.</a:t>
            </a:r>
            <a:endParaRPr dirty="0"/>
          </a:p>
        </p:txBody>
      </p:sp>
      <p:sp>
        <p:nvSpPr>
          <p:cNvPr id="181" name="Google Shape;181;p20"/>
          <p:cNvSpPr txBox="1"/>
          <p:nvPr/>
        </p:nvSpPr>
        <p:spPr>
          <a:xfrm>
            <a:off x="571500" y="3749575"/>
            <a:ext cx="52863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QDA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asume una matriz Σₖ propia para cada clase. Cada grupo tiene su propia orientación y tamaño.</a:t>
            </a:r>
            <a:endParaRPr/>
          </a:p>
        </p:txBody>
      </p:sp>
      <p:pic>
        <p:nvPicPr>
          <p:cNvPr id="182" name="Google Shape;18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2009775"/>
            <a:ext cx="5267325" cy="3790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6775" y="4749700"/>
            <a:ext cx="4752975" cy="139749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0"/>
          <p:cNvSpPr txBox="1"/>
          <p:nvPr/>
        </p:nvSpPr>
        <p:spPr>
          <a:xfrm>
            <a:off x="762000" y="571500"/>
            <a:ext cx="114014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Homocedasticidad</a:t>
            </a:r>
            <a:r>
              <a:rPr lang="en-US" sz="30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vs </a:t>
            </a:r>
            <a:r>
              <a:rPr lang="en-US" sz="30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Heterocedasticidad</a:t>
            </a:r>
            <a:endParaRPr dirty="0"/>
          </a:p>
        </p:txBody>
      </p:sp>
      <p:sp>
        <p:nvSpPr>
          <p:cNvPr id="185" name="Google Shape;185;p20"/>
          <p:cNvSpPr/>
          <p:nvPr/>
        </p:nvSpPr>
        <p:spPr>
          <a:xfrm>
            <a:off x="571500" y="571500"/>
            <a:ext cx="76200" cy="571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91" name="Google Shape;191;p21"/>
          <p:cNvGraphicFramePr/>
          <p:nvPr/>
        </p:nvGraphicFramePr>
        <p:xfrm>
          <a:off x="2431851" y="2457450"/>
          <a:ext cx="7328300" cy="2895625"/>
        </p:xfrm>
        <a:graphic>
          <a:graphicData uri="http://schemas.openxmlformats.org/drawingml/2006/table">
            <a:tbl>
              <a:tblPr firstRow="1" bandRow="1">
                <a:noFill/>
                <a:tableStyleId>{B90AD5D8-DF8C-41D6-B2C2-2F6D6464341E}</a:tableStyleId>
              </a:tblPr>
              <a:tblGrid>
                <a:gridCol w="2047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37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9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Característica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LDA (Lineal)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QDA (Cuadrático)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Supuesto Covarianza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Σ pooled (Única para todas)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Σₖ por clase (Individual)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Frontera de decisión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Lineal (Hiperplano)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Cuadrática (Curva / Elipsoide)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Parámetros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Menos (Baja varianza)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Más (Requiere más datos)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Riesgo Overfit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Bajo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Mayor (Alta </a:t>
                      </a:r>
                      <a:r>
                        <a:rPr lang="en-US" sz="1500" b="0" i="0" u="none" strike="noStrike" cap="none" dirty="0" err="1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flexibilidad</a:t>
                      </a: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2" name="Google Shape;192;p21"/>
          <p:cNvSpPr/>
          <p:nvPr/>
        </p:nvSpPr>
        <p:spPr>
          <a:xfrm>
            <a:off x="2431851" y="3595687"/>
            <a:ext cx="2047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1"/>
          <p:cNvSpPr/>
          <p:nvPr/>
        </p:nvSpPr>
        <p:spPr>
          <a:xfrm>
            <a:off x="4479726" y="3595687"/>
            <a:ext cx="253722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1"/>
          <p:cNvSpPr/>
          <p:nvPr/>
        </p:nvSpPr>
        <p:spPr>
          <a:xfrm>
            <a:off x="7016948" y="3595687"/>
            <a:ext cx="2743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1"/>
          <p:cNvSpPr/>
          <p:nvPr/>
        </p:nvSpPr>
        <p:spPr>
          <a:xfrm>
            <a:off x="2431851" y="4176712"/>
            <a:ext cx="2047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1"/>
          <p:cNvSpPr/>
          <p:nvPr/>
        </p:nvSpPr>
        <p:spPr>
          <a:xfrm>
            <a:off x="4479726" y="4176712"/>
            <a:ext cx="253722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1"/>
          <p:cNvSpPr/>
          <p:nvPr/>
        </p:nvSpPr>
        <p:spPr>
          <a:xfrm>
            <a:off x="7016948" y="4176712"/>
            <a:ext cx="2743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1"/>
          <p:cNvSpPr/>
          <p:nvPr/>
        </p:nvSpPr>
        <p:spPr>
          <a:xfrm>
            <a:off x="2431851" y="4757737"/>
            <a:ext cx="2047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1"/>
          <p:cNvSpPr/>
          <p:nvPr/>
        </p:nvSpPr>
        <p:spPr>
          <a:xfrm>
            <a:off x="4479726" y="4757737"/>
            <a:ext cx="253722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1"/>
          <p:cNvSpPr/>
          <p:nvPr/>
        </p:nvSpPr>
        <p:spPr>
          <a:xfrm>
            <a:off x="7016948" y="4757737"/>
            <a:ext cx="2743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1"/>
          <p:cNvSpPr/>
          <p:nvPr/>
        </p:nvSpPr>
        <p:spPr>
          <a:xfrm>
            <a:off x="2431851" y="5338762"/>
            <a:ext cx="2047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1"/>
          <p:cNvSpPr/>
          <p:nvPr/>
        </p:nvSpPr>
        <p:spPr>
          <a:xfrm>
            <a:off x="4479726" y="5338762"/>
            <a:ext cx="253722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1"/>
          <p:cNvSpPr/>
          <p:nvPr/>
        </p:nvSpPr>
        <p:spPr>
          <a:xfrm>
            <a:off x="7016948" y="5338762"/>
            <a:ext cx="2743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1"/>
          <p:cNvSpPr txBox="1"/>
          <p:nvPr/>
        </p:nvSpPr>
        <p:spPr>
          <a:xfrm>
            <a:off x="762000" y="571500"/>
            <a:ext cx="114014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Duelo Técnico: LDA vs QDA</a:t>
            </a:r>
            <a:endParaRPr/>
          </a:p>
        </p:txBody>
      </p:sp>
      <p:sp>
        <p:nvSpPr>
          <p:cNvPr id="205" name="Google Shape;205;p21"/>
          <p:cNvSpPr/>
          <p:nvPr/>
        </p:nvSpPr>
        <p:spPr>
          <a:xfrm>
            <a:off x="571500" y="571500"/>
            <a:ext cx="76200" cy="571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2"/>
          <p:cNvSpPr txBox="1"/>
          <p:nvPr/>
        </p:nvSpPr>
        <p:spPr>
          <a:xfrm>
            <a:off x="571500" y="1657350"/>
            <a:ext cx="52006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Geometría Bayesiana</a:t>
            </a:r>
            <a:endParaRPr/>
          </a:p>
        </p:txBody>
      </p:sp>
      <p:sp>
        <p:nvSpPr>
          <p:cNvPr id="212" name="Google Shape;212;p22"/>
          <p:cNvSpPr txBox="1"/>
          <p:nvPr/>
        </p:nvSpPr>
        <p:spPr>
          <a:xfrm>
            <a:off x="571500" y="2609850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Al permitir covarianzas distintas, la frontera se vuelve </a:t>
            </a: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no lineal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 QDA es capaz de "rodear" a una clase muy compacta dentro de otra muy dispersa.</a:t>
            </a:r>
            <a:endParaRPr/>
          </a:p>
        </p:txBody>
      </p:sp>
      <p:sp>
        <p:nvSpPr>
          <p:cNvPr id="213" name="Google Shape;213;p22"/>
          <p:cNvSpPr txBox="1"/>
          <p:nvPr/>
        </p:nvSpPr>
        <p:spPr>
          <a:xfrm>
            <a:off x="571500" y="3609975"/>
            <a:ext cx="4953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Cuándo elegir QDA:</a:t>
            </a:r>
            <a:endParaRPr/>
          </a:p>
        </p:txBody>
      </p:sp>
      <p:pic>
        <p:nvPicPr>
          <p:cNvPr id="214" name="Google Shape;214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2"/>
          <p:cNvSpPr txBox="1"/>
          <p:nvPr/>
        </p:nvSpPr>
        <p:spPr>
          <a:xfrm>
            <a:off x="838200" y="4191000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6" name="Google Shape;216;p22"/>
          <p:cNvSpPr txBox="1"/>
          <p:nvPr/>
        </p:nvSpPr>
        <p:spPr>
          <a:xfrm>
            <a:off x="952500" y="4191000"/>
            <a:ext cx="4572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Matrices de covarianza muy distintas.</a:t>
            </a:r>
            <a:endParaRPr/>
          </a:p>
        </p:txBody>
      </p:sp>
      <p:sp>
        <p:nvSpPr>
          <p:cNvPr id="217" name="Google Shape;217;p22"/>
          <p:cNvSpPr txBox="1"/>
          <p:nvPr/>
        </p:nvSpPr>
        <p:spPr>
          <a:xfrm>
            <a:off x="838200" y="4476750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8" name="Google Shape;218;p22"/>
          <p:cNvSpPr txBox="1"/>
          <p:nvPr/>
        </p:nvSpPr>
        <p:spPr>
          <a:xfrm>
            <a:off x="952500" y="4476750"/>
            <a:ext cx="4572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Datasets grandes (evita overfit).</a:t>
            </a:r>
            <a:endParaRPr/>
          </a:p>
        </p:txBody>
      </p:sp>
      <p:sp>
        <p:nvSpPr>
          <p:cNvPr id="219" name="Google Shape;219;p22"/>
          <p:cNvSpPr txBox="1"/>
          <p:nvPr/>
        </p:nvSpPr>
        <p:spPr>
          <a:xfrm>
            <a:off x="838200" y="4762500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20" name="Google Shape;220;p22"/>
          <p:cNvSpPr txBox="1"/>
          <p:nvPr/>
        </p:nvSpPr>
        <p:spPr>
          <a:xfrm>
            <a:off x="952500" y="4762500"/>
            <a:ext cx="4572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Fronteras evidentemente curvas.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3"/>
          <p:cNvSpPr txBox="1"/>
          <p:nvPr/>
        </p:nvSpPr>
        <p:spPr>
          <a:xfrm>
            <a:off x="571500" y="2490787"/>
            <a:ext cx="11049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B82F6"/>
                </a:solidFill>
                <a:latin typeface="Lato"/>
                <a:ea typeface="Lato"/>
                <a:cs typeface="Lato"/>
                <a:sym typeface="Lato"/>
              </a:rPr>
              <a:t>CAPÍTULO III</a:t>
            </a:r>
            <a:endParaRPr/>
          </a:p>
        </p:txBody>
      </p:sp>
      <p:sp>
        <p:nvSpPr>
          <p:cNvPr id="227" name="Google Shape;227;p23"/>
          <p:cNvSpPr txBox="1"/>
          <p:nvPr/>
        </p:nvSpPr>
        <p:spPr>
          <a:xfrm>
            <a:off x="295275" y="2919412"/>
            <a:ext cx="1160145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Caso: Segmentación Retail</a:t>
            </a:r>
            <a:endParaRPr/>
          </a:p>
        </p:txBody>
      </p:sp>
      <p:sp>
        <p:nvSpPr>
          <p:cNvPr id="228" name="Google Shape;228;p23"/>
          <p:cNvSpPr/>
          <p:nvPr/>
        </p:nvSpPr>
        <p:spPr>
          <a:xfrm>
            <a:off x="5715000" y="3538537"/>
            <a:ext cx="762000" cy="571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3"/>
          <p:cNvSpPr txBox="1"/>
          <p:nvPr/>
        </p:nvSpPr>
        <p:spPr>
          <a:xfrm>
            <a:off x="571500" y="3881437"/>
            <a:ext cx="11049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De los datos al perfil estratégico del cliente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52637"/>
            <a:ext cx="3492400" cy="3705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052637"/>
            <a:ext cx="3492549" cy="3705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7950" y="2052637"/>
            <a:ext cx="3492400" cy="3705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347912"/>
            <a:ext cx="290185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2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4925" y="2347912"/>
            <a:ext cx="2901999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2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3225" y="2347912"/>
            <a:ext cx="2901850" cy="171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4"/>
          <p:cNvSpPr txBox="1"/>
          <p:nvPr/>
        </p:nvSpPr>
        <p:spPr>
          <a:xfrm>
            <a:off x="794228" y="4205287"/>
            <a:ext cx="304694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Familiar</a:t>
            </a:r>
            <a:endParaRPr/>
          </a:p>
        </p:txBody>
      </p:sp>
      <p:sp>
        <p:nvSpPr>
          <p:cNvPr id="242" name="Google Shape;242;p24"/>
          <p:cNvSpPr txBox="1"/>
          <p:nvPr/>
        </p:nvSpPr>
        <p:spPr>
          <a:xfrm>
            <a:off x="866775" y="4748212"/>
            <a:ext cx="29018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Alta frecuencia, ticket alto, </a:t>
            </a: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poca actividad online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243" name="Google Shape;243;p24"/>
          <p:cNvSpPr txBox="1"/>
          <p:nvPr/>
        </p:nvSpPr>
        <p:spPr>
          <a:xfrm>
            <a:off x="4572375" y="4205287"/>
            <a:ext cx="304709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Joven Urbano</a:t>
            </a:r>
            <a:endParaRPr/>
          </a:p>
        </p:txBody>
      </p:sp>
      <p:sp>
        <p:nvSpPr>
          <p:cNvPr id="244" name="Google Shape;244;p24"/>
          <p:cNvSpPr txBox="1"/>
          <p:nvPr/>
        </p:nvSpPr>
        <p:spPr>
          <a:xfrm>
            <a:off x="4644925" y="4748212"/>
            <a:ext cx="2901999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Frecuencia media, </a:t>
            </a: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100% online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, busca descuentos.</a:t>
            </a:r>
            <a:endParaRPr/>
          </a:p>
        </p:txBody>
      </p:sp>
      <p:sp>
        <p:nvSpPr>
          <p:cNvPr id="245" name="Google Shape;245;p24"/>
          <p:cNvSpPr txBox="1"/>
          <p:nvPr/>
        </p:nvSpPr>
        <p:spPr>
          <a:xfrm>
            <a:off x="8350679" y="4205287"/>
            <a:ext cx="304694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Senior</a:t>
            </a:r>
            <a:endParaRPr/>
          </a:p>
        </p:txBody>
      </p:sp>
      <p:sp>
        <p:nvSpPr>
          <p:cNvPr id="246" name="Google Shape;246;p24"/>
          <p:cNvSpPr txBox="1"/>
          <p:nvPr/>
        </p:nvSpPr>
        <p:spPr>
          <a:xfrm>
            <a:off x="8423225" y="4748212"/>
            <a:ext cx="29018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Frecuencia alta, </a:t>
            </a: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ticket bajo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, compras de cercanía.</a:t>
            </a:r>
            <a:endParaRPr/>
          </a:p>
        </p:txBody>
      </p:sp>
      <p:pic>
        <p:nvPicPr>
          <p:cNvPr id="247" name="Google Shape;247;p2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6300" y="2357437"/>
            <a:ext cx="2882800" cy="169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654450" y="2357437"/>
            <a:ext cx="2882949" cy="169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432750" y="2357437"/>
            <a:ext cx="2882800" cy="169545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4"/>
          <p:cNvSpPr txBox="1"/>
          <p:nvPr/>
        </p:nvSpPr>
        <p:spPr>
          <a:xfrm>
            <a:off x="762000" y="571500"/>
            <a:ext cx="114014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03. Perfiles de Segmento</a:t>
            </a:r>
            <a:endParaRPr/>
          </a:p>
        </p:txBody>
      </p:sp>
      <p:sp>
        <p:nvSpPr>
          <p:cNvPr id="251" name="Google Shape;251;p24"/>
          <p:cNvSpPr/>
          <p:nvPr/>
        </p:nvSpPr>
        <p:spPr>
          <a:xfrm>
            <a:off x="571500" y="571500"/>
            <a:ext cx="76200" cy="571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24000"/>
            <a:ext cx="11049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25"/>
          <p:cNvSpPr txBox="1"/>
          <p:nvPr/>
        </p:nvSpPr>
        <p:spPr>
          <a:xfrm>
            <a:off x="1400175" y="4805362"/>
            <a:ext cx="9391650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Veredicto:</a:t>
            </a:r>
            <a:r>
              <a:rPr lang="en-US" sz="1500" b="0" i="0" u="none" strike="noStrike" cap="non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 El mejor desempeño de QDA sugiere que las varianzas entre segmentos son significativamente distintas.</a:t>
            </a:r>
            <a:endParaRPr/>
          </a:p>
        </p:txBody>
      </p:sp>
      <p:sp>
        <p:nvSpPr>
          <p:cNvPr id="259" name="Google Shape;259;p25"/>
          <p:cNvSpPr/>
          <p:nvPr/>
        </p:nvSpPr>
        <p:spPr>
          <a:xfrm>
            <a:off x="1400175" y="4614862"/>
            <a:ext cx="93916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5"/>
          <p:cNvSpPr txBox="1"/>
          <p:nvPr/>
        </p:nvSpPr>
        <p:spPr>
          <a:xfrm>
            <a:off x="762000" y="571500"/>
            <a:ext cx="114014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Competencia de Modelos</a:t>
            </a:r>
            <a:endParaRPr/>
          </a:p>
        </p:txBody>
      </p:sp>
      <p:sp>
        <p:nvSpPr>
          <p:cNvPr id="261" name="Google Shape;261;p25"/>
          <p:cNvSpPr/>
          <p:nvPr/>
        </p:nvSpPr>
        <p:spPr>
          <a:xfrm>
            <a:off x="571500" y="571500"/>
            <a:ext cx="76200" cy="571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6"/>
          <p:cNvSpPr txBox="1"/>
          <p:nvPr/>
        </p:nvSpPr>
        <p:spPr>
          <a:xfrm>
            <a:off x="571500" y="2624137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¿Qué discrimina más?</a:t>
            </a:r>
            <a:endParaRPr/>
          </a:p>
        </p:txBody>
      </p:sp>
      <p:sp>
        <p:nvSpPr>
          <p:cNvPr id="269" name="Google Shape;269;p26"/>
          <p:cNvSpPr txBox="1"/>
          <p:nvPr/>
        </p:nvSpPr>
        <p:spPr>
          <a:xfrm>
            <a:off x="571500" y="3167062"/>
            <a:ext cx="52863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Los coeficientes nos indican la fuerza de cada variable en la clasificación:</a:t>
            </a:r>
            <a:endParaRPr/>
          </a:p>
        </p:txBody>
      </p:sp>
      <p:pic>
        <p:nvPicPr>
          <p:cNvPr id="270" name="Google Shape;270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2009775"/>
            <a:ext cx="526732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6"/>
          <p:cNvSpPr txBox="1"/>
          <p:nvPr/>
        </p:nvSpPr>
        <p:spPr>
          <a:xfrm>
            <a:off x="571500" y="3890962"/>
            <a:ext cx="5286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14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freq_visitas</a:t>
            </a:r>
            <a:r>
              <a:rPr lang="en-US" sz="1500" b="1" i="0" u="none" strike="noStrike" cap="none" dirty="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 (+0.82):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Define 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Familias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/Seniors.</a:t>
            </a:r>
            <a:endParaRPr dirty="0"/>
          </a:p>
        </p:txBody>
      </p:sp>
      <p:sp>
        <p:nvSpPr>
          <p:cNvPr id="272" name="Google Shape;272;p26"/>
          <p:cNvSpPr txBox="1"/>
          <p:nvPr/>
        </p:nvSpPr>
        <p:spPr>
          <a:xfrm>
            <a:off x="571500" y="4319587"/>
            <a:ext cx="5286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14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compras_online</a:t>
            </a:r>
            <a:r>
              <a:rPr lang="en-US" sz="1500" b="1" i="0" u="none" strike="noStrike" cap="none" dirty="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 (-0.74):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Distingue al Joven Urbano.</a:t>
            </a:r>
            <a:endParaRPr dirty="0"/>
          </a:p>
        </p:txBody>
      </p:sp>
      <p:sp>
        <p:nvSpPr>
          <p:cNvPr id="273" name="Google Shape;273;p26"/>
          <p:cNvSpPr txBox="1"/>
          <p:nvPr/>
        </p:nvSpPr>
        <p:spPr>
          <a:xfrm>
            <a:off x="571500" y="4748212"/>
            <a:ext cx="5286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14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ticket_prom</a:t>
            </a:r>
            <a:r>
              <a:rPr lang="en-US" sz="1500" b="1" i="0" u="none" strike="noStrike" cap="none" dirty="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 (+0.61):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Clave para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el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perfil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Familiar.</a:t>
            </a:r>
            <a:endParaRPr dirty="0"/>
          </a:p>
        </p:txBody>
      </p:sp>
      <p:pic>
        <p:nvPicPr>
          <p:cNvPr id="274" name="Google Shape;274;p2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943350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2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37197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800600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6"/>
          <p:cNvSpPr txBox="1"/>
          <p:nvPr/>
        </p:nvSpPr>
        <p:spPr>
          <a:xfrm>
            <a:off x="762000" y="571500"/>
            <a:ext cx="114014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Interpretación de LD1</a:t>
            </a:r>
            <a:endParaRPr/>
          </a:p>
        </p:txBody>
      </p:sp>
      <p:sp>
        <p:nvSpPr>
          <p:cNvPr id="278" name="Google Shape;278;p26"/>
          <p:cNvSpPr/>
          <p:nvPr/>
        </p:nvSpPr>
        <p:spPr>
          <a:xfrm>
            <a:off x="571500" y="571500"/>
            <a:ext cx="76200" cy="571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15062" y="4795344"/>
            <a:ext cx="5286375" cy="66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2009775"/>
            <a:ext cx="526732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27"/>
          <p:cNvSpPr txBox="1"/>
          <p:nvPr/>
        </p:nvSpPr>
        <p:spPr>
          <a:xfrm>
            <a:off x="6334125" y="2705100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¿Dónde fallamos?</a:t>
            </a:r>
            <a:endParaRPr/>
          </a:p>
        </p:txBody>
      </p:sp>
      <p:sp>
        <p:nvSpPr>
          <p:cNvPr id="288" name="Google Shape;288;p27"/>
          <p:cNvSpPr txBox="1"/>
          <p:nvPr/>
        </p:nvSpPr>
        <p:spPr>
          <a:xfrm>
            <a:off x="6334125" y="3248025"/>
            <a:ext cx="5286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Observamos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que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Seniors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suelen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confundirse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con las </a:t>
            </a:r>
            <a:r>
              <a:rPr lang="en-US" sz="1500" b="1" i="0" u="none" strike="noStrike" cap="none" dirty="0" err="1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Familias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289" name="Google Shape;289;p27"/>
          <p:cNvSpPr txBox="1"/>
          <p:nvPr/>
        </p:nvSpPr>
        <p:spPr>
          <a:xfrm>
            <a:off x="6324598" y="3954353"/>
            <a:ext cx="52863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Esto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ocurre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porque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comparten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una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frecuencia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alta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; la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diferencia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radica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el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ticket,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que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veces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se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solapa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290" name="Google Shape;290;p27"/>
          <p:cNvSpPr txBox="1"/>
          <p:nvPr/>
        </p:nvSpPr>
        <p:spPr>
          <a:xfrm>
            <a:off x="6334125" y="4985844"/>
            <a:ext cx="4857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BE123C"/>
                </a:solidFill>
                <a:latin typeface="Lato"/>
                <a:ea typeface="Lato"/>
                <a:cs typeface="Lato"/>
                <a:sym typeface="Lato"/>
              </a:rPr>
              <a:t>Ojo: El error no es </a:t>
            </a:r>
            <a:r>
              <a:rPr lang="en-US" sz="1500" b="1" i="0" u="none" strike="noStrike" cap="none" dirty="0" err="1">
                <a:solidFill>
                  <a:srgbClr val="BE123C"/>
                </a:solidFill>
                <a:latin typeface="Lato"/>
                <a:ea typeface="Lato"/>
                <a:cs typeface="Lato"/>
                <a:sym typeface="Lato"/>
              </a:rPr>
              <a:t>uniforme</a:t>
            </a:r>
            <a:r>
              <a:rPr lang="en-US" sz="1500" b="1" i="0" u="none" strike="noStrike" cap="none" dirty="0">
                <a:solidFill>
                  <a:srgbClr val="BE123C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 err="1">
                <a:solidFill>
                  <a:srgbClr val="BE123C"/>
                </a:solidFill>
                <a:latin typeface="Lato"/>
                <a:ea typeface="Lato"/>
                <a:cs typeface="Lato"/>
                <a:sym typeface="Lato"/>
              </a:rPr>
              <a:t>por</a:t>
            </a:r>
            <a:r>
              <a:rPr lang="en-US" sz="1500" b="1" i="0" u="none" strike="noStrike" cap="none" dirty="0">
                <a:solidFill>
                  <a:srgbClr val="BE123C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 err="1">
                <a:solidFill>
                  <a:srgbClr val="BE123C"/>
                </a:solidFill>
                <a:latin typeface="Lato"/>
                <a:ea typeface="Lato"/>
                <a:cs typeface="Lato"/>
                <a:sym typeface="Lato"/>
              </a:rPr>
              <a:t>segmento</a:t>
            </a:r>
            <a:r>
              <a:rPr lang="en-US" sz="1500" b="1" i="0" u="none" strike="noStrike" cap="none" dirty="0">
                <a:solidFill>
                  <a:srgbClr val="BE123C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291" name="Google Shape;291;p27"/>
          <p:cNvSpPr txBox="1"/>
          <p:nvPr/>
        </p:nvSpPr>
        <p:spPr>
          <a:xfrm>
            <a:off x="762000" y="571500"/>
            <a:ext cx="114014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Matriz de Confusión por Clase</a:t>
            </a:r>
            <a:endParaRPr/>
          </a:p>
        </p:txBody>
      </p:sp>
      <p:sp>
        <p:nvSpPr>
          <p:cNvPr id="292" name="Google Shape;292;p27"/>
          <p:cNvSpPr/>
          <p:nvPr/>
        </p:nvSpPr>
        <p:spPr>
          <a:xfrm>
            <a:off x="571500" y="571500"/>
            <a:ext cx="76200" cy="571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7" name="Google Shape;297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28925"/>
            <a:ext cx="5381625" cy="215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2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2828925"/>
            <a:ext cx="5381625" cy="215265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28"/>
          <p:cNvSpPr txBox="1"/>
          <p:nvPr/>
        </p:nvSpPr>
        <p:spPr>
          <a:xfrm>
            <a:off x="866775" y="3124200"/>
            <a:ext cx="503062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Técnico</a:t>
            </a:r>
            <a:endParaRPr/>
          </a:p>
        </p:txBody>
      </p:sp>
      <p:sp>
        <p:nvSpPr>
          <p:cNvPr id="301" name="Google Shape;301;p28"/>
          <p:cNvSpPr txBox="1"/>
          <p:nvPr/>
        </p:nvSpPr>
        <p:spPr>
          <a:xfrm>
            <a:off x="6534150" y="3124200"/>
            <a:ext cx="503062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Negocio</a:t>
            </a:r>
            <a:endParaRPr/>
          </a:p>
        </p:txBody>
      </p:sp>
      <p:sp>
        <p:nvSpPr>
          <p:cNvPr id="302" name="Google Shape;302;p28"/>
          <p:cNvSpPr txBox="1"/>
          <p:nvPr/>
        </p:nvSpPr>
        <p:spPr>
          <a:xfrm>
            <a:off x="1133475" y="3676650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303" name="Google Shape;303;p28"/>
          <p:cNvSpPr txBox="1"/>
          <p:nvPr/>
        </p:nvSpPr>
        <p:spPr>
          <a:xfrm>
            <a:off x="1247775" y="3676650"/>
            <a:ext cx="44100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LDA: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Robusto, lineal, homocedástico.</a:t>
            </a:r>
            <a:endParaRPr/>
          </a:p>
        </p:txBody>
      </p:sp>
      <p:sp>
        <p:nvSpPr>
          <p:cNvPr id="304" name="Google Shape;304;p28"/>
          <p:cNvSpPr txBox="1"/>
          <p:nvPr/>
        </p:nvSpPr>
        <p:spPr>
          <a:xfrm>
            <a:off x="1133475" y="3962400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305" name="Google Shape;305;p28"/>
          <p:cNvSpPr txBox="1"/>
          <p:nvPr/>
        </p:nvSpPr>
        <p:spPr>
          <a:xfrm>
            <a:off x="1247775" y="3962400"/>
            <a:ext cx="44100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QDA: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Flexible, curvo, heterocedástico.</a:t>
            </a:r>
            <a:endParaRPr/>
          </a:p>
        </p:txBody>
      </p:sp>
      <p:sp>
        <p:nvSpPr>
          <p:cNvPr id="306" name="Google Shape;306;p28"/>
          <p:cNvSpPr txBox="1"/>
          <p:nvPr/>
        </p:nvSpPr>
        <p:spPr>
          <a:xfrm>
            <a:off x="1133475" y="4248150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307" name="Google Shape;307;p28"/>
          <p:cNvSpPr txBox="1"/>
          <p:nvPr/>
        </p:nvSpPr>
        <p:spPr>
          <a:xfrm>
            <a:off x="1247775" y="4248150"/>
            <a:ext cx="44100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Score: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Medida de incertidumbre bayesiana.</a:t>
            </a:r>
            <a:endParaRPr/>
          </a:p>
        </p:txBody>
      </p:sp>
      <p:sp>
        <p:nvSpPr>
          <p:cNvPr id="308" name="Google Shape;308;p28"/>
          <p:cNvSpPr txBox="1"/>
          <p:nvPr/>
        </p:nvSpPr>
        <p:spPr>
          <a:xfrm>
            <a:off x="6800850" y="3676650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309" name="Google Shape;309;p28"/>
          <p:cNvSpPr txBox="1"/>
          <p:nvPr/>
        </p:nvSpPr>
        <p:spPr>
          <a:xfrm>
            <a:off x="6915150" y="3676650"/>
            <a:ext cx="44100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Segmentar para personalizar campañas.</a:t>
            </a:r>
            <a:endParaRPr/>
          </a:p>
        </p:txBody>
      </p:sp>
      <p:sp>
        <p:nvSpPr>
          <p:cNvPr id="310" name="Google Shape;310;p28"/>
          <p:cNvSpPr txBox="1"/>
          <p:nvPr/>
        </p:nvSpPr>
        <p:spPr>
          <a:xfrm>
            <a:off x="6800850" y="3962400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311" name="Google Shape;311;p28"/>
          <p:cNvSpPr txBox="1"/>
          <p:nvPr/>
        </p:nvSpPr>
        <p:spPr>
          <a:xfrm>
            <a:off x="6915150" y="3962400"/>
            <a:ext cx="44100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Identificar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casos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inciertos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para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revisión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humana.</a:t>
            </a:r>
            <a:endParaRPr dirty="0"/>
          </a:p>
        </p:txBody>
      </p:sp>
      <p:sp>
        <p:nvSpPr>
          <p:cNvPr id="312" name="Google Shape;312;p28"/>
          <p:cNvSpPr txBox="1"/>
          <p:nvPr/>
        </p:nvSpPr>
        <p:spPr>
          <a:xfrm>
            <a:off x="6800850" y="4248150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313" name="Google Shape;313;p28"/>
          <p:cNvSpPr txBox="1"/>
          <p:nvPr/>
        </p:nvSpPr>
        <p:spPr>
          <a:xfrm>
            <a:off x="6915150" y="4248150"/>
            <a:ext cx="44100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Analizar errores por nicho, no solo el promedio.</a:t>
            </a:r>
            <a:endParaRPr/>
          </a:p>
        </p:txBody>
      </p:sp>
      <p:sp>
        <p:nvSpPr>
          <p:cNvPr id="314" name="Google Shape;314;p28"/>
          <p:cNvSpPr txBox="1"/>
          <p:nvPr/>
        </p:nvSpPr>
        <p:spPr>
          <a:xfrm>
            <a:off x="762000" y="571500"/>
            <a:ext cx="114014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Resumen Estratégico</a:t>
            </a:r>
            <a:endParaRPr/>
          </a:p>
        </p:txBody>
      </p:sp>
      <p:sp>
        <p:nvSpPr>
          <p:cNvPr id="315" name="Google Shape;315;p28"/>
          <p:cNvSpPr/>
          <p:nvPr/>
        </p:nvSpPr>
        <p:spPr>
          <a:xfrm>
            <a:off x="571500" y="571500"/>
            <a:ext cx="76200" cy="571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Google Shape;320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29"/>
          <p:cNvSpPr txBox="1"/>
          <p:nvPr/>
        </p:nvSpPr>
        <p:spPr>
          <a:xfrm>
            <a:off x="295275" y="2157412"/>
            <a:ext cx="1160145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¿Preguntas?</a:t>
            </a:r>
            <a:endParaRPr/>
          </a:p>
        </p:txBody>
      </p:sp>
      <p:sp>
        <p:nvSpPr>
          <p:cNvPr id="322" name="Google Shape;322;p29"/>
          <p:cNvSpPr txBox="1"/>
          <p:nvPr/>
        </p:nvSpPr>
        <p:spPr>
          <a:xfrm>
            <a:off x="571500" y="2681287"/>
            <a:ext cx="1104900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Análisis Discriminante Avanzado</a:t>
            </a:r>
            <a:endParaRPr/>
          </a:p>
        </p:txBody>
      </p:sp>
      <p:sp>
        <p:nvSpPr>
          <p:cNvPr id="323" name="Google Shape;323;p29"/>
          <p:cNvSpPr/>
          <p:nvPr/>
        </p:nvSpPr>
        <p:spPr>
          <a:xfrm>
            <a:off x="5715000" y="3338512"/>
            <a:ext cx="762000" cy="571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9"/>
          <p:cNvSpPr txBox="1"/>
          <p:nvPr/>
        </p:nvSpPr>
        <p:spPr>
          <a:xfrm>
            <a:off x="571500" y="3871912"/>
            <a:ext cx="11049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Docente: Josef Rodriguez</a:t>
            </a:r>
            <a:endParaRPr/>
          </a:p>
        </p:txBody>
      </p:sp>
      <p:sp>
        <p:nvSpPr>
          <p:cNvPr id="325" name="Google Shape;325;p29"/>
          <p:cNvSpPr txBox="1"/>
          <p:nvPr/>
        </p:nvSpPr>
        <p:spPr>
          <a:xfrm>
            <a:off x="571500" y="4300537"/>
            <a:ext cx="110490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Próximo Módulo: PCA &amp; Reducción de Dimensionalidad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0" name="Google Shape;330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30"/>
          <p:cNvSpPr/>
          <p:nvPr/>
        </p:nvSpPr>
        <p:spPr>
          <a:xfrm>
            <a:off x="571500" y="1423987"/>
            <a:ext cx="110490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30"/>
          <p:cNvSpPr/>
          <p:nvPr/>
        </p:nvSpPr>
        <p:spPr>
          <a:xfrm>
            <a:off x="571500" y="2366962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30"/>
          <p:cNvSpPr/>
          <p:nvPr/>
        </p:nvSpPr>
        <p:spPr>
          <a:xfrm>
            <a:off x="571500" y="3138487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30"/>
          <p:cNvSpPr/>
          <p:nvPr/>
        </p:nvSpPr>
        <p:spPr>
          <a:xfrm>
            <a:off x="571500" y="3910012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30"/>
          <p:cNvSpPr/>
          <p:nvPr/>
        </p:nvSpPr>
        <p:spPr>
          <a:xfrm>
            <a:off x="571500" y="4681537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30"/>
          <p:cNvSpPr/>
          <p:nvPr/>
        </p:nvSpPr>
        <p:spPr>
          <a:xfrm>
            <a:off x="571500" y="23574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30"/>
          <p:cNvSpPr/>
          <p:nvPr/>
        </p:nvSpPr>
        <p:spPr>
          <a:xfrm>
            <a:off x="571500" y="23574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30"/>
          <p:cNvSpPr/>
          <p:nvPr/>
        </p:nvSpPr>
        <p:spPr>
          <a:xfrm>
            <a:off x="571500" y="312896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30"/>
          <p:cNvSpPr/>
          <p:nvPr/>
        </p:nvSpPr>
        <p:spPr>
          <a:xfrm>
            <a:off x="571500" y="312896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30"/>
          <p:cNvSpPr/>
          <p:nvPr/>
        </p:nvSpPr>
        <p:spPr>
          <a:xfrm>
            <a:off x="571500" y="390048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30"/>
          <p:cNvSpPr/>
          <p:nvPr/>
        </p:nvSpPr>
        <p:spPr>
          <a:xfrm>
            <a:off x="571500" y="390048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30"/>
          <p:cNvSpPr/>
          <p:nvPr/>
        </p:nvSpPr>
        <p:spPr>
          <a:xfrm>
            <a:off x="571500" y="467201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30"/>
          <p:cNvSpPr/>
          <p:nvPr/>
        </p:nvSpPr>
        <p:spPr>
          <a:xfrm>
            <a:off x="571500" y="467201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30"/>
          <p:cNvSpPr/>
          <p:nvPr/>
        </p:nvSpPr>
        <p:spPr>
          <a:xfrm>
            <a:off x="571500" y="54435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30"/>
          <p:cNvSpPr/>
          <p:nvPr/>
        </p:nvSpPr>
        <p:spPr>
          <a:xfrm>
            <a:off x="571500" y="54435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6" name="Google Shape;346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652587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0"/>
          <p:cNvSpPr txBox="1"/>
          <p:nvPr/>
        </p:nvSpPr>
        <p:spPr>
          <a:xfrm>
            <a:off x="1666875" y="1566862"/>
            <a:ext cx="995362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https://static.vecteezy.com/system/resources/previews/058/001/075/non_2x/abstract-network-connection-lines-and-dots-background-digital-plexus-technology-futuristic-network-concept-of-big-data-visualization-artificial-intelligence-science-molecular-and-chemical-vector.jpg</a:t>
            </a:r>
            <a:endParaRPr/>
          </a:p>
        </p:txBody>
      </p:sp>
      <p:sp>
        <p:nvSpPr>
          <p:cNvPr id="348" name="Google Shape;348;p30"/>
          <p:cNvSpPr txBox="1"/>
          <p:nvPr/>
        </p:nvSpPr>
        <p:spPr>
          <a:xfrm>
            <a:off x="1666875" y="1985962"/>
            <a:ext cx="9953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www.vecteezy.com</a:t>
            </a:r>
            <a:endParaRPr/>
          </a:p>
        </p:txBody>
      </p:sp>
      <p:pic>
        <p:nvPicPr>
          <p:cNvPr id="349" name="Google Shape;349;p3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509837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30"/>
          <p:cNvSpPr txBox="1"/>
          <p:nvPr/>
        </p:nvSpPr>
        <p:spPr>
          <a:xfrm>
            <a:off x="1666875" y="2516981"/>
            <a:ext cx="995362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https://sebastianraschka.com/images/blog/2014/linear-discriminant-analysis/lda_1.png</a:t>
            </a:r>
            <a:endParaRPr/>
          </a:p>
        </p:txBody>
      </p:sp>
      <p:sp>
        <p:nvSpPr>
          <p:cNvPr id="351" name="Google Shape;351;p30"/>
          <p:cNvSpPr txBox="1"/>
          <p:nvPr/>
        </p:nvSpPr>
        <p:spPr>
          <a:xfrm>
            <a:off x="1666875" y="2750343"/>
            <a:ext cx="9953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sebastianraschka.com</a:t>
            </a:r>
            <a:endParaRPr/>
          </a:p>
        </p:txBody>
      </p:sp>
      <p:pic>
        <p:nvPicPr>
          <p:cNvPr id="352" name="Google Shape;352;p3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281362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30"/>
          <p:cNvSpPr txBox="1"/>
          <p:nvPr/>
        </p:nvSpPr>
        <p:spPr>
          <a:xfrm>
            <a:off x="1666875" y="3288506"/>
            <a:ext cx="995362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https://bunny-wp-pullzone-3xue3q6yzy.b-cdn.net/wp-content/uploads/2024/11/EM-BLOG-what-does-a-data-scientist-do-2054965214.png</a:t>
            </a:r>
            <a:endParaRPr/>
          </a:p>
        </p:txBody>
      </p:sp>
      <p:sp>
        <p:nvSpPr>
          <p:cNvPr id="354" name="Google Shape;354;p30"/>
          <p:cNvSpPr txBox="1"/>
          <p:nvPr/>
        </p:nvSpPr>
        <p:spPr>
          <a:xfrm>
            <a:off x="1666875" y="3521868"/>
            <a:ext cx="9953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graduate.northeastern.edu</a:t>
            </a:r>
            <a:endParaRPr/>
          </a:p>
        </p:txBody>
      </p:sp>
      <p:pic>
        <p:nvPicPr>
          <p:cNvPr id="355" name="Google Shape;355;p3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052887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30"/>
          <p:cNvSpPr txBox="1"/>
          <p:nvPr/>
        </p:nvSpPr>
        <p:spPr>
          <a:xfrm>
            <a:off x="1666875" y="4060031"/>
            <a:ext cx="995362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https://intuitivetutorial.com/wp-content/uploads/2021/01/Normal_Distribution_PDF-1.jpg</a:t>
            </a:r>
            <a:endParaRPr/>
          </a:p>
        </p:txBody>
      </p:sp>
      <p:sp>
        <p:nvSpPr>
          <p:cNvPr id="357" name="Google Shape;357;p30"/>
          <p:cNvSpPr txBox="1"/>
          <p:nvPr/>
        </p:nvSpPr>
        <p:spPr>
          <a:xfrm>
            <a:off x="1666875" y="4293393"/>
            <a:ext cx="9953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intuitivetutorial.com</a:t>
            </a:r>
            <a:endParaRPr/>
          </a:p>
        </p:txBody>
      </p:sp>
      <p:pic>
        <p:nvPicPr>
          <p:cNvPr id="358" name="Google Shape;358;p3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1500" y="4824412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0"/>
          <p:cNvSpPr txBox="1"/>
          <p:nvPr/>
        </p:nvSpPr>
        <p:spPr>
          <a:xfrm>
            <a:off x="1666875" y="4831556"/>
            <a:ext cx="995362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https://i.sstatic.net/5PuaD.jpg</a:t>
            </a:r>
            <a:endParaRPr/>
          </a:p>
        </p:txBody>
      </p:sp>
      <p:sp>
        <p:nvSpPr>
          <p:cNvPr id="360" name="Google Shape;360;p30"/>
          <p:cNvSpPr txBox="1"/>
          <p:nvPr/>
        </p:nvSpPr>
        <p:spPr>
          <a:xfrm>
            <a:off x="1666875" y="5064918"/>
            <a:ext cx="9953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stackoverflow.com</a:t>
            </a:r>
            <a:endParaRPr/>
          </a:p>
        </p:txBody>
      </p:sp>
      <p:pic>
        <p:nvPicPr>
          <p:cNvPr id="361" name="Google Shape;361;p3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71500" y="5681662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30"/>
          <p:cNvSpPr txBox="1"/>
          <p:nvPr/>
        </p:nvSpPr>
        <p:spPr>
          <a:xfrm>
            <a:off x="1666875" y="5595937"/>
            <a:ext cx="995362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https://static.vecteezy.com/system/resources/thumbnails/067/519/474/small/portrait-of-happy-black-family-posing-together-at-grocery-store-african-american-parents-with-cute-daughter-looking-at-camera-and-smiling-at-shopping-mall-satisfied-customers-at-supermarket-photo.jpg</a:t>
            </a:r>
            <a:endParaRPr/>
          </a:p>
        </p:txBody>
      </p:sp>
      <p:sp>
        <p:nvSpPr>
          <p:cNvPr id="363" name="Google Shape;363;p30"/>
          <p:cNvSpPr txBox="1"/>
          <p:nvPr/>
        </p:nvSpPr>
        <p:spPr>
          <a:xfrm>
            <a:off x="1666875" y="6015037"/>
            <a:ext cx="9953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www.vecteezy.com</a:t>
            </a:r>
            <a:endParaRPr/>
          </a:p>
        </p:txBody>
      </p:sp>
      <p:sp>
        <p:nvSpPr>
          <p:cNvPr id="364" name="Google Shape;364;p30"/>
          <p:cNvSpPr txBox="1"/>
          <p:nvPr/>
        </p:nvSpPr>
        <p:spPr>
          <a:xfrm>
            <a:off x="762000" y="471487"/>
            <a:ext cx="114014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Image Sources</a:t>
            </a:r>
            <a:endParaRPr/>
          </a:p>
        </p:txBody>
      </p:sp>
      <p:sp>
        <p:nvSpPr>
          <p:cNvPr id="365" name="Google Shape;365;p30"/>
          <p:cNvSpPr/>
          <p:nvPr/>
        </p:nvSpPr>
        <p:spPr>
          <a:xfrm>
            <a:off x="571500" y="471487"/>
            <a:ext cx="76200" cy="571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31"/>
          <p:cNvSpPr/>
          <p:nvPr/>
        </p:nvSpPr>
        <p:spPr>
          <a:xfrm>
            <a:off x="571500" y="2281237"/>
            <a:ext cx="110490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31"/>
          <p:cNvSpPr/>
          <p:nvPr/>
        </p:nvSpPr>
        <p:spPr>
          <a:xfrm>
            <a:off x="571500" y="3224212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31"/>
          <p:cNvSpPr/>
          <p:nvPr/>
        </p:nvSpPr>
        <p:spPr>
          <a:xfrm>
            <a:off x="571500" y="3995737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31"/>
          <p:cNvSpPr/>
          <p:nvPr/>
        </p:nvSpPr>
        <p:spPr>
          <a:xfrm>
            <a:off x="571500" y="321468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31"/>
          <p:cNvSpPr/>
          <p:nvPr/>
        </p:nvSpPr>
        <p:spPr>
          <a:xfrm>
            <a:off x="571500" y="321468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31"/>
          <p:cNvSpPr/>
          <p:nvPr/>
        </p:nvSpPr>
        <p:spPr>
          <a:xfrm>
            <a:off x="571500" y="398621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31"/>
          <p:cNvSpPr/>
          <p:nvPr/>
        </p:nvSpPr>
        <p:spPr>
          <a:xfrm>
            <a:off x="571500" y="398621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31"/>
          <p:cNvSpPr/>
          <p:nvPr/>
        </p:nvSpPr>
        <p:spPr>
          <a:xfrm>
            <a:off x="571500" y="47577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31"/>
          <p:cNvSpPr/>
          <p:nvPr/>
        </p:nvSpPr>
        <p:spPr>
          <a:xfrm>
            <a:off x="571500" y="47577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0" name="Google Shape;380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509837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31"/>
          <p:cNvSpPr txBox="1"/>
          <p:nvPr/>
        </p:nvSpPr>
        <p:spPr>
          <a:xfrm>
            <a:off x="1666875" y="2424112"/>
            <a:ext cx="995362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https://static.vecteezy.com/system/resources/thumbnails/045/377/365/large/happy-young-woman-sitting-on-the-bench-on-the-public-area-typing-chat-message-on-smartphone-smiling-girl-use-cell-phone-chatting-searching-information-on-browser-wireless-internet-online-shopping-video.jpg</a:t>
            </a:r>
            <a:endParaRPr/>
          </a:p>
        </p:txBody>
      </p:sp>
      <p:sp>
        <p:nvSpPr>
          <p:cNvPr id="382" name="Google Shape;382;p31"/>
          <p:cNvSpPr txBox="1"/>
          <p:nvPr/>
        </p:nvSpPr>
        <p:spPr>
          <a:xfrm>
            <a:off x="1666875" y="2843212"/>
            <a:ext cx="9953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www.vecteezy.com</a:t>
            </a:r>
            <a:endParaRPr/>
          </a:p>
        </p:txBody>
      </p:sp>
      <p:pic>
        <p:nvPicPr>
          <p:cNvPr id="383" name="Google Shape;383;p3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367087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31"/>
          <p:cNvSpPr txBox="1"/>
          <p:nvPr/>
        </p:nvSpPr>
        <p:spPr>
          <a:xfrm>
            <a:off x="1666875" y="3374231"/>
            <a:ext cx="995362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https://img.freepik.com/premium-photo/cheerful-elderly-man-enjoying-high-quality-products-supermarket_116547-17269.jpg</a:t>
            </a:r>
            <a:endParaRPr/>
          </a:p>
        </p:txBody>
      </p:sp>
      <p:sp>
        <p:nvSpPr>
          <p:cNvPr id="385" name="Google Shape;385;p31"/>
          <p:cNvSpPr txBox="1"/>
          <p:nvPr/>
        </p:nvSpPr>
        <p:spPr>
          <a:xfrm>
            <a:off x="1666875" y="3607593"/>
            <a:ext cx="9953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www.freepik.com</a:t>
            </a:r>
            <a:endParaRPr/>
          </a:p>
        </p:txBody>
      </p:sp>
      <p:pic>
        <p:nvPicPr>
          <p:cNvPr id="386" name="Google Shape;386;p3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138612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31"/>
          <p:cNvSpPr txBox="1"/>
          <p:nvPr/>
        </p:nvSpPr>
        <p:spPr>
          <a:xfrm>
            <a:off x="1666875" y="4145756"/>
            <a:ext cx="995362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https://365datascience.com/resources/blog/thumb@1024_2018-07-2-Bad-chart-example.webp</a:t>
            </a:r>
            <a:endParaRPr/>
          </a:p>
        </p:txBody>
      </p:sp>
      <p:sp>
        <p:nvSpPr>
          <p:cNvPr id="388" name="Google Shape;388;p31"/>
          <p:cNvSpPr txBox="1"/>
          <p:nvPr/>
        </p:nvSpPr>
        <p:spPr>
          <a:xfrm>
            <a:off x="1666875" y="4379118"/>
            <a:ext cx="9953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365datascience.com</a:t>
            </a:r>
            <a:endParaRPr/>
          </a:p>
        </p:txBody>
      </p:sp>
      <p:pic>
        <p:nvPicPr>
          <p:cNvPr id="389" name="Google Shape;389;p3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910137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90" name="Google Shape;390;p31"/>
          <p:cNvSpPr txBox="1"/>
          <p:nvPr/>
        </p:nvSpPr>
        <p:spPr>
          <a:xfrm>
            <a:off x="1666875" y="4917281"/>
            <a:ext cx="995362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https://towardsdatascience.com/wp-content/uploads/2024/09/1qARgbCtsUlQwtk24bPecEg.png</a:t>
            </a:r>
            <a:endParaRPr/>
          </a:p>
        </p:txBody>
      </p:sp>
      <p:sp>
        <p:nvSpPr>
          <p:cNvPr id="391" name="Google Shape;391;p31"/>
          <p:cNvSpPr txBox="1"/>
          <p:nvPr/>
        </p:nvSpPr>
        <p:spPr>
          <a:xfrm>
            <a:off x="1666875" y="5150643"/>
            <a:ext cx="9953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towardsdatascience.com</a:t>
            </a:r>
            <a:endParaRPr/>
          </a:p>
        </p:txBody>
      </p:sp>
      <p:sp>
        <p:nvSpPr>
          <p:cNvPr id="392" name="Google Shape;392;p31"/>
          <p:cNvSpPr txBox="1"/>
          <p:nvPr/>
        </p:nvSpPr>
        <p:spPr>
          <a:xfrm>
            <a:off x="762000" y="571500"/>
            <a:ext cx="114014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Image Sources</a:t>
            </a:r>
            <a:endParaRPr/>
          </a:p>
        </p:txBody>
      </p:sp>
      <p:sp>
        <p:nvSpPr>
          <p:cNvPr id="393" name="Google Shape;393;p31"/>
          <p:cNvSpPr/>
          <p:nvPr/>
        </p:nvSpPr>
        <p:spPr>
          <a:xfrm>
            <a:off x="571500" y="571500"/>
            <a:ext cx="76200" cy="571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893</Words>
  <Application>Microsoft Macintosh PowerPoint</Application>
  <PresentationFormat>Widescreen</PresentationFormat>
  <Paragraphs>124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Lato</vt:lpstr>
      <vt:lpstr>Arial</vt:lpstr>
      <vt:lpstr>Poppins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Josef Rodriguez</cp:lastModifiedBy>
  <cp:revision>2</cp:revision>
  <dcterms:modified xsi:type="dcterms:W3CDTF">2026-04-21T04:39:22Z</dcterms:modified>
</cp:coreProperties>
</file>