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03"/>
    <p:restoredTop sz="94610"/>
  </p:normalViewPr>
  <p:slideViewPr>
    <p:cSldViewPr snapToGrid="0" snapToObjects="1">
      <p:cViewPr varScale="1">
        <p:scale>
          <a:sx n="192" d="100"/>
          <a:sy n="192" d="100"/>
        </p:scale>
        <p:origin x="11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0088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3055C9-5206-C3C0-683C-4BF1BEE95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189A75-B933-4B84-423A-E4D329034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B9A56C-EB36-D1A2-0464-37A3EA7AE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49663B-DBBD-92EE-6CDC-65915A93F2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946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0"/>
            <a:ext cx="420624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645152" y="0"/>
            <a:ext cx="329184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274320"/>
            <a:ext cx="3840480" cy="3840480"/>
          </a:xfrm>
          <a:prstGeom prst="line">
            <a:avLst/>
          </a:prstGeom>
          <a:solidFill>
            <a:srgbClr val="2176AE">
              <a:alpha val="20000"/>
            </a:srgbClr>
          </a:solidFill>
          <a:ln w="12700">
            <a:solidFill>
              <a:srgbClr val="C8DEF5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0" y="2743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0" b="1" dirty="0">
                <a:solidFill>
                  <a:srgbClr val="FFFFFF">
                    <a:alpha val="12000"/>
                  </a:srgbClr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7000" dirty="0"/>
          </a:p>
        </p:txBody>
      </p:sp>
      <p:sp>
        <p:nvSpPr>
          <p:cNvPr id="6" name="Shape 4"/>
          <p:cNvSpPr/>
          <p:nvPr/>
        </p:nvSpPr>
        <p:spPr>
          <a:xfrm>
            <a:off x="411480" y="256032"/>
            <a:ext cx="1737360" cy="292608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29260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04 · MÓDULO 1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11480" y="685800"/>
            <a:ext cx="4069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Diagnósticos, R² y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 de Hipótesis</a:t>
            </a:r>
            <a:endParaRPr lang="en-US" sz="2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Lineal General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modelo estimado al informe con inferencia completa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3456432"/>
            <a:ext cx="237744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621024"/>
            <a:ext cx="4069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3968496"/>
            <a:ext cx="4069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horas · Nivel avanzado · Python + NumPy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vas a poder hacer al terminar?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931920" y="1078992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31920" y="1078992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96512" y="11704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26280" y="11521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R² y R² ajustado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26280" y="149047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cuándo conviene cada uno y por qué R²_adj penaliza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931920" y="2011680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931920" y="2011680"/>
            <a:ext cx="489204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96512" y="21031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26280" y="20848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la tabla ANOVA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26280" y="242316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= SSR + SSE · grados de libertad · cuadrados medios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931920" y="2944368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931920" y="2944368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96512" y="30358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26280" y="3017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F-test global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26280" y="335584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β₁=…=βₚ₋₁=0 · cuándo rechazar · qué significa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931920" y="3877056"/>
            <a:ext cx="489204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931920" y="3877056"/>
            <a:ext cx="489204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96512" y="396849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26280" y="39502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 e intervalos de confianza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42885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SE(β̂ⱼ) · t-stat · p-valor · IC 95% para cada coeficiente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11480" y="12344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la clase: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2920" y="166420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= SSR + SSE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02920" y="199339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232257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y R²_adj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26517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29809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F-test global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" y="331012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" y="36393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t-tests por β̂ⱼ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" y="396849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A4C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↓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2976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Intervalos de confianza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'Hoy cerramos el ciclo de Regresión Lineal. Todo lo que calculemos viene directamente de la distribución de β̂ que vimos en Clase 2.'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Descomposición SST = SSR + SSE</a:t>
            </a:r>
          </a:p>
          <a:p>
            <a:pPr marL="0" indent="0">
              <a:buNone/>
            </a:pPr>
            <a:r>
              <a:rPr lang="en-US" sz="1000" dirty="0"/>
              <a:t>SST (Total sum of Squares) / SSR(Regression Sum of Squares) / SSE (Error sum of squares)</a:t>
            </a:r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ANOVA — la base de toda la inferencia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192024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247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31720" y="1078992"/>
            <a:ext cx="164592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112471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69080" y="1078992"/>
            <a:ext cx="137160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1247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532120" y="1078992"/>
            <a:ext cx="146304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23560" y="112471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086600" y="1078992"/>
            <a:ext cx="169164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1247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1463040"/>
            <a:ext cx="19202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31720" y="1463040"/>
            <a:ext cx="164592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69080" y="1463040"/>
            <a:ext cx="137160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1463040"/>
            <a:ext cx="14630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86600" y="1463040"/>
            <a:ext cx="1691640" cy="438912"/>
          </a:xfrm>
          <a:prstGeom prst="rect">
            <a:avLst/>
          </a:prstGeom>
          <a:solidFill>
            <a:srgbClr val="EAF2FB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1554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23160" y="155448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 = Σ(ŷ−ȳ)²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160520" y="1554480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p−1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623560" y="15544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MSR = SSR/(p−1)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178040" y="1554480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MSR/MSE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1938528"/>
            <a:ext cx="19202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31720" y="1938528"/>
            <a:ext cx="164592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069080" y="1938528"/>
            <a:ext cx="137160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32120" y="1938528"/>
            <a:ext cx="14630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86600" y="1938528"/>
            <a:ext cx="1691640" cy="438912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0299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423160" y="20299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= Σ(y−ŷ)²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160520" y="202996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23560" y="2029968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SSE/(n−p)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178040" y="202996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2414016"/>
            <a:ext cx="19202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31720" y="2414016"/>
            <a:ext cx="164592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9080" y="2414016"/>
            <a:ext cx="137160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32120" y="2414016"/>
            <a:ext cx="14630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086600" y="2414016"/>
            <a:ext cx="1691640" cy="438912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250545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2423160" y="2505456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 = Σ(y−ȳ)²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160520" y="2505456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n−1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623560" y="2505456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78040" y="250545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01752" y="2822067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2883789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 = SSR + SSE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5559552" y="2902077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fundamental — siempre se cumple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1752" y="3469005"/>
            <a:ext cx="8503920" cy="585216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523869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SSR/SST = 1 − SSE/SST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5559552" y="3542157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varianza explicada por el modelo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3877056"/>
            <a:ext cx="8503920" cy="585216"/>
          </a:xfrm>
          <a:prstGeom prst="rect">
            <a:avLst/>
          </a:prstGeom>
          <a:solidFill>
            <a:srgbClr val="0F3D6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5488" y="39502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MSR/MSE ~ F(p−1, n−p)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5577840" y="396849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para probar si el modelo tiene poder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Mostrar en pizarrón: dibujar las tres sumas de cuadrados geométricamente como distancias al cuadrado.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R² vs R² Ajustado — ¿cuándo usar cada uno?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sube siempre. R²_adj penaliza la complejidad.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402336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78992"/>
            <a:ext cx="402336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18872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simple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" y="1609344"/>
            <a:ext cx="374904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733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 = 1 − SSE/SST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Rango: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10512" y="21396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5968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siempre: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10512" y="25968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agregar cualquier feature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0540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10512" y="30540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favorece modelos sobreajustados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51129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cuando: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10512" y="351129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comparás el MISMO modelo con más datos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078992"/>
            <a:ext cx="4251960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078992"/>
            <a:ext cx="425196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188720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Ajustado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609344"/>
            <a:ext cx="4114800" cy="43891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67335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R²_adj = 1 − (1−R²)·(n−1)/(n−p)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36592" y="21396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bajar: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08192" y="21396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agregás feature inútil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36592" y="25968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08192" y="25968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parámetro adicional 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36592" y="30540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08192" y="30540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R²_adj ≤ R²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36592" y="3511296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cuando: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08192" y="351129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comparás modelos con distinto p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" y="4645152"/>
            <a:ext cx="850392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práctica: siempre reportar ambos. Si R² &gt;&gt; R²_adj, hay features inútiles — revisar el modelo.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Demo en vivo: agregar 10 features de ruido puro. Mostrar que R² sube pero R²_adj cae. El modelo está sobreajustado.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Prueba F Global — ¿tiene sentido el modelo?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 β₁ = β₂ = ⋯ = βₚ₋₁ = 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114800" cy="394100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11480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18872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y estadístico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6093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87552" y="16093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β₁ = β₂ = ⋯ = βₚ₋₁ = 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9019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190195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 menos un βⱼ ≠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" y="2249424"/>
            <a:ext cx="3749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3225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MSR/MSE = [SSR/(p−1)] / [SSE/(n−p)]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7980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bajo H₀: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307238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A4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~ F(p−1, n−p)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" y="3438144"/>
            <a:ext cx="3749040" cy="1298448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54787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H₀ si: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3822192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&gt; F_crit(α, p−1, n−p)   o   p-valor &lt; α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" y="4114800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Típicamente α = 0.05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" y="4389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rechazás H₀ → ningún β es significativo → buscar otras features.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1078991"/>
            <a:ext cx="4160520" cy="3941003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078992"/>
            <a:ext cx="416052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11887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 práctica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73168" y="1682496"/>
            <a:ext cx="3931920" cy="640080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1755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&gt; 10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035040" y="17556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&lt; 0.001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0482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muy fuerte: el modelo tiene poder explicativo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73168" y="2395728"/>
            <a:ext cx="39319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≈ 4–10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4688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&lt; 0.05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276148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moderada: rechazamos H₀ al 5%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773168" y="3108960"/>
            <a:ext cx="3931920" cy="640080"/>
          </a:xfrm>
          <a:prstGeom prst="rect">
            <a:avLst/>
          </a:prstGeom>
          <a:solidFill>
            <a:srgbClr val="F7F9FC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≈ 1–4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31821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≈ 0.05–0.2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4747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 débil: revisar features del modelo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773168" y="3822192"/>
            <a:ext cx="3931920" cy="640080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9204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&lt; 1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035040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176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&gt; 0.2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1879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evidencia: el modelo no mejora sobre la media</a:t>
            </a:r>
            <a:endParaRPr lang="en-US" sz="850" dirty="0"/>
          </a:p>
        </p:txBody>
      </p:sp>
      <p:sp>
        <p:nvSpPr>
          <p:cNvPr id="43" name="Shape 35">
            <a:extLst>
              <a:ext uri="{FF2B5EF4-FFF2-40B4-BE49-F238E27FC236}">
                <a16:creationId xmlns:a16="http://schemas.microsoft.com/office/drawing/2014/main" id="{88605D70-C487-0FA2-8096-20633464DF37}"/>
              </a:ext>
            </a:extLst>
          </p:cNvPr>
          <p:cNvSpPr/>
          <p:nvPr/>
        </p:nvSpPr>
        <p:spPr>
          <a:xfrm>
            <a:off x="4758869" y="4521708"/>
            <a:ext cx="3931920" cy="416052"/>
          </a:xfrm>
          <a:prstGeom prst="rect">
            <a:avLst/>
          </a:prstGeom>
          <a:solidFill>
            <a:srgbClr val="FFFFFF"/>
          </a:solidFill>
          <a:ln w="5080">
            <a:solidFill>
              <a:srgbClr val="DDE8F2"/>
            </a:solidFill>
            <a:prstDash val="solid"/>
          </a:ln>
        </p:spPr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3BDA20B7-46D4-CE65-93C9-C8AC5B6671DB}"/>
              </a:ext>
            </a:extLst>
          </p:cNvPr>
          <p:cNvSpPr/>
          <p:nvPr/>
        </p:nvSpPr>
        <p:spPr>
          <a:xfrm>
            <a:off x="4937759" y="4617720"/>
            <a:ext cx="31752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00" b="1" dirty="0">
              <a:solidFill>
                <a:srgbClr val="0F3D6E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P-value &lt; 0,05 </a:t>
            </a:r>
            <a:r>
              <a:rPr lang="en-US" sz="900" b="1" dirty="0" err="1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rechazamos</a:t>
            </a:r>
            <a:r>
              <a:rPr lang="en-US" sz="9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</a:t>
            </a:r>
          </a:p>
          <a:p>
            <a:r>
              <a:rPr lang="en-US" sz="900" b="1" dirty="0">
                <a:solidFill>
                  <a:srgbClr val="0F3D6E"/>
                </a:solidFill>
                <a:latin typeface="Courier New" pitchFamily="34" charset="0"/>
                <a:cs typeface="Courier New" pitchFamily="34" charset="-120"/>
              </a:rPr>
              <a:t>P-value </a:t>
            </a:r>
            <a:r>
              <a:rPr lang="en-PE" sz="900" b="1" dirty="0">
                <a:solidFill>
                  <a:srgbClr val="0F3D6E"/>
                </a:solidFill>
                <a:latin typeface="Courier New" pitchFamily="34" charset="0"/>
                <a:cs typeface="Courier New" pitchFamily="34" charset="-120"/>
              </a:rPr>
              <a:t>&gt;=</a:t>
            </a:r>
            <a:r>
              <a:rPr lang="en-US" sz="900" b="1" dirty="0">
                <a:solidFill>
                  <a:srgbClr val="0F3D6E"/>
                </a:solidFill>
                <a:latin typeface="Courier New" pitchFamily="34" charset="0"/>
                <a:cs typeface="Courier New" pitchFamily="34" charset="-120"/>
              </a:rPr>
              <a:t> </a:t>
            </a:r>
            <a:r>
              <a:rPr lang="en-US" sz="9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0,05 </a:t>
            </a:r>
            <a:r>
              <a:rPr lang="en-US" sz="900" b="1" dirty="0">
                <a:solidFill>
                  <a:srgbClr val="C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</a:t>
            </a:r>
            <a:r>
              <a:rPr lang="en-US" sz="9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b="1" dirty="0" err="1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rechazamos</a:t>
            </a:r>
            <a:r>
              <a:rPr lang="en-US" sz="9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Ho</a:t>
            </a:r>
          </a:p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t-tests e Intervalos de Confianza por β̂ⱼ </a:t>
            </a:r>
          </a:p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</a:rPr>
              <a:t>¿Cada variable </a:t>
            </a:r>
            <a:r>
              <a:rPr lang="en-US" sz="1200" b="1" dirty="0" err="1">
                <a:solidFill>
                  <a:srgbClr val="1A2B3C"/>
                </a:solidFill>
                <a:latin typeface="Trebuchet MS" pitchFamily="34" charset="0"/>
              </a:rPr>
              <a:t>aporta</a:t>
            </a:r>
            <a:r>
              <a:rPr lang="en-US" sz="1200" b="1" dirty="0">
                <a:solidFill>
                  <a:srgbClr val="1A2B3C"/>
                </a:solidFill>
                <a:latin typeface="Trebuchet MS" pitchFamily="34" charset="0"/>
              </a:rPr>
              <a:t>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individual sobre cada coeficiente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1078992"/>
            <a:ext cx="8503920" cy="51206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5214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H₀: βⱼ = 0  (esa feature no aporta, dado el resto del modelo)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1737360"/>
            <a:ext cx="4023360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737360"/>
            <a:ext cx="402336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Estadístico 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" y="2249424"/>
            <a:ext cx="374904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3225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tⱼ = β̂ⱼ / SE(β̂ⱼ)   ~   t(n−p)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2798064"/>
            <a:ext cx="3749040" cy="420624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7121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SE(β̂ⱼ) = √(s² · (XᵀX)⁻¹ⱼⱼ)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3101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331012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· P(T &gt; |tⱼ|) bajo H₀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37124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Rechazar H₀: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83080" y="3712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 p-valor &lt; α = 0.05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Significativo: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83080" y="42397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***p&lt;0.001  **p&lt;0.01  *p&lt;0.05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b="1" dirty="0">
                <a:solidFill>
                  <a:srgbClr val="7A92A8"/>
                </a:solidFill>
                <a:latin typeface="Courier New" pitchFamily="34" charset="0"/>
                <a:cs typeface="Courier New" pitchFamily="34" charset="-120"/>
              </a:rPr>
              <a:t>P</a:t>
            </a:r>
            <a:r>
              <a:rPr lang="en-US" sz="950" b="1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&lt; 0,05 es </a:t>
            </a:r>
            <a:r>
              <a:rPr lang="en-US" sz="950" b="1" dirty="0" err="1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significativo</a:t>
            </a:r>
            <a:endParaRPr lang="en-US" sz="950" b="1" dirty="0">
              <a:solidFill>
                <a:srgbClr val="7A92A8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50" b="1" dirty="0">
                <a:solidFill>
                  <a:srgbClr val="7A92A8"/>
                </a:solidFill>
                <a:latin typeface="Courier New" pitchFamily="34" charset="0"/>
                <a:cs typeface="Courier New" pitchFamily="34" charset="-120"/>
              </a:rPr>
              <a:t>P </a:t>
            </a:r>
            <a:r>
              <a:rPr lang="en-US" sz="950" b="1" dirty="0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&gt;= 0,05 no es </a:t>
            </a:r>
            <a:r>
              <a:rPr lang="en-US" sz="950" b="1" dirty="0" err="1">
                <a:solidFill>
                  <a:srgbClr val="7A9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significativo</a:t>
            </a:r>
            <a:endParaRPr lang="en-US" sz="950" b="1" dirty="0"/>
          </a:p>
        </p:txBody>
      </p:sp>
      <p:sp>
        <p:nvSpPr>
          <p:cNvPr id="22" name="Shape 20"/>
          <p:cNvSpPr/>
          <p:nvPr/>
        </p:nvSpPr>
        <p:spPr>
          <a:xfrm>
            <a:off x="4572000" y="1737360"/>
            <a:ext cx="4251960" cy="3163824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0" y="1737360"/>
            <a:ext cx="425196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847088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Intervalo de confianza al 95%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2249424"/>
            <a:ext cx="4114800" cy="457200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232257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β̂ⱼ ± t_{n-p, 0.975} · SE(β̂ⱼ)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09160" y="2798064"/>
            <a:ext cx="411480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8803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36208" y="2880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95% de confianza, βⱼ está en este rango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9160" y="3273552"/>
            <a:ext cx="4114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28032" y="335584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0 ∈ IC: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36208" y="33558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significativo (equivale a p-valor &gt; 5%)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749040"/>
            <a:ext cx="4114800" cy="420624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28032" y="3831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0 ∉ IC: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236208" y="383133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significativo (IC más informativo que p-valor)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4224528"/>
            <a:ext cx="41148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3068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3D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 del IC: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36208" y="430682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la magnitud, no solo si es significativo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'Un IC que no cruza el cero equivale al rechazo del t-test. Pero el IC dice mucho más: el rango plausible del efecto.'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aplicado: tabla de regresión de salarios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resultados como un analista senior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1338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F3D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salario (USD)    X = [intercepto | experiencia | educacion | sector_tech | gestion]    n=400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1499616"/>
            <a:ext cx="114300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154533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08760" y="1499616"/>
            <a:ext cx="123444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81912" y="154533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β̂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88920" y="1499616"/>
            <a:ext cx="91440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62072" y="1545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749040" y="1499616"/>
            <a:ext cx="86868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22192" y="1545336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1499616"/>
            <a:ext cx="91440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54533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p-valor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623560" y="1499616"/>
            <a:ext cx="123444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96712" y="154533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IC_lower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1499616"/>
            <a:ext cx="1920240" cy="329184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76872" y="154533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IC_upper / Signif.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1865376"/>
            <a:ext cx="11430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3192" y="1947672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08760" y="1865376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81912" y="1947672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31245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88920" y="1865376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62072" y="19476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892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49040" y="1865376"/>
            <a:ext cx="8686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1947672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35.03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865376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36592" y="1947672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23560" y="1865376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1947672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29495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903720" y="1865376"/>
            <a:ext cx="19202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1947672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32995  ***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2304288"/>
            <a:ext cx="1143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2386584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508760" y="2304288"/>
            <a:ext cx="1234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581912" y="238658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1985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88920" y="2304288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62072" y="2386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78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749040" y="2304288"/>
            <a:ext cx="8686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822192" y="2386584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25.45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663440" y="2304288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2386584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623560" y="2304288"/>
            <a:ext cx="1234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96712" y="2386584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1832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903720" y="2304288"/>
            <a:ext cx="1920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76872" y="238658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2138  ***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0040" y="2743200"/>
            <a:ext cx="11430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" y="2825496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educacion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508760" y="2743200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581912" y="282549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3420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88920" y="2743200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862072" y="28254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156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749040" y="2743200"/>
            <a:ext cx="8686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22192" y="2825496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21.92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663440" y="2743200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36592" y="2825496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5623560" y="2743200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696712" y="2825496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3113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903720" y="2743200"/>
            <a:ext cx="19202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76872" y="2825496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3727  ***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3182112"/>
            <a:ext cx="11430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93192" y="3264408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sector_tech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1508760" y="3182112"/>
            <a:ext cx="1234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581912" y="3264408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11850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2788920" y="3182112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62072" y="326440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680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3749040" y="3182112"/>
            <a:ext cx="86868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822192" y="3264408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17.43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4663440" y="3182112"/>
            <a:ext cx="91440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36592" y="3264408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5623560" y="3182112"/>
            <a:ext cx="12344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696712" y="3264408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10516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903720" y="3182112"/>
            <a:ext cx="1920240" cy="402336"/>
          </a:xfrm>
          <a:prstGeom prst="rect">
            <a:avLst/>
          </a:prstGeom>
          <a:solidFill>
            <a:srgbClr val="FFFFFF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76872" y="326440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13184  ***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20040" y="3621024"/>
            <a:ext cx="11430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3192" y="3703320"/>
            <a:ext cx="1033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1508760" y="3621024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581912" y="3703320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1490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2788920" y="3621024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2862072" y="37033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115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3749040" y="3621024"/>
            <a:ext cx="86868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822192" y="3703320"/>
            <a:ext cx="758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B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12.96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663440" y="3621024"/>
            <a:ext cx="91440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736592" y="3703320"/>
            <a:ext cx="804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&lt;0.001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5623560" y="3621024"/>
            <a:ext cx="12344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696712" y="3703320"/>
            <a:ext cx="1124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1264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6903720" y="3621024"/>
            <a:ext cx="1920240" cy="402336"/>
          </a:xfrm>
          <a:prstGeom prst="rect">
            <a:avLst/>
          </a:prstGeom>
          <a:solidFill>
            <a:srgbClr val="F7F9FC"/>
          </a:solidFill>
          <a:ln w="3810">
            <a:solidFill>
              <a:srgbClr val="DDE8F2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976872" y="3703320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1716  ***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20040" y="4041648"/>
            <a:ext cx="8503920" cy="34747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75488" y="409651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R²=0.892  R²_adj=0.891  F(4,395)=820.3  p&lt;0.001  s=7,850 USD  (todas las features significativas al 0.1%)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475488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Interpretación: +1 año de experiencia → +1,985 USD/año. Sector tech → +11,850 USD. Todos los IC no cruzan el cero.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AF2FB"/>
          </a:solidFill>
          <a:ln w="5080">
            <a:solidFill>
              <a:srgbClr val="C8DEF5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74320" y="4791456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Preguntar: '¿Qué variable tiene mayor impacto en magnitud? ¿Cuál es más precisa (SE más chico)?' Leer la tabla juntos.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9778E-FE44-48EB-EBB5-6B8E1CCCE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1">
            <a:extLst>
              <a:ext uri="{FF2B5EF4-FFF2-40B4-BE49-F238E27FC236}">
                <a16:creationId xmlns:a16="http://schemas.microsoft.com/office/drawing/2014/main" id="{0596642E-6886-6EF6-E9E0-2E55422ED4BA}"/>
              </a:ext>
            </a:extLst>
          </p:cNvPr>
          <p:cNvSpPr/>
          <p:nvPr/>
        </p:nvSpPr>
        <p:spPr>
          <a:xfrm>
            <a:off x="773527" y="1223785"/>
            <a:ext cx="3227740" cy="36244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C2452E0B-804D-0EB2-014B-06B6E2F4C669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5F4AF5-ACB8-8B44-78B4-77E983866C72}"/>
              </a:ext>
            </a:extLst>
          </p:cNvPr>
          <p:cNvSpPr/>
          <p:nvPr/>
        </p:nvSpPr>
        <p:spPr>
          <a:xfrm>
            <a:off x="0" y="0"/>
            <a:ext cx="50292" cy="96012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D5D90FB-50AD-70FB-E52E-BD2DD954AA3C}"/>
              </a:ext>
            </a:extLst>
          </p:cNvPr>
          <p:cNvSpPr/>
          <p:nvPr/>
        </p:nvSpPr>
        <p:spPr>
          <a:xfrm>
            <a:off x="411480" y="146304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8F551AC-5586-1F6A-6023-E7160729B5E5}"/>
              </a:ext>
            </a:extLst>
          </p:cNvPr>
          <p:cNvSpPr/>
          <p:nvPr/>
        </p:nvSpPr>
        <p:spPr>
          <a:xfrm>
            <a:off x="96012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</a:t>
            </a:r>
            <a:r>
              <a:rPr lang="en-US" sz="21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100" b="1" dirty="0" err="1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Práctico</a:t>
            </a:r>
            <a:endParaRPr lang="en-US" sz="21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60D2B3F-2634-C95B-DBB2-0CD9ECCC40A1}"/>
              </a:ext>
            </a:extLst>
          </p:cNvPr>
          <p:cNvSpPr/>
          <p:nvPr/>
        </p:nvSpPr>
        <p:spPr>
          <a:xfrm>
            <a:off x="960120" y="676656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Imagina </a:t>
            </a:r>
            <a:r>
              <a:rPr lang="en-US" sz="950" i="1" dirty="0" err="1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quieres</a:t>
            </a: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i="1" dirty="0" err="1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precio</a:t>
            </a: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950" i="1" dirty="0" err="1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</a:t>
            </a:r>
            <a:r>
              <a:rPr lang="en-US" sz="950" i="1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casa</a:t>
            </a:r>
            <a:endParaRPr lang="en-US" sz="9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1831201-F031-4EAB-45E6-E173975CE3C4}"/>
              </a:ext>
            </a:extLst>
          </p:cNvPr>
          <p:cNvSpPr/>
          <p:nvPr/>
        </p:nvSpPr>
        <p:spPr>
          <a:xfrm>
            <a:off x="320039" y="1101851"/>
            <a:ext cx="8385048" cy="3822192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B3C0DDE3-57A9-4497-58BF-897F63B86710}"/>
              </a:ext>
            </a:extLst>
          </p:cNvPr>
          <p:cNvSpPr/>
          <p:nvPr/>
        </p:nvSpPr>
        <p:spPr>
          <a:xfrm>
            <a:off x="320039" y="1078992"/>
            <a:ext cx="8277775" cy="45719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DF13D48-2B33-C280-6A16-F3BB7E8FE65C}"/>
              </a:ext>
            </a:extLst>
          </p:cNvPr>
          <p:cNvSpPr/>
          <p:nvPr/>
        </p:nvSpPr>
        <p:spPr>
          <a:xfrm>
            <a:off x="882396" y="1367059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 err="1">
                <a:solidFill>
                  <a:srgbClr val="2176AE"/>
                </a:solidFill>
                <a:latin typeface="Calibri" pitchFamily="34" charset="0"/>
                <a:cs typeface="Calibri" pitchFamily="34" charset="-120"/>
              </a:rPr>
              <a:t>Explicación</a:t>
            </a: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cs typeface="Calibri" pitchFamily="34" charset="-120"/>
              </a:rPr>
              <a:t> ultra simple del </a:t>
            </a:r>
            <a:r>
              <a:rPr lang="en-US" sz="1300" b="1" dirty="0" err="1">
                <a:solidFill>
                  <a:srgbClr val="2176AE"/>
                </a:solidFill>
                <a:latin typeface="Calibri" pitchFamily="34" charset="0"/>
                <a:cs typeface="Calibri" pitchFamily="34" charset="-120"/>
              </a:rPr>
              <a:t>flujo</a:t>
            </a:r>
            <a:r>
              <a:rPr lang="en-US" sz="1300" b="1" dirty="0">
                <a:solidFill>
                  <a:srgbClr val="2176A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rgbClr val="2176AE"/>
                </a:solidFill>
                <a:latin typeface="Calibri" pitchFamily="34" charset="0"/>
                <a:cs typeface="Calibri" pitchFamily="34" charset="-120"/>
              </a:rPr>
              <a:t>completo</a:t>
            </a:r>
            <a:endParaRPr lang="en-US" sz="1300" b="1" dirty="0">
              <a:solidFill>
                <a:srgbClr val="2176AE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300" b="1" dirty="0">
              <a:solidFill>
                <a:srgbClr val="2176AE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165E3D24-E7D6-C2AA-686C-459023C572A5}"/>
              </a:ext>
            </a:extLst>
          </p:cNvPr>
          <p:cNvSpPr/>
          <p:nvPr/>
        </p:nvSpPr>
        <p:spPr>
          <a:xfrm>
            <a:off x="2019044" y="1696243"/>
            <a:ext cx="4678231" cy="311778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CC5946E-9EAE-A995-2979-554D3E35C859}"/>
              </a:ext>
            </a:extLst>
          </p:cNvPr>
          <p:cNvSpPr/>
          <p:nvPr/>
        </p:nvSpPr>
        <p:spPr>
          <a:xfrm>
            <a:off x="2477318" y="3009848"/>
            <a:ext cx="4738004" cy="621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Metes variables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como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Metros </a:t>
            </a: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cuadrados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Número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de </a:t>
            </a: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cuartos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Ubicación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Antigüedad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0F3D6E"/>
              </a:solidFill>
              <a:latin typeface="Calibri" pitchFamily="34" charset="0"/>
              <a:cs typeface="Calibri" pitchFamily="34" charset="-120"/>
            </a:endParaRPr>
          </a:p>
          <a:p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Entonces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preguntas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:</a:t>
            </a:r>
          </a:p>
          <a:p>
            <a:pPr lvl="1"/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1. ¿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Qué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tanto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explica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mi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modelo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?</a:t>
            </a:r>
          </a:p>
          <a:p>
            <a:pPr lvl="2"/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Eso es R²</a:t>
            </a:r>
          </a:p>
          <a:p>
            <a:pPr lvl="1"/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2. ¿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Estoy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metiendo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variables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inútiles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?</a:t>
            </a:r>
          </a:p>
          <a:p>
            <a:pPr lvl="2"/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Eso es R² </a:t>
            </a: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ajustado</a:t>
            </a:r>
            <a:endParaRPr lang="en-US" sz="1200" dirty="0">
              <a:solidFill>
                <a:srgbClr val="0F3D6E"/>
              </a:solidFill>
              <a:latin typeface="Calibri" pitchFamily="34" charset="0"/>
              <a:cs typeface="Calibri" pitchFamily="34" charset="-120"/>
            </a:endParaRPr>
          </a:p>
          <a:p>
            <a:pPr lvl="1"/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3. ¿El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modelo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completo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realmente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sirve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?</a:t>
            </a:r>
          </a:p>
          <a:p>
            <a:pPr lvl="2"/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Eso es </a:t>
            </a: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el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F-test global</a:t>
            </a:r>
          </a:p>
          <a:p>
            <a:pPr lvl="1"/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4. ¿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Cuál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variable individual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sí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aporta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?</a:t>
            </a:r>
          </a:p>
          <a:p>
            <a:pPr lvl="2"/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Eso es </a:t>
            </a: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el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t-test</a:t>
            </a:r>
          </a:p>
          <a:p>
            <a:pPr lvl="1"/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5. ¿En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qué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rango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podría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estar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el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verdadero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efecto</a:t>
            </a:r>
            <a:r>
              <a:rPr lang="en-US" sz="1200" b="1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?</a:t>
            </a:r>
          </a:p>
          <a:p>
            <a:pPr lvl="2"/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Eso es </a:t>
            </a: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el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intervalo</a:t>
            </a:r>
            <a:r>
              <a:rPr lang="en-US" sz="1200" dirty="0">
                <a:solidFill>
                  <a:srgbClr val="0F3D6E"/>
                </a:solidFill>
                <a:latin typeface="Calibri" pitchFamily="34" charset="0"/>
                <a:cs typeface="Calibri" pitchFamily="34" charset="-120"/>
              </a:rPr>
              <a:t> de confianza</a:t>
            </a:r>
          </a:p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7893651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41E2D"/>
          </a:solidFill>
          <a:ln w="12700">
            <a:solidFill>
              <a:srgbClr val="141E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37744" y="137160"/>
            <a:ext cx="155448" cy="155448"/>
          </a:xfrm>
          <a:prstGeom prst="line">
            <a:avLst/>
          </a:prstGeom>
          <a:solidFill>
            <a:srgbClr val="E06C75"/>
          </a:solidFill>
          <a:ln w="12700">
            <a:solidFill>
              <a:srgbClr val="E06C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2064" y="137160"/>
            <a:ext cx="155448" cy="155448"/>
          </a:xfrm>
          <a:prstGeom prst="line">
            <a:avLst/>
          </a:prstGeom>
          <a:solidFill>
            <a:srgbClr val="E5C07B"/>
          </a:solidFill>
          <a:ln w="12700">
            <a:solidFill>
              <a:srgbClr val="E5C0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" y="137160"/>
            <a:ext cx="155448" cy="155448"/>
          </a:xfrm>
          <a:prstGeom prst="line">
            <a:avLst/>
          </a:prstGeom>
          <a:solidFill>
            <a:srgbClr val="98C379"/>
          </a:solidFill>
          <a:ln w="12700">
            <a:solidFill>
              <a:srgbClr val="98C3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914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82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Clase04_Inferencia_OLS.ipynb  —  ols_summary()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56032" y="566928"/>
            <a:ext cx="4315968" cy="2212848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566928"/>
            <a:ext cx="4315968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65836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R², R²_adj y ANOVA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20624" y="91440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SST = ((y - y.mean())**2).sum()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0624" y="115671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SSE = (e @ e)          # e = y - X@beta_hat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" y="1399032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SSR = SST - SSE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0624" y="1641348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     = 1 - SSE/SST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0624" y="1883664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R2_adj = 1 - (SSE/df_e)/(SST/df_t)  # df=n-p,n-1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0624" y="2125980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   = (SSR/df_r) / (SSE/df_e)      # MSR/MSE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0624" y="2368296"/>
            <a:ext cx="40416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pF   = 1 - stats.f.cdf(F, df_r, df_e)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73168" y="566928"/>
            <a:ext cx="4114800" cy="2212848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566928"/>
            <a:ext cx="411480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0328" y="65836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t-tests e intervalos de confianza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37760" y="91440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XtX_inv = np.linalg.inv(X.T @ X)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15671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 = SSE / (n - p)    # estimador insesgado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937760" y="1399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 = np.sqrt(s2 * np.diag(XtX_inv))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164134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  = beta_hat / 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937760" y="188366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pv  = 2*(1 - stats.t.cdf(np.abs(t), df=n-p))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37760" y="21259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  = stats.t.ppf(0.975, df=n-p)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937760" y="23682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  = [beta_hat - tc*SE, beta_hat + tc*SE]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6032" y="2926080"/>
            <a:ext cx="8631936" cy="2029968"/>
          </a:xfrm>
          <a:prstGeom prst="rect">
            <a:avLst/>
          </a:prstGeom>
          <a:solidFill>
            <a:srgbClr val="1C2B3A"/>
          </a:solidFill>
          <a:ln w="6350">
            <a:solidFill>
              <a:srgbClr val="2D4A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6032" y="2926080"/>
            <a:ext cx="8631936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301752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C8B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Función ols_summary() completa — genera tabla tipo statsmodels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20624" y="327355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ols_summary(X, y, feature_names=None):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0624" y="351586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n, p = X.shape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0624" y="375818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beta_hat, *_ = np.linalg.lstsq(X, y, rcond=None)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20624" y="4000500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83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... calcula SST, SSE, SSR, R2, R2_adj, F, pF, SE, t, pv, IC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20624" y="4242816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print(f'R²={R2:.4f}  R²_adj={R2adj:.4f}  F={F:.2f}  p={pF:.4e}')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0624" y="4485132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i, nm in enumerate(names):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20624" y="4727448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sig = '***' if pv[i]&lt;0.001 else '**' if pv[i]&lt;0.01 else '*'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20624" y="4969764"/>
            <a:ext cx="83576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BB2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print(f'{nm:14s} β̂={beta[i]:+.4f}  SE={SE[i]:.4f}  t={t[i]:.3f}  {sig}')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94760" cy="5143500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94760" y="0"/>
            <a:ext cx="50292" cy="5143500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" y="2651760"/>
            <a:ext cx="3566160" cy="3566160"/>
          </a:xfrm>
          <a:prstGeom prst="line">
            <a:avLst/>
          </a:prstGeom>
          <a:solidFill>
            <a:srgbClr val="2176AE">
              <a:alpha val="17000"/>
            </a:srgbClr>
          </a:solidFill>
          <a:ln w="12700">
            <a:solidFill>
              <a:srgbClr val="C8DEF5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92608"/>
            <a:ext cx="333756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Módulo 1</a:t>
            </a:r>
            <a:endParaRPr lang="en-US" sz="3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completado ✓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20040" y="1874520"/>
            <a:ext cx="2286000" cy="0"/>
          </a:xfrm>
          <a:prstGeom prst="line">
            <a:avLst/>
          </a:prstGeom>
          <a:noFill/>
          <a:ln w="19050">
            <a:solidFill>
              <a:srgbClr val="5BA4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2029968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A4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22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8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Josef Rodriguez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2743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takeaways del módulo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069080" y="731520"/>
            <a:ext cx="4754880" cy="0"/>
          </a:xfrm>
          <a:prstGeom prst="line">
            <a:avLst/>
          </a:prstGeom>
          <a:noFill/>
          <a:ln w="9525">
            <a:solidFill>
              <a:srgbClr val="DDE8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69080" y="914400"/>
            <a:ext cx="47548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069080" y="914400"/>
            <a:ext cx="4754880" cy="50292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4528" y="1005840"/>
            <a:ext cx="475488" cy="475488"/>
          </a:xfrm>
          <a:prstGeom prst="rect">
            <a:avLst/>
          </a:prstGeom>
          <a:solidFill>
            <a:srgbClr val="0F3D6E"/>
          </a:solidFill>
          <a:ln w="12700">
            <a:solidFill>
              <a:srgbClr val="0F3D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24528" y="1005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28032" y="102412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flujo completo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28032" y="137160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→ X con intercepto → verificar rango → β̂ = (XᵀX)⁻¹Xᵀy → diagnosticar → reportar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069080" y="2176272"/>
            <a:ext cx="47548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069080" y="2176272"/>
            <a:ext cx="4754880" cy="50292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24528" y="2267712"/>
            <a:ext cx="475488" cy="475488"/>
          </a:xfrm>
          <a:prstGeom prst="rect">
            <a:avLst/>
          </a:prstGeom>
          <a:solidFill>
            <a:srgbClr val="2176AE"/>
          </a:solidFill>
          <a:ln w="12700">
            <a:solidFill>
              <a:srgbClr val="2176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22677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28032" y="22860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es obligatorio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28032" y="2633472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los 4 gráficos + 3 tests no podés concluir que el modelo es válido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069080" y="3438144"/>
            <a:ext cx="4754880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DDE8F2"/>
            </a:solidFill>
            <a:prstDash val="solid"/>
          </a:ln>
          <a:effectLst>
            <a:outerShdw blurRad="101600" dist="38100" dir="8100000" algn="bl" rotWithShape="0">
              <a:srgbClr val="9EAFC0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069080" y="3438144"/>
            <a:ext cx="4754880" cy="50292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24528" y="3529584"/>
            <a:ext cx="475488" cy="475488"/>
          </a:xfrm>
          <a:prstGeom prst="rect">
            <a:avLst/>
          </a:prstGeom>
          <a:solidFill>
            <a:srgbClr val="5BA4CF"/>
          </a:solidFill>
          <a:ln w="12700">
            <a:solidFill>
              <a:srgbClr val="5BA4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24528" y="352958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28032" y="35478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R²_adj + F primero, t-tests después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28032" y="3895344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7A9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ver si el modelo global tiene sentido. Luego interpretar coeficientes.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069080" y="4645152"/>
            <a:ext cx="4754880" cy="347472"/>
          </a:xfrm>
          <a:prstGeom prst="rect">
            <a:avLst/>
          </a:prstGeom>
          <a:solidFill>
            <a:srgbClr val="EAF2FB"/>
          </a:solidFill>
          <a:ln w="6350">
            <a:solidFill>
              <a:srgbClr val="C8DEF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24528" y="4700016"/>
            <a:ext cx="44622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17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módulo → Regresión Logística: Clase 5 · Formulación desde el GLM · Función logit · Log-verosimilitud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2796</TotalTime>
  <Words>1769</Words>
  <Application>Microsoft Macintosh PowerPoint</Application>
  <PresentationFormat>On-screen Show (16:9)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Josef Rodriguez</cp:lastModifiedBy>
  <cp:revision>4</cp:revision>
  <dcterms:created xsi:type="dcterms:W3CDTF">2026-03-31T13:22:30Z</dcterms:created>
  <dcterms:modified xsi:type="dcterms:W3CDTF">2026-04-10T23:17:42Z</dcterms:modified>
</cp:coreProperties>
</file>