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37760" y="0"/>
            <a:ext cx="4206240" cy="5143500"/>
          </a:xfrm>
          <a:prstGeom prst="rect">
            <a:avLst/>
          </a:prstGeom>
          <a:solidFill>
            <a:srgbClr val="0F3D6E"/>
          </a:solidFill>
          <a:ln w="12700">
            <a:solidFill>
              <a:srgbClr val="0F3D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645152" y="0"/>
            <a:ext cx="329184" cy="5143500"/>
          </a:xfrm>
          <a:prstGeom prst="rect">
            <a:avLst/>
          </a:prstGeom>
          <a:solidFill>
            <a:srgbClr val="5BA4CF"/>
          </a:solidFill>
          <a:ln w="12700">
            <a:solidFill>
              <a:srgbClr val="5BA4C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669280" y="274320"/>
            <a:ext cx="3840480" cy="3840480"/>
          </a:xfrm>
          <a:prstGeom prst="oval">
            <a:avLst/>
          </a:prstGeom>
          <a:solidFill>
            <a:srgbClr val="2176AE">
              <a:alpha val="20000"/>
            </a:srgbClr>
          </a:solidFill>
          <a:ln w="12700">
            <a:solidFill>
              <a:srgbClr val="C8DEF5">
                <a:alpha val="3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0" y="274320"/>
            <a:ext cx="34747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0" b="1" dirty="0">
                <a:solidFill>
                  <a:srgbClr val="FFFFFF">
                    <a:alpha val="12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</a:t>
            </a:r>
            <a:endParaRPr lang="en-US" sz="17000" dirty="0"/>
          </a:p>
        </p:txBody>
      </p:sp>
      <p:sp>
        <p:nvSpPr>
          <p:cNvPr id="6" name="Shape 4"/>
          <p:cNvSpPr/>
          <p:nvPr/>
        </p:nvSpPr>
        <p:spPr>
          <a:xfrm>
            <a:off x="411480" y="256032"/>
            <a:ext cx="1737360" cy="292608"/>
          </a:xfrm>
          <a:prstGeom prst="rect">
            <a:avLst/>
          </a:prstGeom>
          <a:solidFill>
            <a:srgbClr val="EAF2FB"/>
          </a:solidFill>
          <a:ln w="6350">
            <a:solidFill>
              <a:srgbClr val="C8DE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29260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0F3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 04 · MÓDULO 1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411480" y="685800"/>
            <a:ext cx="40690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800" b="1" dirty="0">
                <a:solidFill>
                  <a:srgbClr val="1A2B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Diagnósticos, R² y</a:t>
            </a:r>
            <a:endParaRPr lang="en-US" sz="2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800" b="1" dirty="0">
                <a:solidFill>
                  <a:srgbClr val="1A2B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Prueba de Hipótesis</a:t>
            </a:r>
            <a:endParaRPr lang="en-US" sz="2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800" b="1" dirty="0">
                <a:solidFill>
                  <a:srgbClr val="1A2B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Lineal General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11480" y="2880360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modelo estimado al informe con inferencia completa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11480" y="3456432"/>
            <a:ext cx="2377440" cy="0"/>
          </a:xfrm>
          <a:prstGeom prst="line">
            <a:avLst/>
          </a:prstGeom>
          <a:noFill/>
          <a:ln w="19050">
            <a:solidFill>
              <a:srgbClr val="5BA4C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3621024"/>
            <a:ext cx="4069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Docente: Josef Rodriguez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11480" y="3968496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horas · Nivel avanzado · Python + NumPy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EAF2FB"/>
          </a:solidFill>
          <a:ln w="12700">
            <a:solidFill>
              <a:srgbClr val="EAF2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0292" cy="960120"/>
          </a:xfrm>
          <a:prstGeom prst="rect">
            <a:avLst/>
          </a:prstGeom>
          <a:solidFill>
            <a:srgbClr val="5BA4CF"/>
          </a:solidFill>
          <a:ln w="12700">
            <a:solidFill>
              <a:srgbClr val="5BA4C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828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A2B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¿Qué vas a poder hacer al terminar?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931920" y="1078992"/>
            <a:ext cx="489204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DDE8F2"/>
            </a:solidFill>
            <a:prstDash val="solid"/>
          </a:ln>
          <a:effectLst>
            <a:outerShdw sx="100000" sy="100000" kx="0" ky="0" algn="bl" rotWithShape="0" blurRad="101600" dist="38100" dir="8100000">
              <a:srgbClr val="9EAFC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931920" y="1078992"/>
            <a:ext cx="4892040" cy="50292"/>
          </a:xfrm>
          <a:prstGeom prst="rect">
            <a:avLst/>
          </a:prstGeom>
          <a:solidFill>
            <a:srgbClr val="2176AE"/>
          </a:solidFill>
          <a:ln w="12700">
            <a:solidFill>
              <a:srgbClr val="2176A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096512" y="117043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7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26280" y="1152144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Calcular R² y R² ajustado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26280" y="149047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Interpretar cuándo conviene cada uno y por qué R²_adj penaliza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931920" y="2011680"/>
            <a:ext cx="489204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DDE8F2"/>
            </a:solidFill>
            <a:prstDash val="solid"/>
          </a:ln>
          <a:effectLst>
            <a:outerShdw sx="100000" sy="100000" kx="0" ky="0" algn="bl" rotWithShape="0" blurRad="101600" dist="38100" dir="8100000">
              <a:srgbClr val="9EAFC0">
                <a:alpha val="13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931920" y="2011680"/>
            <a:ext cx="4892040" cy="50292"/>
          </a:xfrm>
          <a:prstGeom prst="rect">
            <a:avLst/>
          </a:prstGeom>
          <a:solidFill>
            <a:srgbClr val="2176AE"/>
          </a:solidFill>
          <a:ln w="12700">
            <a:solidFill>
              <a:srgbClr val="2176A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096512" y="21031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7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26280" y="208483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 la tabla ANOVA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26280" y="242316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SST = SSR + SSE · grados de libertad · cuadrados medios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931920" y="2944368"/>
            <a:ext cx="489204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DDE8F2"/>
            </a:solidFill>
            <a:prstDash val="solid"/>
          </a:ln>
          <a:effectLst>
            <a:outerShdw sx="100000" sy="100000" kx="0" ky="0" algn="bl" rotWithShape="0" blurRad="101600" dist="38100" dir="8100000">
              <a:srgbClr val="9EAFC0">
                <a:alpha val="13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931920" y="2944368"/>
            <a:ext cx="4892040" cy="50292"/>
          </a:xfrm>
          <a:prstGeom prst="rect">
            <a:avLst/>
          </a:prstGeom>
          <a:solidFill>
            <a:srgbClr val="5BA4CF"/>
          </a:solidFill>
          <a:ln w="12700">
            <a:solidFill>
              <a:srgbClr val="5BA4C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096512" y="30358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A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26280" y="301752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Ejecutar el F-test global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26280" y="335584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H₀: β₁=…=βₚ₋₁=0 · cuándo rechazar · qué significa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931920" y="3877056"/>
            <a:ext cx="489204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DDE8F2"/>
            </a:solidFill>
            <a:prstDash val="solid"/>
          </a:ln>
          <a:effectLst>
            <a:outerShdw sx="100000" sy="100000" kx="0" ky="0" algn="bl" rotWithShape="0" blurRad="101600" dist="38100" dir="8100000">
              <a:srgbClr val="9EAFC0">
                <a:alpha val="13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931920" y="3877056"/>
            <a:ext cx="4892040" cy="50292"/>
          </a:xfrm>
          <a:prstGeom prst="rect">
            <a:avLst/>
          </a:prstGeom>
          <a:solidFill>
            <a:srgbClr val="5BA4CF"/>
          </a:solidFill>
          <a:ln w="12700">
            <a:solidFill>
              <a:srgbClr val="5BA4C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096512" y="396849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A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26280" y="395020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t-tests e intervalos de confianza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26280" y="4288536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SE(β̂ⱼ) · t-stat · p-valor · IC 95% para cada coeficiente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11480" y="12344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3D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Flujo de la clase: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02920" y="166420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SST = SSR + SSE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02920" y="199339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A4C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↓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02920" y="2322576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y R²_adj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02920" y="265176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A4C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↓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02920" y="2980944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F-test global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02920" y="331012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A4C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↓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02920" y="363931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t-tests por β̂ⱼ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502920" y="3968496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A4C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↓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02920" y="429768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Intervalos de confianza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EAF2FB"/>
          </a:solidFill>
          <a:ln w="5080">
            <a:solidFill>
              <a:srgbClr val="C8DEF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74320" y="4791456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217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🎙 'Hoy cerramos el ciclo de Regresión Lineal. Todo lo que calculemos viene directamente de la distribución de β̂ que vimos en Clase 2.'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3D6E"/>
          </a:solidFill>
          <a:ln w="12700">
            <a:solidFill>
              <a:srgbClr val="0F3D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46304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A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60120" y="1828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Descomposición SST = SSR + SSE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960120" y="676656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C8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 ANOVA — la base de toda la inferencia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20040" y="1078992"/>
            <a:ext cx="1920240" cy="347472"/>
          </a:xfrm>
          <a:prstGeom prst="rect">
            <a:avLst/>
          </a:prstGeom>
          <a:solidFill>
            <a:srgbClr val="0F3D6E"/>
          </a:solidFill>
          <a:ln w="12700">
            <a:solidFill>
              <a:srgbClr val="0F3D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124712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331720" y="1078992"/>
            <a:ext cx="1645920" cy="347472"/>
          </a:xfrm>
          <a:prstGeom prst="rect">
            <a:avLst/>
          </a:prstGeom>
          <a:solidFill>
            <a:srgbClr val="0F3D6E"/>
          </a:solidFill>
          <a:ln w="12700">
            <a:solidFill>
              <a:srgbClr val="0F3D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23160" y="1124712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069080" y="1078992"/>
            <a:ext cx="1371600" cy="347472"/>
          </a:xfrm>
          <a:prstGeom prst="rect">
            <a:avLst/>
          </a:prstGeom>
          <a:solidFill>
            <a:srgbClr val="0F3D6E"/>
          </a:solidFill>
          <a:ln w="12700">
            <a:solidFill>
              <a:srgbClr val="0F3D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60520" y="1124712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532120" y="1078992"/>
            <a:ext cx="1463040" cy="347472"/>
          </a:xfrm>
          <a:prstGeom prst="rect">
            <a:avLst/>
          </a:prstGeom>
          <a:solidFill>
            <a:srgbClr val="0F3D6E"/>
          </a:solidFill>
          <a:ln w="12700">
            <a:solidFill>
              <a:srgbClr val="0F3D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23560" y="1124712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086600" y="1078992"/>
            <a:ext cx="1691640" cy="347472"/>
          </a:xfrm>
          <a:prstGeom prst="rect">
            <a:avLst/>
          </a:prstGeom>
          <a:solidFill>
            <a:srgbClr val="0F3D6E"/>
          </a:solidFill>
          <a:ln w="12700">
            <a:solidFill>
              <a:srgbClr val="0F3D6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78040" y="112471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" y="1463040"/>
            <a:ext cx="1920240" cy="438912"/>
          </a:xfrm>
          <a:prstGeom prst="rect">
            <a:avLst/>
          </a:prstGeom>
          <a:solidFill>
            <a:srgbClr val="F7F9FC"/>
          </a:solidFill>
          <a:ln w="3810">
            <a:solidFill>
              <a:srgbClr val="DDE8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31720" y="1463040"/>
            <a:ext cx="1645920" cy="438912"/>
          </a:xfrm>
          <a:prstGeom prst="rect">
            <a:avLst/>
          </a:prstGeom>
          <a:solidFill>
            <a:srgbClr val="F7F9FC"/>
          </a:solidFill>
          <a:ln w="3810">
            <a:solidFill>
              <a:srgbClr val="DDE8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069080" y="1463040"/>
            <a:ext cx="1371600" cy="438912"/>
          </a:xfrm>
          <a:prstGeom prst="rect">
            <a:avLst/>
          </a:prstGeom>
          <a:solidFill>
            <a:srgbClr val="F7F9FC"/>
          </a:solidFill>
          <a:ln w="3810">
            <a:solidFill>
              <a:srgbClr val="DDE8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532120" y="1463040"/>
            <a:ext cx="1463040" cy="438912"/>
          </a:xfrm>
          <a:prstGeom prst="rect">
            <a:avLst/>
          </a:prstGeom>
          <a:solidFill>
            <a:srgbClr val="F7F9FC"/>
          </a:solidFill>
          <a:ln w="3810">
            <a:solidFill>
              <a:srgbClr val="DDE8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086600" y="1463040"/>
            <a:ext cx="1691640" cy="438912"/>
          </a:xfrm>
          <a:prstGeom prst="rect">
            <a:avLst/>
          </a:prstGeom>
          <a:solidFill>
            <a:srgbClr val="EAF2FB"/>
          </a:solidFill>
          <a:ln w="3810">
            <a:solidFill>
              <a:srgbClr val="DDE8F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1554480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Regresión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423160" y="1554480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SSR = Σ(ŷ−ȳ)²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160520" y="155448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p−1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623560" y="155448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MSR = SSR/(p−1)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7178040" y="155448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176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MSR/MSE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20040" y="1938528"/>
            <a:ext cx="1920240" cy="438912"/>
          </a:xfrm>
          <a:prstGeom prst="rect">
            <a:avLst/>
          </a:prstGeom>
          <a:solidFill>
            <a:srgbClr val="FFFFFF"/>
          </a:solidFill>
          <a:ln w="3810">
            <a:solidFill>
              <a:srgbClr val="DDE8F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331720" y="1938528"/>
            <a:ext cx="1645920" cy="438912"/>
          </a:xfrm>
          <a:prstGeom prst="rect">
            <a:avLst/>
          </a:prstGeom>
          <a:solidFill>
            <a:srgbClr val="FFFFFF"/>
          </a:solidFill>
          <a:ln w="3810">
            <a:solidFill>
              <a:srgbClr val="DDE8F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069080" y="1938528"/>
            <a:ext cx="1371600" cy="438912"/>
          </a:xfrm>
          <a:prstGeom prst="rect">
            <a:avLst/>
          </a:prstGeom>
          <a:solidFill>
            <a:srgbClr val="FFFFFF"/>
          </a:solidFill>
          <a:ln w="3810">
            <a:solidFill>
              <a:srgbClr val="DDE8F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532120" y="1938528"/>
            <a:ext cx="1463040" cy="438912"/>
          </a:xfrm>
          <a:prstGeom prst="rect">
            <a:avLst/>
          </a:prstGeom>
          <a:solidFill>
            <a:srgbClr val="FFFFFF"/>
          </a:solidFill>
          <a:ln w="3810">
            <a:solidFill>
              <a:srgbClr val="DDE8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086600" y="1938528"/>
            <a:ext cx="1691640" cy="438912"/>
          </a:xfrm>
          <a:prstGeom prst="rect">
            <a:avLst/>
          </a:prstGeom>
          <a:solidFill>
            <a:srgbClr val="FFFFFF"/>
          </a:solidFill>
          <a:ln w="3810">
            <a:solidFill>
              <a:srgbClr val="DDE8F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11480" y="2029968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2423160" y="2029968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SSE = Σ(y−ŷ)²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160520" y="2029968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n−p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623560" y="2029968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MSE = SSE/(n−p)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7178040" y="202996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B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320040" y="2414016"/>
            <a:ext cx="1920240" cy="438912"/>
          </a:xfrm>
          <a:prstGeom prst="rect">
            <a:avLst/>
          </a:prstGeom>
          <a:solidFill>
            <a:srgbClr val="F7F9FC"/>
          </a:solidFill>
          <a:ln w="3810">
            <a:solidFill>
              <a:srgbClr val="DDE8F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331720" y="2414016"/>
            <a:ext cx="1645920" cy="438912"/>
          </a:xfrm>
          <a:prstGeom prst="rect">
            <a:avLst/>
          </a:prstGeom>
          <a:solidFill>
            <a:srgbClr val="F7F9FC"/>
          </a:solidFill>
          <a:ln w="3810">
            <a:solidFill>
              <a:srgbClr val="DDE8F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069080" y="2414016"/>
            <a:ext cx="1371600" cy="438912"/>
          </a:xfrm>
          <a:prstGeom prst="rect">
            <a:avLst/>
          </a:prstGeom>
          <a:solidFill>
            <a:srgbClr val="F7F9FC"/>
          </a:solidFill>
          <a:ln w="3810">
            <a:solidFill>
              <a:srgbClr val="DDE8F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532120" y="2414016"/>
            <a:ext cx="1463040" cy="438912"/>
          </a:xfrm>
          <a:prstGeom prst="rect">
            <a:avLst/>
          </a:prstGeom>
          <a:solidFill>
            <a:srgbClr val="F7F9FC"/>
          </a:solidFill>
          <a:ln w="3810">
            <a:solidFill>
              <a:srgbClr val="DDE8F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086600" y="2414016"/>
            <a:ext cx="1691640" cy="438912"/>
          </a:xfrm>
          <a:prstGeom prst="rect">
            <a:avLst/>
          </a:prstGeom>
          <a:solidFill>
            <a:srgbClr val="F7F9FC"/>
          </a:solidFill>
          <a:ln w="3810">
            <a:solidFill>
              <a:srgbClr val="DDE8F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11480" y="2505456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2423160" y="2505456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SST = Σ(y−ȳ)²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4160520" y="2505456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n−1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5623560" y="2505456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7178040" y="2505456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B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320040" y="2560320"/>
            <a:ext cx="8503920" cy="585216"/>
          </a:xfrm>
          <a:prstGeom prst="rect">
            <a:avLst/>
          </a:prstGeom>
          <a:solidFill>
            <a:srgbClr val="FFFFFF"/>
          </a:solidFill>
          <a:ln w="6350">
            <a:solidFill>
              <a:srgbClr val="DDE8F2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75488" y="263347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3D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SST = SSR + SSE</a:t>
            </a:r>
            <a:endParaRPr lang="en-US" sz="1150" dirty="0"/>
          </a:p>
        </p:txBody>
      </p:sp>
      <p:sp>
        <p:nvSpPr>
          <p:cNvPr id="48" name="Text 46"/>
          <p:cNvSpPr/>
          <p:nvPr/>
        </p:nvSpPr>
        <p:spPr>
          <a:xfrm>
            <a:off x="5577840" y="2651760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Identidad fundamental — siempre se cumple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320040" y="3218688"/>
            <a:ext cx="8503920" cy="585216"/>
          </a:xfrm>
          <a:prstGeom prst="rect">
            <a:avLst/>
          </a:prstGeom>
          <a:solidFill>
            <a:srgbClr val="FFFFFF"/>
          </a:solidFill>
          <a:ln w="6350">
            <a:solidFill>
              <a:srgbClr val="DDE8F2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75488" y="32918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3D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R² = SSR/SST = 1 − SSE/SST</a:t>
            </a:r>
            <a:endParaRPr lang="en-US" sz="1150" dirty="0"/>
          </a:p>
        </p:txBody>
      </p:sp>
      <p:sp>
        <p:nvSpPr>
          <p:cNvPr id="51" name="Text 49"/>
          <p:cNvSpPr/>
          <p:nvPr/>
        </p:nvSpPr>
        <p:spPr>
          <a:xfrm>
            <a:off x="5577840" y="3310128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de varianza explicada por el modelo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320040" y="3877056"/>
            <a:ext cx="8503920" cy="585216"/>
          </a:xfrm>
          <a:prstGeom prst="rect">
            <a:avLst/>
          </a:prstGeom>
          <a:solidFill>
            <a:srgbClr val="0F3D6E"/>
          </a:solidFill>
          <a:ln w="12700">
            <a:solidFill>
              <a:srgbClr val="2176AE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75488" y="395020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 = MSR/MSE ~ F(p−1, n−p)</a:t>
            </a:r>
            <a:endParaRPr lang="en-US" sz="1150" dirty="0"/>
          </a:p>
        </p:txBody>
      </p:sp>
      <p:sp>
        <p:nvSpPr>
          <p:cNvPr id="54" name="Text 52"/>
          <p:cNvSpPr/>
          <p:nvPr/>
        </p:nvSpPr>
        <p:spPr>
          <a:xfrm>
            <a:off x="5577840" y="3968496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C8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Estadístico para probar si el modelo tiene poder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EAF2FB"/>
          </a:solidFill>
          <a:ln w="5080">
            <a:solidFill>
              <a:srgbClr val="C8DEF5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74320" y="4791456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217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🎙 Mostrar en pizarrón: dibujar las tres sumas de cuadrados geométricamente como distancias al cuadrado.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EAF2FB"/>
          </a:solidFill>
          <a:ln w="12700">
            <a:solidFill>
              <a:srgbClr val="EAF2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0292" cy="960120"/>
          </a:xfrm>
          <a:prstGeom prst="rect">
            <a:avLst/>
          </a:prstGeom>
          <a:solidFill>
            <a:srgbClr val="5BA4CF"/>
          </a:solidFill>
          <a:ln w="12700">
            <a:solidFill>
              <a:srgbClr val="5BA4C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46304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7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960120" y="1828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A2B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R² vs R² Ajustado — ¿cuándo usar cada uno?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960120" y="676656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sube siempre. R²_adj penaliza la complejidad.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20040" y="1078992"/>
            <a:ext cx="4023360" cy="3822192"/>
          </a:xfrm>
          <a:prstGeom prst="rect">
            <a:avLst/>
          </a:prstGeom>
          <a:solidFill>
            <a:srgbClr val="FFFFFF"/>
          </a:solidFill>
          <a:ln w="6350">
            <a:solidFill>
              <a:srgbClr val="DDE8F2"/>
            </a:solidFill>
            <a:prstDash val="solid"/>
          </a:ln>
          <a:effectLst>
            <a:outerShdw sx="100000" sy="100000" kx="0" ky="0" algn="bl" rotWithShape="0" blurRad="101600" dist="38100" dir="8100000">
              <a:srgbClr val="9EAFC0">
                <a:alpha val="13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078992"/>
            <a:ext cx="4023360" cy="50292"/>
          </a:xfrm>
          <a:prstGeom prst="rect">
            <a:avLst/>
          </a:prstGeom>
          <a:solidFill>
            <a:srgbClr val="2176AE"/>
          </a:solidFill>
          <a:ln w="12700">
            <a:solidFill>
              <a:srgbClr val="2176A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18872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7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simple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5488" y="1609344"/>
            <a:ext cx="3749040" cy="438912"/>
          </a:xfrm>
          <a:prstGeom prst="rect">
            <a:avLst/>
          </a:prstGeom>
          <a:solidFill>
            <a:srgbClr val="EAF2FB"/>
          </a:solidFill>
          <a:ln w="6350">
            <a:solidFill>
              <a:srgbClr val="C8DEF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1673352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3D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R² = 1 − SSE/SST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2920" y="2139696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3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Rango: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810512" y="2139696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[0, 1]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2920" y="2596896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3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Sube siempre: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810512" y="2596896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agregar cualquier feature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02920" y="3054096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3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Problema: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810512" y="3054096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favorece modelos sobreajustados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02920" y="3511296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3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cuando: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810512" y="3511296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comparás el MISMO modelo con más datos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0" y="1078992"/>
            <a:ext cx="4251960" cy="3822192"/>
          </a:xfrm>
          <a:prstGeom prst="rect">
            <a:avLst/>
          </a:prstGeom>
          <a:solidFill>
            <a:srgbClr val="FFFFFF"/>
          </a:solidFill>
          <a:ln w="6350">
            <a:solidFill>
              <a:srgbClr val="DDE8F2"/>
            </a:solidFill>
            <a:prstDash val="solid"/>
          </a:ln>
          <a:effectLst>
            <a:outerShdw sx="100000" sy="100000" kx="0" ky="0" algn="bl" rotWithShape="0" blurRad="101600" dist="38100" dir="8100000">
              <a:srgbClr val="9EAFC0">
                <a:alpha val="13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0" y="1078992"/>
            <a:ext cx="4251960" cy="50292"/>
          </a:xfrm>
          <a:prstGeom prst="rect">
            <a:avLst/>
          </a:prstGeom>
          <a:solidFill>
            <a:srgbClr val="5BA4CF"/>
          </a:solidFill>
          <a:ln w="12700">
            <a:solidFill>
              <a:srgbClr val="5BA4C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36592" y="1188720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A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Ajustado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709160" y="1609344"/>
            <a:ext cx="4114800" cy="438912"/>
          </a:xfrm>
          <a:prstGeom prst="rect">
            <a:avLst/>
          </a:prstGeom>
          <a:solidFill>
            <a:srgbClr val="EAF2FB"/>
          </a:solidFill>
          <a:ln w="6350">
            <a:solidFill>
              <a:srgbClr val="C8DEF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28032" y="167335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3D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R²_adj = 1 − (1−R²)·(n−1)/(n−p)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736592" y="2139696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3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Puede bajar: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108192" y="2139696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agregás feature inútil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736592" y="2596896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3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Penaliza: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108192" y="2596896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parámetro adicional p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736592" y="3054096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3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Siempre: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108192" y="3054096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R²_adj ≤ R²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736592" y="3511296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3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cuando: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108192" y="3511296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comparás modelos con distinto p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20040" y="4645152"/>
            <a:ext cx="8503920" cy="347472"/>
          </a:xfrm>
          <a:prstGeom prst="rect">
            <a:avLst/>
          </a:prstGeom>
          <a:solidFill>
            <a:srgbClr val="0F3D6E"/>
          </a:solidFill>
          <a:ln w="12700">
            <a:solidFill>
              <a:srgbClr val="0F3D6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5488" y="470001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 práctica: siempre reportar ambos. Si R² &gt;&gt; R²_adj, hay features inútiles — revisar el modelo.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EAF2FB"/>
          </a:solidFill>
          <a:ln w="5080">
            <a:solidFill>
              <a:srgbClr val="C8DEF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74320" y="4791456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217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🎙 Demo en vivo: agregar 10 features de ruido puro. Mostrar que R² sube pero R²_adj cae. El modelo está sobreajustado.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3D6E"/>
          </a:solidFill>
          <a:ln w="12700">
            <a:solidFill>
              <a:srgbClr val="0F3D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46304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A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60120" y="1828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Prueba F Global — ¿tiene sentido el modelo?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960120" y="676656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C8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H₀: β₁ = β₂ = ⋯ = βₚ₋₁ = 0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20040" y="1078992"/>
            <a:ext cx="4114800" cy="3822192"/>
          </a:xfrm>
          <a:prstGeom prst="rect">
            <a:avLst/>
          </a:prstGeom>
          <a:solidFill>
            <a:srgbClr val="FFFFFF"/>
          </a:solidFill>
          <a:ln w="6350">
            <a:solidFill>
              <a:srgbClr val="DDE8F2"/>
            </a:solidFill>
            <a:prstDash val="solid"/>
          </a:ln>
          <a:effectLst>
            <a:outerShdw sx="100000" sy="100000" kx="0" ky="0" algn="bl" rotWithShape="0" blurRad="101600" dist="38100" dir="8100000">
              <a:srgbClr val="9EAFC0">
                <a:alpha val="13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078992"/>
            <a:ext cx="4114800" cy="50292"/>
          </a:xfrm>
          <a:prstGeom prst="rect">
            <a:avLst/>
          </a:prstGeom>
          <a:solidFill>
            <a:srgbClr val="0F3D6E"/>
          </a:solidFill>
          <a:ln w="12700">
            <a:solidFill>
              <a:srgbClr val="0F3D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188720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3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Hipótesis y estadístico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160934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H₀: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87552" y="1609344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β₁ = β₂ = ⋯ = βₚ₋₁ = 0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190195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H₁: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87552" y="190195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 menos un βⱼ ≠ 0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" y="2249424"/>
            <a:ext cx="3749040" cy="457200"/>
          </a:xfrm>
          <a:prstGeom prst="rect">
            <a:avLst/>
          </a:prstGeom>
          <a:solidFill>
            <a:srgbClr val="EAF2FB"/>
          </a:solidFill>
          <a:ln w="6350">
            <a:solidFill>
              <a:srgbClr val="C8DEF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2322576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3D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 = MSR/MSE = [SSR/(p−1)] / [SSE/(n−p)]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" y="279806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3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Distribución bajo H₀: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02920" y="307238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A4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 ~ F(p−1, n−p)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75488" y="3438144"/>
            <a:ext cx="3749040" cy="1298448"/>
          </a:xfrm>
          <a:prstGeom prst="rect">
            <a:avLst/>
          </a:prstGeom>
          <a:solidFill>
            <a:srgbClr val="0F3D6E"/>
          </a:solidFill>
          <a:ln w="12700">
            <a:solidFill>
              <a:srgbClr val="0F3D6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3547872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A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Rechazar H₀ si: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94360" y="3822192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 &gt; F_crit(α, p−1, n−p)   o   p-valor &lt; α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94360" y="4114800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8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Típicamente α = 0.05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94360" y="438912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8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no rechazás H₀ → ningún β es significativo → buscar otras features.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663440" y="1078992"/>
            <a:ext cx="4160520" cy="3822192"/>
          </a:xfrm>
          <a:prstGeom prst="rect">
            <a:avLst/>
          </a:prstGeom>
          <a:solidFill>
            <a:srgbClr val="FFFFFF"/>
          </a:solidFill>
          <a:ln w="6350">
            <a:solidFill>
              <a:srgbClr val="DDE8F2"/>
            </a:solidFill>
            <a:prstDash val="solid"/>
          </a:ln>
          <a:effectLst>
            <a:outerShdw sx="100000" sy="100000" kx="0" ky="0" algn="bl" rotWithShape="0" blurRad="101600" dist="38100" dir="8100000">
              <a:srgbClr val="9EAFC0">
                <a:alpha val="13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663440" y="1078992"/>
            <a:ext cx="4160520" cy="50292"/>
          </a:xfrm>
          <a:prstGeom prst="rect">
            <a:avLst/>
          </a:prstGeom>
          <a:solidFill>
            <a:srgbClr val="5BA4CF"/>
          </a:solidFill>
          <a:ln w="12700">
            <a:solidFill>
              <a:srgbClr val="5BA4C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28032" y="118872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A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Interpretación práctica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773168" y="1682496"/>
            <a:ext cx="3931920" cy="640080"/>
          </a:xfrm>
          <a:prstGeom prst="rect">
            <a:avLst/>
          </a:prstGeom>
          <a:solidFill>
            <a:srgbClr val="F7F9FC"/>
          </a:solidFill>
          <a:ln w="5080">
            <a:solidFill>
              <a:srgbClr val="DDE8F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92040" y="175564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3D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 &gt; 10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035040" y="175564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76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 &lt; 0.001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892040" y="2048256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Evidencia muy fuerte: el modelo tiene poder explicativo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773168" y="2395728"/>
            <a:ext cx="3931920" cy="640080"/>
          </a:xfrm>
          <a:prstGeom prst="rect">
            <a:avLst/>
          </a:prstGeom>
          <a:solidFill>
            <a:srgbClr val="FFFFFF"/>
          </a:solidFill>
          <a:ln w="5080">
            <a:solidFill>
              <a:srgbClr val="DDE8F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92040" y="246888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3D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 ≈ 4–10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035040" y="246888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76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 &lt; 0.05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892040" y="276148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Evidencia moderada: rechazamos H₀ al 5%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773168" y="3108960"/>
            <a:ext cx="3931920" cy="640080"/>
          </a:xfrm>
          <a:prstGeom prst="rect">
            <a:avLst/>
          </a:prstGeom>
          <a:solidFill>
            <a:srgbClr val="F7F9FC"/>
          </a:solidFill>
          <a:ln w="5080">
            <a:solidFill>
              <a:srgbClr val="DDE8F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92040" y="31821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3D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 ≈ 1–4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035040" y="31821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76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 ≈ 0.05–0.2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892040" y="34747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Evidencia débil: revisar features del modelo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4773168" y="3822192"/>
            <a:ext cx="3931920" cy="640080"/>
          </a:xfrm>
          <a:prstGeom prst="rect">
            <a:avLst/>
          </a:prstGeom>
          <a:solidFill>
            <a:srgbClr val="FFFFFF"/>
          </a:solidFill>
          <a:ln w="5080">
            <a:solidFill>
              <a:srgbClr val="DDE8F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92040" y="3895344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3D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 &lt; 1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035040" y="3895344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76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 &gt; 0.2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892040" y="418795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evidencia: el modelo no mejora sobre la media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EAF2FB"/>
          </a:solidFill>
          <a:ln w="5080">
            <a:solidFill>
              <a:srgbClr val="C8DEF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74320" y="4791456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217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🎙 'F-test primero, SIEMPRE. Si no rechazamos H₀ global, los t-tests individuales no tienen sentido estadístico.'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EAF2FB"/>
          </a:solidFill>
          <a:ln w="12700">
            <a:solidFill>
              <a:srgbClr val="EAF2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0292" cy="960120"/>
          </a:xfrm>
          <a:prstGeom prst="rect">
            <a:avLst/>
          </a:prstGeom>
          <a:solidFill>
            <a:srgbClr val="5BA4CF"/>
          </a:solidFill>
          <a:ln w="12700">
            <a:solidFill>
              <a:srgbClr val="5BA4C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46304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7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960120" y="1828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A2B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t-tests e Intervalos de Confianza por β̂ⱼ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960120" y="676656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Inferencia individual sobre cada coeficiente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20040" y="1078992"/>
            <a:ext cx="8503920" cy="512064"/>
          </a:xfrm>
          <a:prstGeom prst="rect">
            <a:avLst/>
          </a:prstGeom>
          <a:solidFill>
            <a:srgbClr val="0F3D6E"/>
          </a:solidFill>
          <a:ln w="12700">
            <a:solidFill>
              <a:srgbClr val="0F3D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1152144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H₀: βⱼ = 0  (esa feature no aporta, dado el resto del modelo)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20040" y="1737360"/>
            <a:ext cx="4023360" cy="3163824"/>
          </a:xfrm>
          <a:prstGeom prst="rect">
            <a:avLst/>
          </a:prstGeom>
          <a:solidFill>
            <a:srgbClr val="FFFFFF"/>
          </a:solidFill>
          <a:ln w="6350">
            <a:solidFill>
              <a:srgbClr val="DDE8F2"/>
            </a:solidFill>
            <a:prstDash val="solid"/>
          </a:ln>
          <a:effectLst>
            <a:outerShdw sx="100000" sy="100000" kx="0" ky="0" algn="bl" rotWithShape="0" blurRad="101600" dist="38100" dir="8100000">
              <a:srgbClr val="9EAFC0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1737360"/>
            <a:ext cx="4023360" cy="50292"/>
          </a:xfrm>
          <a:prstGeom prst="rect">
            <a:avLst/>
          </a:prstGeom>
          <a:solidFill>
            <a:srgbClr val="2176AE"/>
          </a:solidFill>
          <a:ln w="12700">
            <a:solidFill>
              <a:srgbClr val="2176A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847088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7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Estadístico 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75488" y="2249424"/>
            <a:ext cx="3749040" cy="457200"/>
          </a:xfrm>
          <a:prstGeom prst="rect">
            <a:avLst/>
          </a:prstGeom>
          <a:solidFill>
            <a:srgbClr val="EAF2FB"/>
          </a:solidFill>
          <a:ln w="6350">
            <a:solidFill>
              <a:srgbClr val="C8DEF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2322576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3D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tⱼ = β̂ⱼ / SE(β̂ⱼ)   ~   t(n−p)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75488" y="2798064"/>
            <a:ext cx="3749040" cy="420624"/>
          </a:xfrm>
          <a:prstGeom prst="rect">
            <a:avLst/>
          </a:prstGeom>
          <a:solidFill>
            <a:srgbClr val="EAF2FB"/>
          </a:solidFill>
          <a:ln w="6350">
            <a:solidFill>
              <a:srgbClr val="C8DEF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2871216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3D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SE(β̂ⱼ) = √(s² · (XᵀX)⁻¹ⱼⱼ)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" y="3310128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3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p-valor: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783080" y="331012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92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· P(T &gt; |tⱼ|) bajo H₀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02920" y="3712464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3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Rechazar H₀: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783080" y="3712464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92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 p-valor &lt; α = 0.05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02920" y="4114800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3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Significativo: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783080" y="411480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92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***p&lt;0.001  **p&lt;0.01  *p&lt;0.05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572000" y="1737360"/>
            <a:ext cx="4251960" cy="3163824"/>
          </a:xfrm>
          <a:prstGeom prst="rect">
            <a:avLst/>
          </a:prstGeom>
          <a:solidFill>
            <a:srgbClr val="FFFFFF"/>
          </a:solidFill>
          <a:ln w="6350">
            <a:solidFill>
              <a:srgbClr val="DDE8F2"/>
            </a:solidFill>
            <a:prstDash val="solid"/>
          </a:ln>
          <a:effectLst>
            <a:outerShdw sx="100000" sy="100000" kx="0" ky="0" algn="bl" rotWithShape="0" blurRad="101600" dist="38100" dir="8100000">
              <a:srgbClr val="9EAFC0">
                <a:alpha val="13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0" y="1737360"/>
            <a:ext cx="4251960" cy="50292"/>
          </a:xfrm>
          <a:prstGeom prst="rect">
            <a:avLst/>
          </a:prstGeom>
          <a:solidFill>
            <a:srgbClr val="5BA4CF"/>
          </a:solidFill>
          <a:ln w="12700">
            <a:solidFill>
              <a:srgbClr val="5BA4C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36592" y="1847088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A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Intervalo de confianza al 95%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709160" y="2249424"/>
            <a:ext cx="4114800" cy="457200"/>
          </a:xfrm>
          <a:prstGeom prst="rect">
            <a:avLst/>
          </a:prstGeom>
          <a:solidFill>
            <a:srgbClr val="EAF2FB"/>
          </a:solidFill>
          <a:ln w="6350">
            <a:solidFill>
              <a:srgbClr val="C8DEF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28032" y="2322576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3D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β̂ⱼ ± t_{n-p, 0.975} · SE(β̂ⱼ)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709160" y="2798064"/>
            <a:ext cx="4114800" cy="420624"/>
          </a:xfrm>
          <a:prstGeom prst="rect">
            <a:avLst/>
          </a:prstGeom>
          <a:solidFill>
            <a:srgbClr val="F7F9FC"/>
          </a:solidFill>
          <a:ln w="3810">
            <a:solidFill>
              <a:srgbClr val="DDE8F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28032" y="288036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3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Interpretación: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236208" y="288036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95% de confianza, βⱼ está en este rango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709160" y="3273552"/>
            <a:ext cx="4114800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DDE8F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28032" y="335584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3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0 ∈ IC: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236208" y="335584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no significativo (equivale a p-valor &gt; 5%)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709160" y="3749040"/>
            <a:ext cx="4114800" cy="420624"/>
          </a:xfrm>
          <a:prstGeom prst="rect">
            <a:avLst/>
          </a:prstGeom>
          <a:solidFill>
            <a:srgbClr val="F7F9FC"/>
          </a:solidFill>
          <a:ln w="3810">
            <a:solidFill>
              <a:srgbClr val="DDE8F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28032" y="383133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3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0 ∉ IC: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236208" y="3831336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significativo (IC más informativo que p-valor)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709160" y="4224528"/>
            <a:ext cx="4114800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DDE8F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28032" y="430682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3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Ventaja del IC: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6236208" y="430682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la magnitud, no solo si es significativo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EAF2FB"/>
          </a:solidFill>
          <a:ln w="5080">
            <a:solidFill>
              <a:srgbClr val="C8DEF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74320" y="4791456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217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🎙 'Un IC que no cruza el cero equivale al rechazo del t-test. Pero el IC dice mucho más: el rango plausible del efecto.'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3D6E"/>
          </a:solidFill>
          <a:ln w="12700">
            <a:solidFill>
              <a:srgbClr val="0F3D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46304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A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60120" y="1828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Ejemplo aplicado: tabla de regresión de salarios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960120" y="676656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C8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Leer resultados como un analista senior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20040" y="1078992"/>
            <a:ext cx="8503920" cy="347472"/>
          </a:xfrm>
          <a:prstGeom prst="rect">
            <a:avLst/>
          </a:prstGeom>
          <a:solidFill>
            <a:srgbClr val="EAF2FB"/>
          </a:solidFill>
          <a:ln w="6350">
            <a:solidFill>
              <a:srgbClr val="C8DE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113385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3D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 = salario (USD)    X = [intercepto | experiencia | educacion | sector_tech | gestion]    n=400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" y="1499616"/>
            <a:ext cx="1143000" cy="329184"/>
          </a:xfrm>
          <a:prstGeom prst="rect">
            <a:avLst/>
          </a:prstGeom>
          <a:solidFill>
            <a:srgbClr val="0F3D6E"/>
          </a:solidFill>
          <a:ln w="12700">
            <a:solidFill>
              <a:srgbClr val="0F3D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93192" y="1545336"/>
            <a:ext cx="1033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508760" y="1499616"/>
            <a:ext cx="1234440" cy="329184"/>
          </a:xfrm>
          <a:prstGeom prst="rect">
            <a:avLst/>
          </a:prstGeom>
          <a:solidFill>
            <a:srgbClr val="0F3D6E"/>
          </a:solidFill>
          <a:ln w="12700">
            <a:solidFill>
              <a:srgbClr val="0F3D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581912" y="1545336"/>
            <a:ext cx="11247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β̂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788920" y="1499616"/>
            <a:ext cx="914400" cy="329184"/>
          </a:xfrm>
          <a:prstGeom prst="rect">
            <a:avLst/>
          </a:prstGeom>
          <a:solidFill>
            <a:srgbClr val="0F3D6E"/>
          </a:solidFill>
          <a:ln w="12700">
            <a:solidFill>
              <a:srgbClr val="0F3D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862072" y="1545336"/>
            <a:ext cx="804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749040" y="1499616"/>
            <a:ext cx="868680" cy="329184"/>
          </a:xfrm>
          <a:prstGeom prst="rect">
            <a:avLst/>
          </a:prstGeom>
          <a:solidFill>
            <a:srgbClr val="0F3D6E"/>
          </a:solidFill>
          <a:ln w="12700">
            <a:solidFill>
              <a:srgbClr val="0F3D6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22192" y="1545336"/>
            <a:ext cx="758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t-stat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663440" y="1499616"/>
            <a:ext cx="914400" cy="329184"/>
          </a:xfrm>
          <a:prstGeom prst="rect">
            <a:avLst/>
          </a:prstGeom>
          <a:solidFill>
            <a:srgbClr val="0F3D6E"/>
          </a:solidFill>
          <a:ln w="12700">
            <a:solidFill>
              <a:srgbClr val="0F3D6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36592" y="1545336"/>
            <a:ext cx="804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p-valor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623560" y="1499616"/>
            <a:ext cx="1234440" cy="329184"/>
          </a:xfrm>
          <a:prstGeom prst="rect">
            <a:avLst/>
          </a:prstGeom>
          <a:solidFill>
            <a:srgbClr val="0F3D6E"/>
          </a:solidFill>
          <a:ln w="12700">
            <a:solidFill>
              <a:srgbClr val="0F3D6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96712" y="1545336"/>
            <a:ext cx="11247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IC_lower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903720" y="1499616"/>
            <a:ext cx="1920240" cy="329184"/>
          </a:xfrm>
          <a:prstGeom prst="rect">
            <a:avLst/>
          </a:prstGeom>
          <a:solidFill>
            <a:srgbClr val="0F3D6E"/>
          </a:solidFill>
          <a:ln w="12700">
            <a:solidFill>
              <a:srgbClr val="0F3D6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76872" y="1545336"/>
            <a:ext cx="1810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IC_upper / Signif.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20040" y="1865376"/>
            <a:ext cx="1143000" cy="402336"/>
          </a:xfrm>
          <a:prstGeom prst="rect">
            <a:avLst/>
          </a:prstGeom>
          <a:solidFill>
            <a:srgbClr val="F7F9FC"/>
          </a:solidFill>
          <a:ln w="3810">
            <a:solidFill>
              <a:srgbClr val="DDE8F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93192" y="1947672"/>
            <a:ext cx="1033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intercepto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1508760" y="1865376"/>
            <a:ext cx="1234440" cy="402336"/>
          </a:xfrm>
          <a:prstGeom prst="rect">
            <a:avLst/>
          </a:prstGeom>
          <a:solidFill>
            <a:srgbClr val="F7F9FC"/>
          </a:solidFill>
          <a:ln w="3810">
            <a:solidFill>
              <a:srgbClr val="DDE8F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581912" y="1947672"/>
            <a:ext cx="11247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31245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788920" y="1865376"/>
            <a:ext cx="914400" cy="402336"/>
          </a:xfrm>
          <a:prstGeom prst="rect">
            <a:avLst/>
          </a:prstGeom>
          <a:solidFill>
            <a:srgbClr val="F7F9FC"/>
          </a:solidFill>
          <a:ln w="3810">
            <a:solidFill>
              <a:srgbClr val="DDE8F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862072" y="1947672"/>
            <a:ext cx="804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892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749040" y="1865376"/>
            <a:ext cx="868680" cy="402336"/>
          </a:xfrm>
          <a:prstGeom prst="rect">
            <a:avLst/>
          </a:prstGeom>
          <a:solidFill>
            <a:srgbClr val="F7F9FC"/>
          </a:solidFill>
          <a:ln w="3810">
            <a:solidFill>
              <a:srgbClr val="DDE8F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822192" y="1947672"/>
            <a:ext cx="758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35.03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663440" y="1865376"/>
            <a:ext cx="914400" cy="402336"/>
          </a:xfrm>
          <a:prstGeom prst="rect">
            <a:avLst/>
          </a:prstGeom>
          <a:solidFill>
            <a:srgbClr val="F7F9FC"/>
          </a:solidFill>
          <a:ln w="3810">
            <a:solidFill>
              <a:srgbClr val="DDE8F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36592" y="1947672"/>
            <a:ext cx="804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&lt;0.001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623560" y="1865376"/>
            <a:ext cx="1234440" cy="402336"/>
          </a:xfrm>
          <a:prstGeom prst="rect">
            <a:avLst/>
          </a:prstGeom>
          <a:solidFill>
            <a:srgbClr val="F7F9FC"/>
          </a:solidFill>
          <a:ln w="3810">
            <a:solidFill>
              <a:srgbClr val="DDE8F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696712" y="1947672"/>
            <a:ext cx="11247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17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29495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903720" y="1865376"/>
            <a:ext cx="1920240" cy="402336"/>
          </a:xfrm>
          <a:prstGeom prst="rect">
            <a:avLst/>
          </a:prstGeom>
          <a:solidFill>
            <a:srgbClr val="F7F9FC"/>
          </a:solidFill>
          <a:ln w="3810">
            <a:solidFill>
              <a:srgbClr val="DDE8F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976872" y="1947672"/>
            <a:ext cx="1810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17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32995  ***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320040" y="2304288"/>
            <a:ext cx="1143000" cy="402336"/>
          </a:xfrm>
          <a:prstGeom prst="rect">
            <a:avLst/>
          </a:prstGeom>
          <a:solidFill>
            <a:srgbClr val="FFFFFF"/>
          </a:solidFill>
          <a:ln w="3810">
            <a:solidFill>
              <a:srgbClr val="DDE8F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93192" y="2386584"/>
            <a:ext cx="1033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experiencia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1508760" y="2304288"/>
            <a:ext cx="1234440" cy="402336"/>
          </a:xfrm>
          <a:prstGeom prst="rect">
            <a:avLst/>
          </a:prstGeom>
          <a:solidFill>
            <a:srgbClr val="FFFFFF"/>
          </a:solidFill>
          <a:ln w="3810">
            <a:solidFill>
              <a:srgbClr val="DDE8F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581912" y="2386584"/>
            <a:ext cx="11247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1985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2788920" y="2304288"/>
            <a:ext cx="914400" cy="402336"/>
          </a:xfrm>
          <a:prstGeom prst="rect">
            <a:avLst/>
          </a:prstGeom>
          <a:solidFill>
            <a:srgbClr val="FFFFFF"/>
          </a:solidFill>
          <a:ln w="3810">
            <a:solidFill>
              <a:srgbClr val="DDE8F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862072" y="2386584"/>
            <a:ext cx="804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78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3749040" y="2304288"/>
            <a:ext cx="868680" cy="402336"/>
          </a:xfrm>
          <a:prstGeom prst="rect">
            <a:avLst/>
          </a:prstGeom>
          <a:solidFill>
            <a:srgbClr val="FFFFFF"/>
          </a:solidFill>
          <a:ln w="3810">
            <a:solidFill>
              <a:srgbClr val="DDE8F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822192" y="2386584"/>
            <a:ext cx="758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25.45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4663440" y="2304288"/>
            <a:ext cx="914400" cy="402336"/>
          </a:xfrm>
          <a:prstGeom prst="rect">
            <a:avLst/>
          </a:prstGeom>
          <a:solidFill>
            <a:srgbClr val="FFFFFF"/>
          </a:solidFill>
          <a:ln w="3810">
            <a:solidFill>
              <a:srgbClr val="DDE8F2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736592" y="2386584"/>
            <a:ext cx="804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&lt;0.001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5623560" y="2304288"/>
            <a:ext cx="1234440" cy="402336"/>
          </a:xfrm>
          <a:prstGeom prst="rect">
            <a:avLst/>
          </a:prstGeom>
          <a:solidFill>
            <a:srgbClr val="FFFFFF"/>
          </a:solidFill>
          <a:ln w="3810">
            <a:solidFill>
              <a:srgbClr val="DDE8F2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696712" y="2386584"/>
            <a:ext cx="11247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17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1832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6903720" y="2304288"/>
            <a:ext cx="1920240" cy="402336"/>
          </a:xfrm>
          <a:prstGeom prst="rect">
            <a:avLst/>
          </a:prstGeom>
          <a:solidFill>
            <a:srgbClr val="FFFFFF"/>
          </a:solidFill>
          <a:ln w="3810">
            <a:solidFill>
              <a:srgbClr val="DDE8F2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976872" y="2386584"/>
            <a:ext cx="1810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17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2138  ***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320040" y="2743200"/>
            <a:ext cx="1143000" cy="402336"/>
          </a:xfrm>
          <a:prstGeom prst="rect">
            <a:avLst/>
          </a:prstGeom>
          <a:solidFill>
            <a:srgbClr val="F7F9FC"/>
          </a:solidFill>
          <a:ln w="3810">
            <a:solidFill>
              <a:srgbClr val="DDE8F2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93192" y="2825496"/>
            <a:ext cx="1033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educacion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1508760" y="2743200"/>
            <a:ext cx="1234440" cy="402336"/>
          </a:xfrm>
          <a:prstGeom prst="rect">
            <a:avLst/>
          </a:prstGeom>
          <a:solidFill>
            <a:srgbClr val="F7F9FC"/>
          </a:solidFill>
          <a:ln w="3810">
            <a:solidFill>
              <a:srgbClr val="DDE8F2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581912" y="2825496"/>
            <a:ext cx="11247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3420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2788920" y="2743200"/>
            <a:ext cx="914400" cy="402336"/>
          </a:xfrm>
          <a:prstGeom prst="rect">
            <a:avLst/>
          </a:prstGeom>
          <a:solidFill>
            <a:srgbClr val="F7F9FC"/>
          </a:solidFill>
          <a:ln w="3810">
            <a:solidFill>
              <a:srgbClr val="DDE8F2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862072" y="2825496"/>
            <a:ext cx="804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156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3749040" y="2743200"/>
            <a:ext cx="868680" cy="402336"/>
          </a:xfrm>
          <a:prstGeom prst="rect">
            <a:avLst/>
          </a:prstGeom>
          <a:solidFill>
            <a:srgbClr val="F7F9FC"/>
          </a:solidFill>
          <a:ln w="3810">
            <a:solidFill>
              <a:srgbClr val="DDE8F2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822192" y="2825496"/>
            <a:ext cx="758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21.92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4663440" y="2743200"/>
            <a:ext cx="914400" cy="402336"/>
          </a:xfrm>
          <a:prstGeom prst="rect">
            <a:avLst/>
          </a:prstGeom>
          <a:solidFill>
            <a:srgbClr val="F7F9FC"/>
          </a:solidFill>
          <a:ln w="3810">
            <a:solidFill>
              <a:srgbClr val="DDE8F2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736592" y="2825496"/>
            <a:ext cx="804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&lt;0.001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5623560" y="2743200"/>
            <a:ext cx="1234440" cy="402336"/>
          </a:xfrm>
          <a:prstGeom prst="rect">
            <a:avLst/>
          </a:prstGeom>
          <a:solidFill>
            <a:srgbClr val="F7F9FC"/>
          </a:solidFill>
          <a:ln w="3810">
            <a:solidFill>
              <a:srgbClr val="DDE8F2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696712" y="2825496"/>
            <a:ext cx="11247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17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3113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6903720" y="2743200"/>
            <a:ext cx="1920240" cy="402336"/>
          </a:xfrm>
          <a:prstGeom prst="rect">
            <a:avLst/>
          </a:prstGeom>
          <a:solidFill>
            <a:srgbClr val="F7F9FC"/>
          </a:solidFill>
          <a:ln w="3810">
            <a:solidFill>
              <a:srgbClr val="DDE8F2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976872" y="2825496"/>
            <a:ext cx="1810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17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3727  ***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320040" y="3182112"/>
            <a:ext cx="1143000" cy="402336"/>
          </a:xfrm>
          <a:prstGeom prst="rect">
            <a:avLst/>
          </a:prstGeom>
          <a:solidFill>
            <a:srgbClr val="FFFFFF"/>
          </a:solidFill>
          <a:ln w="3810">
            <a:solidFill>
              <a:srgbClr val="DDE8F2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393192" y="3264408"/>
            <a:ext cx="1033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sector_tech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1508760" y="3182112"/>
            <a:ext cx="1234440" cy="402336"/>
          </a:xfrm>
          <a:prstGeom prst="rect">
            <a:avLst/>
          </a:prstGeom>
          <a:solidFill>
            <a:srgbClr val="FFFFFF"/>
          </a:solidFill>
          <a:ln w="3810">
            <a:solidFill>
              <a:srgbClr val="DDE8F2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1581912" y="3264408"/>
            <a:ext cx="11247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11850</a:t>
            </a:r>
            <a:endParaRPr lang="en-US" sz="950" dirty="0"/>
          </a:p>
        </p:txBody>
      </p:sp>
      <p:sp>
        <p:nvSpPr>
          <p:cNvPr id="68" name="Shape 66"/>
          <p:cNvSpPr/>
          <p:nvPr/>
        </p:nvSpPr>
        <p:spPr>
          <a:xfrm>
            <a:off x="2788920" y="3182112"/>
            <a:ext cx="914400" cy="402336"/>
          </a:xfrm>
          <a:prstGeom prst="rect">
            <a:avLst/>
          </a:prstGeom>
          <a:solidFill>
            <a:srgbClr val="FFFFFF"/>
          </a:solidFill>
          <a:ln w="3810">
            <a:solidFill>
              <a:srgbClr val="DDE8F2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2862072" y="3264408"/>
            <a:ext cx="804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680</a:t>
            </a:r>
            <a:endParaRPr lang="en-US" sz="950" dirty="0"/>
          </a:p>
        </p:txBody>
      </p:sp>
      <p:sp>
        <p:nvSpPr>
          <p:cNvPr id="70" name="Shape 68"/>
          <p:cNvSpPr/>
          <p:nvPr/>
        </p:nvSpPr>
        <p:spPr>
          <a:xfrm>
            <a:off x="3749040" y="3182112"/>
            <a:ext cx="868680" cy="402336"/>
          </a:xfrm>
          <a:prstGeom prst="rect">
            <a:avLst/>
          </a:prstGeom>
          <a:solidFill>
            <a:srgbClr val="FFFFFF"/>
          </a:solidFill>
          <a:ln w="3810">
            <a:solidFill>
              <a:srgbClr val="DDE8F2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3822192" y="3264408"/>
            <a:ext cx="758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17.43</a:t>
            </a:r>
            <a:endParaRPr lang="en-US" sz="950" dirty="0"/>
          </a:p>
        </p:txBody>
      </p:sp>
      <p:sp>
        <p:nvSpPr>
          <p:cNvPr id="72" name="Shape 70"/>
          <p:cNvSpPr/>
          <p:nvPr/>
        </p:nvSpPr>
        <p:spPr>
          <a:xfrm>
            <a:off x="4663440" y="3182112"/>
            <a:ext cx="914400" cy="402336"/>
          </a:xfrm>
          <a:prstGeom prst="rect">
            <a:avLst/>
          </a:prstGeom>
          <a:solidFill>
            <a:srgbClr val="FFFFFF"/>
          </a:solidFill>
          <a:ln w="3810">
            <a:solidFill>
              <a:srgbClr val="DDE8F2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736592" y="3264408"/>
            <a:ext cx="804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&lt;0.001</a:t>
            </a:r>
            <a:endParaRPr lang="en-US" sz="950" dirty="0"/>
          </a:p>
        </p:txBody>
      </p:sp>
      <p:sp>
        <p:nvSpPr>
          <p:cNvPr id="74" name="Shape 72"/>
          <p:cNvSpPr/>
          <p:nvPr/>
        </p:nvSpPr>
        <p:spPr>
          <a:xfrm>
            <a:off x="5623560" y="3182112"/>
            <a:ext cx="1234440" cy="402336"/>
          </a:xfrm>
          <a:prstGeom prst="rect">
            <a:avLst/>
          </a:prstGeom>
          <a:solidFill>
            <a:srgbClr val="FFFFFF"/>
          </a:solidFill>
          <a:ln w="3810">
            <a:solidFill>
              <a:srgbClr val="DDE8F2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5696712" y="3264408"/>
            <a:ext cx="11247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17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10516</a:t>
            </a:r>
            <a:endParaRPr lang="en-US" sz="950" dirty="0"/>
          </a:p>
        </p:txBody>
      </p:sp>
      <p:sp>
        <p:nvSpPr>
          <p:cNvPr id="76" name="Shape 74"/>
          <p:cNvSpPr/>
          <p:nvPr/>
        </p:nvSpPr>
        <p:spPr>
          <a:xfrm>
            <a:off x="6903720" y="3182112"/>
            <a:ext cx="1920240" cy="402336"/>
          </a:xfrm>
          <a:prstGeom prst="rect">
            <a:avLst/>
          </a:prstGeom>
          <a:solidFill>
            <a:srgbClr val="FFFFFF"/>
          </a:solidFill>
          <a:ln w="3810">
            <a:solidFill>
              <a:srgbClr val="DDE8F2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6976872" y="3264408"/>
            <a:ext cx="1810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17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13184  ***</a:t>
            </a:r>
            <a:endParaRPr lang="en-US" sz="950" dirty="0"/>
          </a:p>
        </p:txBody>
      </p:sp>
      <p:sp>
        <p:nvSpPr>
          <p:cNvPr id="78" name="Shape 76"/>
          <p:cNvSpPr/>
          <p:nvPr/>
        </p:nvSpPr>
        <p:spPr>
          <a:xfrm>
            <a:off x="320040" y="3621024"/>
            <a:ext cx="1143000" cy="402336"/>
          </a:xfrm>
          <a:prstGeom prst="rect">
            <a:avLst/>
          </a:prstGeom>
          <a:solidFill>
            <a:srgbClr val="F7F9FC"/>
          </a:solidFill>
          <a:ln w="3810">
            <a:solidFill>
              <a:srgbClr val="DDE8F2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393192" y="3703320"/>
            <a:ext cx="1033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</a:t>
            </a:r>
            <a:endParaRPr lang="en-US" sz="950" dirty="0"/>
          </a:p>
        </p:txBody>
      </p:sp>
      <p:sp>
        <p:nvSpPr>
          <p:cNvPr id="80" name="Shape 78"/>
          <p:cNvSpPr/>
          <p:nvPr/>
        </p:nvSpPr>
        <p:spPr>
          <a:xfrm>
            <a:off x="1508760" y="3621024"/>
            <a:ext cx="1234440" cy="402336"/>
          </a:xfrm>
          <a:prstGeom prst="rect">
            <a:avLst/>
          </a:prstGeom>
          <a:solidFill>
            <a:srgbClr val="F7F9FC"/>
          </a:solidFill>
          <a:ln w="3810">
            <a:solidFill>
              <a:srgbClr val="DDE8F2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1581912" y="3703320"/>
            <a:ext cx="11247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1490</a:t>
            </a:r>
            <a:endParaRPr lang="en-US" sz="950" dirty="0"/>
          </a:p>
        </p:txBody>
      </p:sp>
      <p:sp>
        <p:nvSpPr>
          <p:cNvPr id="82" name="Shape 80"/>
          <p:cNvSpPr/>
          <p:nvPr/>
        </p:nvSpPr>
        <p:spPr>
          <a:xfrm>
            <a:off x="2788920" y="3621024"/>
            <a:ext cx="914400" cy="402336"/>
          </a:xfrm>
          <a:prstGeom prst="rect">
            <a:avLst/>
          </a:prstGeom>
          <a:solidFill>
            <a:srgbClr val="F7F9FC"/>
          </a:solidFill>
          <a:ln w="3810">
            <a:solidFill>
              <a:srgbClr val="DDE8F2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2862072" y="3703320"/>
            <a:ext cx="804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115</a:t>
            </a:r>
            <a:endParaRPr lang="en-US" sz="950" dirty="0"/>
          </a:p>
        </p:txBody>
      </p:sp>
      <p:sp>
        <p:nvSpPr>
          <p:cNvPr id="84" name="Shape 82"/>
          <p:cNvSpPr/>
          <p:nvPr/>
        </p:nvSpPr>
        <p:spPr>
          <a:xfrm>
            <a:off x="3749040" y="3621024"/>
            <a:ext cx="868680" cy="402336"/>
          </a:xfrm>
          <a:prstGeom prst="rect">
            <a:avLst/>
          </a:prstGeom>
          <a:solidFill>
            <a:srgbClr val="F7F9FC"/>
          </a:solidFill>
          <a:ln w="3810">
            <a:solidFill>
              <a:srgbClr val="DDE8F2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3822192" y="3703320"/>
            <a:ext cx="758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12.96</a:t>
            </a:r>
            <a:endParaRPr lang="en-US" sz="950" dirty="0"/>
          </a:p>
        </p:txBody>
      </p:sp>
      <p:sp>
        <p:nvSpPr>
          <p:cNvPr id="86" name="Shape 84"/>
          <p:cNvSpPr/>
          <p:nvPr/>
        </p:nvSpPr>
        <p:spPr>
          <a:xfrm>
            <a:off x="4663440" y="3621024"/>
            <a:ext cx="914400" cy="402336"/>
          </a:xfrm>
          <a:prstGeom prst="rect">
            <a:avLst/>
          </a:prstGeom>
          <a:solidFill>
            <a:srgbClr val="F7F9FC"/>
          </a:solidFill>
          <a:ln w="3810">
            <a:solidFill>
              <a:srgbClr val="DDE8F2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4736592" y="3703320"/>
            <a:ext cx="804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&lt;0.001</a:t>
            </a:r>
            <a:endParaRPr lang="en-US" sz="950" dirty="0"/>
          </a:p>
        </p:txBody>
      </p:sp>
      <p:sp>
        <p:nvSpPr>
          <p:cNvPr id="88" name="Shape 86"/>
          <p:cNvSpPr/>
          <p:nvPr/>
        </p:nvSpPr>
        <p:spPr>
          <a:xfrm>
            <a:off x="5623560" y="3621024"/>
            <a:ext cx="1234440" cy="402336"/>
          </a:xfrm>
          <a:prstGeom prst="rect">
            <a:avLst/>
          </a:prstGeom>
          <a:solidFill>
            <a:srgbClr val="F7F9FC"/>
          </a:solidFill>
          <a:ln w="3810">
            <a:solidFill>
              <a:srgbClr val="DDE8F2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5696712" y="3703320"/>
            <a:ext cx="11247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17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1264</a:t>
            </a:r>
            <a:endParaRPr lang="en-US" sz="950" dirty="0"/>
          </a:p>
        </p:txBody>
      </p:sp>
      <p:sp>
        <p:nvSpPr>
          <p:cNvPr id="90" name="Shape 88"/>
          <p:cNvSpPr/>
          <p:nvPr/>
        </p:nvSpPr>
        <p:spPr>
          <a:xfrm>
            <a:off x="6903720" y="3621024"/>
            <a:ext cx="1920240" cy="402336"/>
          </a:xfrm>
          <a:prstGeom prst="rect">
            <a:avLst/>
          </a:prstGeom>
          <a:solidFill>
            <a:srgbClr val="F7F9FC"/>
          </a:solidFill>
          <a:ln w="3810">
            <a:solidFill>
              <a:srgbClr val="DDE8F2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6976872" y="3703320"/>
            <a:ext cx="1810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17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1716  ***</a:t>
            </a:r>
            <a:endParaRPr lang="en-US" sz="950" dirty="0"/>
          </a:p>
        </p:txBody>
      </p:sp>
      <p:sp>
        <p:nvSpPr>
          <p:cNvPr id="92" name="Shape 90"/>
          <p:cNvSpPr/>
          <p:nvPr/>
        </p:nvSpPr>
        <p:spPr>
          <a:xfrm>
            <a:off x="320040" y="4041648"/>
            <a:ext cx="8503920" cy="347472"/>
          </a:xfrm>
          <a:prstGeom prst="rect">
            <a:avLst/>
          </a:prstGeom>
          <a:solidFill>
            <a:srgbClr val="0F3D6E"/>
          </a:solidFill>
          <a:ln w="12700">
            <a:solidFill>
              <a:srgbClr val="0F3D6E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475488" y="409651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R²=0.892  R²_adj=0.891  F(4,395)=820.3  p&lt;0.001  s=7,850 USD  (todas las features significativas al 0.1%)</a:t>
            </a:r>
            <a:endParaRPr lang="en-US" sz="950" dirty="0"/>
          </a:p>
        </p:txBody>
      </p:sp>
      <p:sp>
        <p:nvSpPr>
          <p:cNvPr id="94" name="Text 92"/>
          <p:cNvSpPr/>
          <p:nvPr/>
        </p:nvSpPr>
        <p:spPr>
          <a:xfrm>
            <a:off x="475488" y="44805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Interpretación: +1 año de experiencia → +1,985 USD/año. Sector tech → +11,850 USD. Todos los IC no cruzan el cero.</a:t>
            </a:r>
            <a:endParaRPr lang="en-US" sz="1000" dirty="0"/>
          </a:p>
        </p:txBody>
      </p:sp>
      <p:sp>
        <p:nvSpPr>
          <p:cNvPr id="95" name="Shape 93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EAF2FB"/>
          </a:solidFill>
          <a:ln w="5080">
            <a:solidFill>
              <a:srgbClr val="C8DEF5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274320" y="4791456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217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🎙 Preguntar: '¿Qué variable tiene mayor impacto en magnitud? ¿Cuál es más precisa (SE más chico)?' Leer la tabla juntos.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2B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41E2D"/>
          </a:solidFill>
          <a:ln w="12700">
            <a:solidFill>
              <a:srgbClr val="141E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37744" y="137160"/>
            <a:ext cx="155448" cy="155448"/>
          </a:xfrm>
          <a:prstGeom prst="oval">
            <a:avLst/>
          </a:prstGeom>
          <a:solidFill>
            <a:srgbClr val="E06C75"/>
          </a:solidFill>
          <a:ln w="12700">
            <a:solidFill>
              <a:srgbClr val="E06C7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12064" y="137160"/>
            <a:ext cx="155448" cy="155448"/>
          </a:xfrm>
          <a:prstGeom prst="oval">
            <a:avLst/>
          </a:prstGeom>
          <a:solidFill>
            <a:srgbClr val="E5C07B"/>
          </a:solidFill>
          <a:ln w="12700">
            <a:solidFill>
              <a:srgbClr val="E5C07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6384" y="137160"/>
            <a:ext cx="155448" cy="155448"/>
          </a:xfrm>
          <a:prstGeom prst="oval">
            <a:avLst/>
          </a:prstGeom>
          <a:solidFill>
            <a:srgbClr val="98C379"/>
          </a:solidFill>
          <a:ln w="12700">
            <a:solidFill>
              <a:srgbClr val="98C37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80160" y="9144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82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 ·  Clase04_Inferencia_OLS.ipynb  —  ols_summary()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56032" y="566928"/>
            <a:ext cx="4315968" cy="2212848"/>
          </a:xfrm>
          <a:prstGeom prst="rect">
            <a:avLst/>
          </a:prstGeom>
          <a:solidFill>
            <a:srgbClr val="1C2B3A"/>
          </a:solidFill>
          <a:ln w="6350">
            <a:solidFill>
              <a:srgbClr val="2D4A6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" y="566928"/>
            <a:ext cx="4315968" cy="50292"/>
          </a:xfrm>
          <a:prstGeom prst="rect">
            <a:avLst/>
          </a:prstGeom>
          <a:solidFill>
            <a:srgbClr val="5BA4CF"/>
          </a:solidFill>
          <a:ln w="12700">
            <a:solidFill>
              <a:srgbClr val="5BA4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93192" y="658368"/>
            <a:ext cx="4041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8B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① R², R²_adj y ANOVA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20624" y="914400"/>
            <a:ext cx="4041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SST = ((y - y.mean())**2).sum()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20624" y="1156716"/>
            <a:ext cx="4041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SSE = (e @ e)          # e = y - X@beta_hat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20624" y="1399032"/>
            <a:ext cx="4041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SSR = SST - SSE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20624" y="1641348"/>
            <a:ext cx="4041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R2     = 1 - SSE/SST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20624" y="1883664"/>
            <a:ext cx="4041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R2_adj = 1 - (SSE/df_e)/(SST/df_t)  # df=n-p,n-1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20624" y="2125980"/>
            <a:ext cx="4041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    = (SSR/df_r) / (SSE/df_e)      # MSR/MSE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20624" y="2368296"/>
            <a:ext cx="4041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pF   = 1 - stats.f.cdf(F, df_r, df_e)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773168" y="566928"/>
            <a:ext cx="4114800" cy="2212848"/>
          </a:xfrm>
          <a:prstGeom prst="rect">
            <a:avLst/>
          </a:prstGeom>
          <a:solidFill>
            <a:srgbClr val="1C2B3A"/>
          </a:solidFill>
          <a:ln w="6350">
            <a:solidFill>
              <a:srgbClr val="2D4A6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73168" y="566928"/>
            <a:ext cx="4114800" cy="50292"/>
          </a:xfrm>
          <a:prstGeom prst="rect">
            <a:avLst/>
          </a:prstGeom>
          <a:solidFill>
            <a:srgbClr val="5BA4CF"/>
          </a:solidFill>
          <a:ln w="12700">
            <a:solidFill>
              <a:srgbClr val="5BA4C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10328" y="65836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8B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② t-tests e intervalos de confianza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937760" y="91440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XtX_inv = np.linalg.inv(X.T @ X)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937760" y="115671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s2  = SSE / (n - p)    # estimador insesgado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937760" y="139903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  = np.sqrt(s2 * np.diag(XtX_inv))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937760" y="164134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   = beta_hat / SE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937760" y="1883664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pv  = 2*(1 - stats.t.cdf(np.abs(t), df=n-p))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937760" y="212598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tc  = stats.t.ppf(0.975, df=n-p)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937760" y="236829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IC  = [beta_hat - tc*SE, beta_hat + tc*SE]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56032" y="2926080"/>
            <a:ext cx="8631936" cy="2029968"/>
          </a:xfrm>
          <a:prstGeom prst="rect">
            <a:avLst/>
          </a:prstGeom>
          <a:solidFill>
            <a:srgbClr val="1C2B3A"/>
          </a:solidFill>
          <a:ln w="6350">
            <a:solidFill>
              <a:srgbClr val="2D4A6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56032" y="2926080"/>
            <a:ext cx="8631936" cy="50292"/>
          </a:xfrm>
          <a:prstGeom prst="rect">
            <a:avLst/>
          </a:prstGeom>
          <a:solidFill>
            <a:srgbClr val="5BA4CF"/>
          </a:solidFill>
          <a:ln w="12700">
            <a:solidFill>
              <a:srgbClr val="5BA4C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93192" y="3017520"/>
            <a:ext cx="8357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8B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③ Función ols_summary() completa — genera tabla tipo statsmodels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420624" y="3273552"/>
            <a:ext cx="8357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ols_summary(X, y, feature_names=None):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20624" y="3515868"/>
            <a:ext cx="8357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n, p = X.shape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20624" y="3758184"/>
            <a:ext cx="8357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beta_hat, *_ = np.linalg.lstsq(X, y, rcond=None)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20624" y="4000500"/>
            <a:ext cx="8357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83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... calcula SST, SSE, SSR, R2, R2_adj, F, pF, SE, t, pv, IC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20624" y="4242816"/>
            <a:ext cx="8357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print(f'R²={R2:.4f}  R²_adj={R2adj:.4f}  F={F:.2f}  p={pF:.4e}')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20624" y="4485132"/>
            <a:ext cx="8357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i, nm in enumerate(names):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20624" y="4727448"/>
            <a:ext cx="8357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sig = '***' if pv[i]&lt;0.001 else '**' if pv[i]&lt;0.01 else '*'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420624" y="4969764"/>
            <a:ext cx="8357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print(f'{nm:14s} β̂={beta[i]:+.4f}  SE={SE[i]:.4f}  t={t[i]:.3f}  {sig}')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794760" cy="5143500"/>
          </a:xfrm>
          <a:prstGeom prst="rect">
            <a:avLst/>
          </a:prstGeom>
          <a:solidFill>
            <a:srgbClr val="0F3D6E"/>
          </a:solidFill>
          <a:ln w="12700">
            <a:solidFill>
              <a:srgbClr val="0F3D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794760" y="0"/>
            <a:ext cx="50292" cy="5143500"/>
          </a:xfrm>
          <a:prstGeom prst="rect">
            <a:avLst/>
          </a:prstGeom>
          <a:solidFill>
            <a:srgbClr val="5BA4CF"/>
          </a:solidFill>
          <a:ln w="12700">
            <a:solidFill>
              <a:srgbClr val="5BA4C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" y="2651760"/>
            <a:ext cx="3566160" cy="3566160"/>
          </a:xfrm>
          <a:prstGeom prst="oval">
            <a:avLst/>
          </a:prstGeom>
          <a:solidFill>
            <a:srgbClr val="2176AE">
              <a:alpha val="17000"/>
            </a:srgbClr>
          </a:solidFill>
          <a:ln w="12700">
            <a:solidFill>
              <a:srgbClr val="C8DEF5">
                <a:alpha val="28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292608"/>
            <a:ext cx="333756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Módulo 1</a:t>
            </a:r>
            <a:endParaRPr lang="en-US" sz="30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completado ✓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320040" y="1874520"/>
            <a:ext cx="2286000" cy="0"/>
          </a:xfrm>
          <a:prstGeom prst="line">
            <a:avLst/>
          </a:prstGeom>
          <a:noFill/>
          <a:ln w="19050">
            <a:solidFill>
              <a:srgbClr val="5BA4C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2029968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A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Regresión Lineal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0040" y="2322576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Docente: Josef Rodriguez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069080" y="274320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 takeaways del módulo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069080" y="731520"/>
            <a:ext cx="4754880" cy="0"/>
          </a:xfrm>
          <a:prstGeom prst="line">
            <a:avLst/>
          </a:prstGeom>
          <a:noFill/>
          <a:ln w="9525">
            <a:solidFill>
              <a:srgbClr val="DDE8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069080" y="914400"/>
            <a:ext cx="4754880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DDE8F2"/>
            </a:solidFill>
            <a:prstDash val="solid"/>
          </a:ln>
          <a:effectLst>
            <a:outerShdw sx="100000" sy="100000" kx="0" ky="0" algn="bl" rotWithShape="0" blurRad="101600" dist="38100" dir="8100000">
              <a:srgbClr val="9EAFC0">
                <a:alpha val="13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069080" y="914400"/>
            <a:ext cx="4754880" cy="50292"/>
          </a:xfrm>
          <a:prstGeom prst="rect">
            <a:avLst/>
          </a:prstGeom>
          <a:solidFill>
            <a:srgbClr val="0F3D6E"/>
          </a:solidFill>
          <a:ln w="12700">
            <a:solidFill>
              <a:srgbClr val="0F3D6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24528" y="1005840"/>
            <a:ext cx="475488" cy="475488"/>
          </a:xfrm>
          <a:prstGeom prst="rect">
            <a:avLst/>
          </a:prstGeom>
          <a:solidFill>
            <a:srgbClr val="0F3D6E"/>
          </a:solidFill>
          <a:ln w="12700">
            <a:solidFill>
              <a:srgbClr val="0F3D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24528" y="10058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28032" y="102412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flujo completo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28032" y="1371600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7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→ X con intercepto → verificar rango → β̂ = (XᵀX)⁻¹Xᵀy → diagnosticar → reportar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069080" y="2176272"/>
            <a:ext cx="4754880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DDE8F2"/>
            </a:solidFill>
            <a:prstDash val="solid"/>
          </a:ln>
          <a:effectLst>
            <a:outerShdw sx="100000" sy="100000" kx="0" ky="0" algn="bl" rotWithShape="0" blurRad="101600" dist="38100" dir="8100000">
              <a:srgbClr val="9EAFC0">
                <a:alpha val="13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069080" y="2176272"/>
            <a:ext cx="4754880" cy="50292"/>
          </a:xfrm>
          <a:prstGeom prst="rect">
            <a:avLst/>
          </a:prstGeom>
          <a:solidFill>
            <a:srgbClr val="2176AE"/>
          </a:solidFill>
          <a:ln w="12700">
            <a:solidFill>
              <a:srgbClr val="2176A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224528" y="2267712"/>
            <a:ext cx="475488" cy="475488"/>
          </a:xfrm>
          <a:prstGeom prst="rect">
            <a:avLst/>
          </a:prstGeom>
          <a:solidFill>
            <a:srgbClr val="2176AE"/>
          </a:solidFill>
          <a:ln w="12700">
            <a:solidFill>
              <a:srgbClr val="2176A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24528" y="22677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828032" y="228600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es obligatorio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28032" y="2633472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7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los 4 gráficos + 3 tests no podés concluir que el modelo es válido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069080" y="3438144"/>
            <a:ext cx="4754880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DDE8F2"/>
            </a:solidFill>
            <a:prstDash val="solid"/>
          </a:ln>
          <a:effectLst>
            <a:outerShdw sx="100000" sy="100000" kx="0" ky="0" algn="bl" rotWithShape="0" blurRad="101600" dist="38100" dir="8100000">
              <a:srgbClr val="9EAFC0">
                <a:alpha val="13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069080" y="3438144"/>
            <a:ext cx="4754880" cy="50292"/>
          </a:xfrm>
          <a:prstGeom prst="rect">
            <a:avLst/>
          </a:prstGeom>
          <a:solidFill>
            <a:srgbClr val="5BA4CF"/>
          </a:solidFill>
          <a:ln w="12700">
            <a:solidFill>
              <a:srgbClr val="5BA4C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224528" y="3529584"/>
            <a:ext cx="475488" cy="475488"/>
          </a:xfrm>
          <a:prstGeom prst="rect">
            <a:avLst/>
          </a:prstGeom>
          <a:solidFill>
            <a:srgbClr val="5BA4CF"/>
          </a:solidFill>
          <a:ln w="12700">
            <a:solidFill>
              <a:srgbClr val="5BA4C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224528" y="352958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828032" y="354787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R²_adj + F primero, t-tests después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828032" y="3895344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7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Primero ver si el modelo global tiene sentido. Luego interpretar coeficientes.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069080" y="4645152"/>
            <a:ext cx="4754880" cy="347472"/>
          </a:xfrm>
          <a:prstGeom prst="rect">
            <a:avLst/>
          </a:prstGeom>
          <a:solidFill>
            <a:srgbClr val="EAF2FB"/>
          </a:solidFill>
          <a:ln w="6350">
            <a:solidFill>
              <a:srgbClr val="C8DEF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224528" y="4700016"/>
            <a:ext cx="4462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17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 módulo → Regresión Logística: Clase 5 · Formulación desde el GLM · Función logit · Log-verosimilitud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2026-03-31T13:22:30Z</dcterms:created>
  <dcterms:modified xsi:type="dcterms:W3CDTF">2026-03-31T13:22:30Z</dcterms:modified>
</cp:coreProperties>
</file>