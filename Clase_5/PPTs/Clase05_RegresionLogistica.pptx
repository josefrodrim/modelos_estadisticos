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40"/>
    <p:restoredTop sz="94610"/>
  </p:normalViewPr>
  <p:slideViewPr>
    <p:cSldViewPr snapToGrid="0" snapToObjects="1">
      <p:cViewPr varScale="1">
        <p:scale>
          <a:sx n="206" d="100"/>
          <a:sy n="206" d="100"/>
        </p:scale>
        <p:origin x="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968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E86C1">
              <a:alpha val="20000"/>
            </a:srgbClr>
          </a:solidFill>
          <a:ln w="12700">
            <a:solidFill>
              <a:srgbClr val="AED6F1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05 · MÓDULO 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Regresión Logística</a:t>
            </a:r>
            <a:endParaRPr lang="en-US" sz="28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desde el GLM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recta a la curva — modelar probabilidades correctamente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2 · Regresión Logística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0" y="36576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σ</a:t>
            </a:r>
            <a:endParaRPr lang="en-US" sz="1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por qué OLS falla en clasificación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Predicciones fuera de [0,1] — distribución Bernoulli vs Normal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la función logit desde el GLM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enlace logit · familia Bernoulli · ecuación del modelo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coeficientes como Odds Ratios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= eˢᵝʲ — cuánto cambian los odds al subir xⱼ en 1 unidad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MLE con gradient descent y sklearn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Log-verosimilitud · convergencia · LogisticRegression pipeline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070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 clave: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572768"/>
            <a:ext cx="3383280" cy="54864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645920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no usamos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para predecir 0 o 1?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11480" y="2267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una probabilidad debe estar en [0,1]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OLS puede predecir 1.4 o -0.3.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'¿Alguno ha corrido una regresión lineal sobre una variable binaria? ¿Qué pasó con las predicciones?'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vs Logística — el problema fundamental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Rango, distribución y función de pérdida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1517904" cy="32918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24712"/>
            <a:ext cx="1380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83664" y="1078992"/>
            <a:ext cx="2606040" cy="32918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75104" y="1124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53712" y="1078992"/>
            <a:ext cx="4407408" cy="32918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124712"/>
            <a:ext cx="4270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444752"/>
            <a:ext cx="1517904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83664" y="1444752"/>
            <a:ext cx="2606040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3712" y="1444752"/>
            <a:ext cx="4407408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554480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ŷ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975104" y="1554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(-∞, +∞)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45152" y="1554480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1] garantizado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1993392"/>
            <a:ext cx="1517904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83664" y="1993392"/>
            <a:ext cx="26060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3712" y="1993392"/>
            <a:ext cx="4407408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103120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975104" y="2103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~ N(μ,σ²)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45152" y="2103120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Binaria ~ Bernoulli(p)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2542032"/>
            <a:ext cx="1517904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83664" y="2542032"/>
            <a:ext cx="2606040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3712" y="2542032"/>
            <a:ext cx="4407408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2651760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pérdida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75104" y="2651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= Σ(y−ŷ)²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45152" y="2651760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−Σ[y·log(p)+(1−y)·log(1−p)]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090672"/>
            <a:ext cx="1517904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83664" y="3090672"/>
            <a:ext cx="26060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3712" y="3090672"/>
            <a:ext cx="4407408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200400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β̂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975104" y="3200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(XᵀX)⁻¹Xᵀy — cerrada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45152" y="3200400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MLE — iterativa (GD/BFGS)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3639312"/>
            <a:ext cx="1517904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83664" y="3639312"/>
            <a:ext cx="2606040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53712" y="3639312"/>
            <a:ext cx="4407408" cy="50292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3749040"/>
            <a:ext cx="1380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sobre ε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975104" y="37490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~ N(0,σ²I)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645152" y="3749040"/>
            <a:ext cx="4270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hay ε — y|x ~ Bernoulli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20040" y="4242816"/>
            <a:ext cx="8503920" cy="49377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" y="43159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Logística = OLS con función de enlace logit. La estructura matricial es la misma. La diferencia es cómo se estima β̂.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en el notebook: OLS sobre variable binaria predice probabilidades &gt; 1 y &lt; 0. El gráfico habla solo.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Logit · Odds · Sigmoide — tres formas de ver lo mismo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de enlace que conecta linealidad con probabilidades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2761488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78992"/>
            <a:ext cx="2761488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18872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" y="1572768"/>
            <a:ext cx="2432304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6276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/ (1−p)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10312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 entre prob. de ocurrencia y no ocurrencia.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= 1 cuando p = 0.5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82112" y="1078992"/>
            <a:ext cx="2761488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1078992"/>
            <a:ext cx="2761488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6704" y="118872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Log-odds (logit)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46704" y="1572768"/>
            <a:ext cx="2432304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38144" y="16276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log(p/(1−p)) = xᵀβ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46704" y="210312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lineal actúa sobre el logit.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tomar cualquier valor en 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89904" y="1078992"/>
            <a:ext cx="2761488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9904" y="1078992"/>
            <a:ext cx="2761488" cy="502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118872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Sigmoide σ(z)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54496" y="1572768"/>
            <a:ext cx="2432304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6276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(1 + e⁻ᶻ)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54496" y="210312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Inversa del logit.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xᵀβ ∈ ℝ a p ∈ [0,1]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443984"/>
            <a:ext cx="8503920" cy="51206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45171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Interpretación: eˢᵝʲ = Odds Ratio de xⱼ. βⱼ &gt; 0 → OR &gt; 1 → sube la probabilidad. βⱼ &lt; 0 → OR &lt; 1 → baja.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Ejercicio rápido: si β_deuda=1.8, OR=e^1.8≈6. Significa: subir deuda_ratio en 1 SD multiplica los odds de default por 6.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Log-verosimilitud y MLE — cómo se estima β̂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fórmula cerrada — optimización iterativa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521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ℓ(β) = Σᵢ [ yᵢ · log(pᵢ) + (1−yᵢ) · log(1−pᵢ) ]  →  Maximizar ℓ = Minimizar −ℓ/n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" y="1664208"/>
            <a:ext cx="8503920" cy="493776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810512"/>
            <a:ext cx="201168" cy="201168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7190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77240" y="18928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β⁰ = 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0" y="17922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coeficientes en cero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212848"/>
            <a:ext cx="8503920" cy="493776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" y="2359152"/>
            <a:ext cx="201168" cy="201168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26771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p̂ᵢ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77240" y="24414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pᵢ = σ(xᵢᵀβ)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3408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con β actual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8503920" cy="493776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" y="2907792"/>
            <a:ext cx="201168" cy="201168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816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77240" y="29900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∇ = −Xᵀ(y − p̂)/n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8895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máximo descenso de −ℓ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310128"/>
            <a:ext cx="8503920" cy="493776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" y="3456432"/>
            <a:ext cx="201168" cy="201168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3649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" y="35387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 ← β − α · ∇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34381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learning rate (paso)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3858768"/>
            <a:ext cx="8503920" cy="493776"/>
          </a:xfrm>
          <a:prstGeom prst="rect">
            <a:avLst/>
          </a:prstGeom>
          <a:solidFill>
            <a:srgbClr val="1A5276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005072"/>
            <a:ext cx="201168" cy="201168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39136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77240" y="4087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hasta |Δβ| &lt; 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39867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convergencia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446227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45171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producción: sklearn usa LBFGS (cuasi-Newton) — más estable y rápido que GD básico. LogisticRegression(solver='lbfgs')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la curva de convergencia en el notebook. Ver cómo la log-lik sube iteración tras iteración.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Caso: scoring de crédito bancario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coeficientes a la decisión de negocio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5720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78992"/>
            <a:ext cx="457200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1887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coeficientes — modelo de default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" y="1591056"/>
            <a:ext cx="123444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62763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783080" y="1591056"/>
            <a:ext cx="96012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37944" y="16276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16352" y="1591056"/>
            <a:ext cx="82296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71216" y="16276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OR=eˢᵝ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703320" y="1591056"/>
            <a:ext cx="109728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58184" y="1627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" y="1901952"/>
            <a:ext cx="12344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901952"/>
            <a:ext cx="96012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16352" y="1901952"/>
            <a:ext cx="82296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03320" y="1901952"/>
            <a:ext cx="109728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19933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837944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-1.20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871216" y="19933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758184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riesgo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" y="2377440"/>
            <a:ext cx="12344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83080" y="2377440"/>
            <a:ext cx="9601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16352" y="2377440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2377440"/>
            <a:ext cx="10972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246888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deuda_ratio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837944" y="2468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1.80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871216" y="24688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758184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riesgo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" y="2852928"/>
            <a:ext cx="123444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783080" y="2852928"/>
            <a:ext cx="96012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16352" y="2852928"/>
            <a:ext cx="82296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03320" y="2852928"/>
            <a:ext cx="1097280" cy="42062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2944368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antiguedad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37944" y="29443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871216" y="29443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0.64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758184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riesgo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5488" y="3328416"/>
            <a:ext cx="12344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783080" y="3328416"/>
            <a:ext cx="9601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16352" y="3328416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03320" y="3328416"/>
            <a:ext cx="10972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" y="34198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num_productos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837944" y="34198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-0.20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871216" y="34198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758184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riesgo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074920" y="1078992"/>
            <a:ext cx="37490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074920" y="1078992"/>
            <a:ext cx="3749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30368" y="118872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para nuevos clientes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230368" y="1664208"/>
            <a:ext cx="3429000" cy="804672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9240" y="1719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34924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75k USD, deuda 0.25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55080" y="1737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P(default) = 0.08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34924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APROBAR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230368" y="2542032"/>
            <a:ext cx="3429000" cy="804672"/>
          </a:xfrm>
          <a:prstGeom prst="rect">
            <a:avLst/>
          </a:prstGeom>
          <a:solidFill>
            <a:srgbClr val="FFFF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9240" y="2596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349240" y="2852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22k USD, deuda 0.78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355080" y="26151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P(default) = 0.62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349240" y="3090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RECHAZAR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230368" y="3419856"/>
            <a:ext cx="3429000" cy="804672"/>
          </a:xfrm>
          <a:prstGeom prst="rect">
            <a:avLst/>
          </a:prstGeom>
          <a:solidFill>
            <a:srgbClr val="F7FBFF"/>
          </a:solidFill>
          <a:ln w="5080">
            <a:solidFill>
              <a:srgbClr val="D0E8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49240" y="3474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349240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 USD, deuda 0.42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355080" y="34930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P(default) = 0.28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349240" y="396849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REVISAR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20040" y="4498848"/>
            <a:ext cx="8503920" cy="4572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5488" y="45720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pipeline procesa millones de solicitudes/día en banca. El threshold 0.5 raramente es el óptimo — se ajusta al costo del negocio.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'¿Qué cambiaría si el costo de un FN (prestar a alguien que defaultea) es 10x el costo de un FP?'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Clase05_RegresionLogistica.ipynb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Logit, odds y sigmoide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scipy.special import expit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0.75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odds  = p / (1-p)              # 3.0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 = np.log(odds)           # 1.099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Verificar: expit(logit) == p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print(np.isclose(expit(logit), p))  # True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MLE con scipy.optimize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neg_ll(b, X, y):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= np.clip(expit(X@b), 1e-10, 1-1e-10)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-np.sum(y*np.log(p)+(1-y)*np.log(1-p))/len(y)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grad(b, X, y):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-X.T @ (y - expit(X@b)) / len(y)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Pipeline sklearn completo + interpretación de 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import LogisticRegression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 = LogisticRegression(C=1e6, solver='lbfgs', max_iter=500)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lr.fit(X_train, y_train)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  = lr.predict_proba(X_test)[:, 1]   # P(y=1 | x)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   = np.exp(lr.coef_[0])               # Odds Ratios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86003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print('OR:', dict(zip(feature_names, OR.round(3))))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E86C1">
              <a:alpha val="17000"/>
            </a:srgbClr>
          </a:solidFill>
          <a:ln w="12700">
            <a:solidFill>
              <a:srgbClr val="AED6F1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5</a:t>
            </a:r>
            <a:endParaRPr lang="en-US" sz="3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0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falla en clasificación — predicciones fuera de [0,1]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= función de enlace del GLM Bernoulli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Sigmoide σ(z) garantiza p ∈ [0,1]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MLE — maximizar log-verosimilitud iterativamente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= eˢᵝʲ — interpretación de impacto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sklearn + scoring de crédito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Clase 6 — Deviance · AIC · Wald test · Pseudo R² · ROC/AUC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1176</Words>
  <Application>Microsoft Macintosh PowerPoint</Application>
  <PresentationFormat>On-screen Show (16:9)</PresentationFormat>
  <Paragraphs>167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2</cp:revision>
  <dcterms:created xsi:type="dcterms:W3CDTF">2026-04-10T23:12:50Z</dcterms:created>
  <dcterms:modified xsi:type="dcterms:W3CDTF">2026-04-11T00:18:53Z</dcterms:modified>
</cp:coreProperties>
</file>