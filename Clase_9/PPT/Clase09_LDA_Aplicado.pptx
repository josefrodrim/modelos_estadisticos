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34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612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1E8449">
              <a:alpha val="20000"/>
            </a:srgbClr>
          </a:solidFill>
          <a:ln w="12700">
            <a:solidFill>
              <a:srgbClr val="A9DFBF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914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</a:t>
            </a:r>
            <a:endParaRPr lang="en-US" sz="14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09 · MÓDULO 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Interpretación,</a:t>
            </a:r>
            <a:endParaRPr lang="en-US" sz="27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y QDA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discriminantes · Error por clase · Caso marketing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3 · Análisis Discriminante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scores discriminantes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distancia al centroide · mayor |score| = mayor confianza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QDA y comparar con LDA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QDA supera a LDA · frontera cuadrática · visualización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la matriz de confusión por clase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pares de clases se confunden · error por segmento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de clientes de marketing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 LDA/QDA · loadings · predicción de nuevos clientes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070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mensaje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572768"/>
            <a:ext cx="3383280" cy="640080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62763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= confianza.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QDA cuando las nubes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tienen formas distintas.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Arrancar con pregunta: '¿Qué significa que un modelo clasifique bien en promedio pero mal en una clase específica?'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Scores discriminantes — confianza de la clasificación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distancia al centroide en espacio discriminante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el score discriminante?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64208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700784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728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score_i = wᵀxᵢ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31136" y="17556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la observación sobre 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" y="2176272"/>
            <a:ext cx="3749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2212848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402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|score_i| grande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31136" y="22677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alejado de la frontera → alta confianza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2688336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2724912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|score_i| ≈ 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31136" y="277977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cerca de la frontera → baja confianza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3200400"/>
            <a:ext cx="3749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236976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2644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≥ 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231136" y="32918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como clase 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" y="3712464"/>
            <a:ext cx="3749040" cy="45720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" y="3749040"/>
            <a:ext cx="169164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7764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&lt; 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231136" y="38039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como clase 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" y="4224528"/>
            <a:ext cx="3749040" cy="56692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30940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lda.transform(X) → scores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lda.predict_proba(X) → probabilidades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D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Relación: P(clase 1) = σ(score) — sigmoide del score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baja confianza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28032" y="160934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observaciones cerca de la frontera (|score|≈0) son los casos más difíciles para el modelo.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2212848"/>
            <a:ext cx="3931920" cy="47548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01184" y="22951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credit scoring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1968" y="22951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derivar a revisión manual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73168" y="2761488"/>
            <a:ext cx="39319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28437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diagnóstico médico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01968" y="28437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solicitar más estudios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73168" y="3310128"/>
            <a:ext cx="3931920" cy="47548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marketing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01968" y="33924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probar en ambos segmentos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73168" y="3858768"/>
            <a:ext cx="39319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39410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detección de fraude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01968" y="3941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revisar transacción humana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Demo: ordenar el test set por |score|. Los primeros son los más inciertos → ¿cuántos de esos están mal clasificados?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QDA — cuando las covarianzas difieren entre clases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cuadrática vs lineal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δₖ(x) = −½ log|Σₖ| − ½(x−μₖ)ᵀΣₖ⁻¹(x−μₖ) + log πₖ  →  Clase = argmax δₖ(x)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2377440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733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61488" y="1627632"/>
            <a:ext cx="3273552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2928" y="1673352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08192" y="1627632"/>
            <a:ext cx="2990088" cy="29260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9632" y="16733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56816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1956816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08192" y="1956816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299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 estimada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52928" y="202996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pooled (única para todas las clases)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99632" y="202996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Σₖ por clase (una por clase)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377440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2377440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08192" y="2377440"/>
            <a:ext cx="2990088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450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de decisión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52928" y="245059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(hiperplano)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99632" y="24505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Cuadrática (elipsoide)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798064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61488" y="2798064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08192" y="2798064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8712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estimados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852928" y="287121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p(p+1)/2 + K·p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99632" y="2871216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K·p(p+1)/2 + K·p (más)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218688"/>
            <a:ext cx="23774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1488" y="3218688"/>
            <a:ext cx="3273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08192" y="3218688"/>
            <a:ext cx="2990088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sobreajuste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852928" y="329184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(menos parámetros)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99632" y="32918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(más parámetros)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3639312"/>
            <a:ext cx="2377440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61488" y="3639312"/>
            <a:ext cx="3273552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08192" y="3639312"/>
            <a:ext cx="2990088" cy="384048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71246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usar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852928" y="37124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Covarianzas similares entre clases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99632" y="371246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Covarianzas muy distintas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078224"/>
            <a:ext cx="8503920" cy="640080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elegir: QDA vs LDA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75488" y="43891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Calcular np.cov(X[y==k].T) por clase. Si son muy distintas → QDA.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Comparar accuracy LDA vs QDA en validación. Si QDA &gt; LDA → las covarianzas realmente difieren.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Resultado del notebook: AUC_LDA=0.987, AUC_QDA=0.991. Con covarianzas muy distintas, QDA gana aunque sea marginalmente.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industria: segmentación de clientes de retail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datos al perfil del cliente — pipeline completo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20624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Dataset: 800 clientes · 3 segmentos · 4 features · LDA + QDA + Logística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1609344"/>
            <a:ext cx="4069080" cy="1700784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09344"/>
            <a:ext cx="40690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 segmento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048256"/>
            <a:ext cx="3749040" cy="3474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2084832"/>
            <a:ext cx="73152" cy="27432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1031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73936" y="2103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frecuencia, alto ticket, pocas online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" y="2450592"/>
            <a:ext cx="37490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2487168"/>
            <a:ext cx="73152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50545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 Urbano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73936" y="2505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media, compra online, descuentos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" y="2852928"/>
            <a:ext cx="3749040" cy="3474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2889504"/>
            <a:ext cx="73152" cy="2743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290779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773936" y="29077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alta, bajo ticket, pocas online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1609344"/>
            <a:ext cx="4160520" cy="1700784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609344"/>
            <a:ext cx="41605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73168" y="2048256"/>
            <a:ext cx="2148840" cy="347472"/>
          </a:xfrm>
          <a:prstGeom prst="rect">
            <a:avLst/>
          </a:prstGeom>
          <a:solidFill>
            <a:srgbClr val="117A65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21122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67728" y="2048256"/>
            <a:ext cx="2029968" cy="347472"/>
          </a:xfrm>
          <a:prstGeom prst="rect">
            <a:avLst/>
          </a:prstGeom>
          <a:solidFill>
            <a:srgbClr val="117A65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59168" y="21122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73168" y="2450592"/>
            <a:ext cx="21488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2514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2450592"/>
            <a:ext cx="202996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59168" y="25146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78.1%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73168" y="2852928"/>
            <a:ext cx="2148840" cy="347472"/>
          </a:xfrm>
          <a:prstGeom prst="rect">
            <a:avLst/>
          </a:prstGeom>
          <a:solidFill>
            <a:srgbClr val="E8F8F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9169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967728" y="2852928"/>
            <a:ext cx="2029968" cy="347472"/>
          </a:xfrm>
          <a:prstGeom prst="rect">
            <a:avLst/>
          </a:prstGeom>
          <a:solidFill>
            <a:srgbClr val="E8F8F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291693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81.7% ← mejor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3255264"/>
            <a:ext cx="214884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3192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67728" y="3255264"/>
            <a:ext cx="202996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59168" y="33192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79.4%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" y="3401568"/>
            <a:ext cx="406908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20040" y="3401568"/>
            <a:ext cx="4069080" cy="5029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" y="35112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LD1 — qué discrimina más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5488" y="3840480"/>
            <a:ext cx="3749040" cy="219456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38587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freq_visitas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011680" y="385876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+0.82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670048" y="3858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frecuencia → Familiar/Senior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" y="4096512"/>
            <a:ext cx="3749040" cy="219456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436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ticket_prom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011680" y="411480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+0.61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670048" y="41148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ticket → Familiar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5488" y="4352544"/>
            <a:ext cx="3749040" cy="219456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4360" y="43708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compras_online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011680" y="437083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-0.74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70048" y="43708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online → Joven Urbano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5488" y="4608576"/>
            <a:ext cx="3749040" cy="219456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4360" y="4626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ratio_dcto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011680" y="46268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2670048" y="462686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descuentos → Joven Urbano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818888" y="3536442"/>
            <a:ext cx="416052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709160" y="3566774"/>
            <a:ext cx="416052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511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clientes → segmento predicho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773168" y="3877056"/>
            <a:ext cx="3931920" cy="274320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92040" y="391363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(alta frec., alto ticket)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178040" y="3913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Familiar  P=0.82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773168" y="4187952"/>
            <a:ext cx="3931920" cy="274320"/>
          </a:xfrm>
          <a:prstGeom prst="rect">
            <a:avLst/>
          </a:prstGeom>
          <a:solidFill>
            <a:srgbClr val="FFFFFF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92040" y="42245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(muchas compras online)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178040" y="42245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Joven Urb P=0.79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773168" y="4498848"/>
            <a:ext cx="3931920" cy="274320"/>
          </a:xfrm>
          <a:prstGeom prst="rect">
            <a:avLst/>
          </a:prstGeom>
          <a:solidFill>
            <a:srgbClr val="F4FBF7"/>
          </a:solidFill>
          <a:ln w="2540">
            <a:solidFill>
              <a:srgbClr val="C8E6D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92040" y="453542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(frecuencia alta, bajo ticket)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178040" y="4535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Senior    P=0.75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pipeline es exactamente lo que se usa en retail: segmentar clientes para personalizar campañas. LDA da interpretabilidad + clasificación.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Clase09_LDA_Aplicado.ipynb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Scores e incertidumbre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  = lda.transform(X_test)[:, 0]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    = lda.predict_proba(X_test)[:, 1]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Observaciones menos confiables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incert   = np.abs(scores)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inciertos = np.argsort(incert)[:5]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Estos son candidatos a revisión manual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QDA — frontera cuadrática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sklearn.discriminant_analysis import \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QuadraticDiscriminantAnalysis as QDA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qda = QDA()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qda.fit(X_train, y_train)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QDA no tiene .transform() — sin proyección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Pero sí .predict_proba() y .predict()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83464" y="2811780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Pipeline marketing: comparar LDA, QDA, Logística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sklearn.preprocessing import StandardScaler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 = StandardScaler(); X_sc = sc.fit_transform(X)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 = {'LDA': LDA(), 'QDA': QDA(), 'Logistica': LR(C=1e6)}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m in modelos.items():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m.fit(X_tr, y_tr); acc = accuracy_score(y_te, m.predict(X_te))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print(f'{nm}: Acc={acc:.4f}')  # QDA gana con Sigma distintas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1E8449">
              <a:alpha val="17000"/>
            </a:srgbClr>
          </a:solidFill>
          <a:ln w="12700">
            <a:solidFill>
              <a:srgbClr val="A9DFBF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3</a:t>
            </a:r>
            <a:endParaRPr lang="en-US" sz="3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completado ✓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" y="2011680"/>
            <a:ext cx="228600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15798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Discriminante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4505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del módulo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C8E6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868680"/>
            <a:ext cx="47548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68680"/>
            <a:ext cx="47548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978408"/>
            <a:ext cx="475488" cy="47548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978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9784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1325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· Sᴮ/Sᵥᵥ · w = Sᵥᵥ⁻¹(μ₁−μ₀) · LDA multiclase · LDA vs Logística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057400"/>
            <a:ext cx="47548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2057400"/>
            <a:ext cx="475488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167128"/>
            <a:ext cx="475488" cy="475488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167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8032" y="21671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28032" y="2514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= confianza · QDA (frontera cuadrática) · Matriz de confusión · Marketing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337560"/>
            <a:ext cx="4754880" cy="1078992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24528" y="341071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takeaways del Módulo 3: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24528" y="3749040"/>
            <a:ext cx="109728" cy="109728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71246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usa etiquetas para maximizar separación (supervisado, ≠ PCA)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24528" y="3968496"/>
            <a:ext cx="109728" cy="109728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07408" y="393192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≈ Logística con MVN. QDA cuando las covarianzas difieren.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224528" y="4187952"/>
            <a:ext cx="109728" cy="109728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07408" y="415137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confianza. Casos con score≈0 → derivar a revisión manual.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69080" y="4507992"/>
            <a:ext cx="4754880" cy="47548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24528" y="4581144"/>
            <a:ext cx="4462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4: PCA · SVD · Varianza explicada · Scree plot · Loadings · Pipeline completo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1113</Words>
  <Application>Microsoft Macintosh PowerPoint</Application>
  <PresentationFormat>On-screen Show (16:9)</PresentationFormat>
  <Paragraphs>166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2026-04-11T18:32:43Z</dcterms:created>
  <dcterms:modified xsi:type="dcterms:W3CDTF">2026-04-21T04:40:24Z</dcterms:modified>
</cp:coreProperties>
</file>