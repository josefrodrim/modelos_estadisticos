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1784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3968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512E5F"/>
          </a:solidFill>
          <a:ln w="12700">
            <a:solidFill>
              <a:srgbClr val="512E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line">
            <a:avLst/>
          </a:prstGeom>
          <a:solidFill>
            <a:srgbClr val="7D3C98">
              <a:alpha val="20000"/>
            </a:srgbClr>
          </a:solidFill>
          <a:ln w="12700">
            <a:solidFill>
              <a:srgbClr val="D7BDE2">
                <a:alpha val="3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0" y="91440"/>
            <a:ext cx="3474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FFFFFF">
                    <a:alpha val="12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14000" dirty="0"/>
          </a:p>
        </p:txBody>
      </p:sp>
      <p:sp>
        <p:nvSpPr>
          <p:cNvPr id="6" name="Shape 4"/>
          <p:cNvSpPr/>
          <p:nvPr/>
        </p:nvSpPr>
        <p:spPr>
          <a:xfrm>
            <a:off x="411480" y="256032"/>
            <a:ext cx="1920240" cy="292608"/>
          </a:xfrm>
          <a:prstGeom prst="rect">
            <a:avLst/>
          </a:prstGeom>
          <a:solidFill>
            <a:srgbClr val="F5EEF8"/>
          </a:solidFill>
          <a:ln w="6350">
            <a:solidFill>
              <a:srgbClr val="A569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292608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512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11 · MÓDULO 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PCA — Cuántos</a:t>
            </a:r>
            <a:endParaRPr lang="en-US" sz="27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Componentes Retener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Kaiser · Loadings · Reconstrucción · Pipeline completo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A569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477316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8 · Módulo 4 · PCA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los 3 criterios de selección de 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varianza · codo · Kaiser (λ&gt;1) — combinar para decidir con confianza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Leer e interpretar la matriz de loadings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feature domina cada PC · heatmap · nombrar las PCs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el error de reconstrucción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MSE(k) = |X − X̂ₖ|²/np — cuánta info se pierde con k PCs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PCA + modelo supervisado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→ PCA(k) → Logística — comparar accuracy vs k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12070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12E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mensaje de hoy: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" y="1572768"/>
            <a:ext cx="3383280" cy="658368"/>
          </a:xfrm>
          <a:prstGeom prst="rect">
            <a:avLst/>
          </a:prstGeom>
          <a:solidFill>
            <a:srgbClr val="F5EEF8"/>
          </a:solidFill>
          <a:ln w="6350">
            <a:solidFill>
              <a:srgbClr val="A569B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162763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512E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hay una regla única</a:t>
            </a:r>
            <a:endParaRPr lang="en-US" sz="11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512E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 k. Tres criterios +</a:t>
            </a:r>
            <a:endParaRPr lang="en-US" sz="11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512E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 decisión de negocio.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5EEF8"/>
          </a:solidFill>
          <a:ln w="5080">
            <a:solidFill>
              <a:srgbClr val="A569B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Preguntar: '¿Qué es más importante para ustedes, reducir features o no perder información?' La respuesta orienta el criterio.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512E5F"/>
          </a:solidFill>
          <a:ln w="12700">
            <a:solidFill>
              <a:srgbClr val="512E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Tres criterios — combinarlos para mayor confianza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7B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los tres coinciden, alta confianza en k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8503920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8503920" cy="5029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704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1: % varianza acumulada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" y="1517904"/>
            <a:ext cx="3520440" cy="292608"/>
          </a:xfrm>
          <a:prstGeom prst="rect">
            <a:avLst/>
          </a:prstGeom>
          <a:solidFill>
            <a:srgbClr val="F5EEF8"/>
          </a:solidFill>
          <a:ln w="3810">
            <a:solidFill>
              <a:srgbClr val="A569B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545336"/>
            <a:ext cx="336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12E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argmin{k : Σᵢ≤ₖ λᵢ/Σλ ≥ umbral}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160520" y="1170432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= mínimo razonable · 95% = conservador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114032" y="1170432"/>
            <a:ext cx="1600200" cy="292608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68896" y="11887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k80 = np.argmax(cum&gt;=0.80)+1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8503920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304288"/>
            <a:ext cx="8503920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3957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2: Kaiser (λ &gt; 1)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43200"/>
            <a:ext cx="3520440" cy="292608"/>
          </a:xfrm>
          <a:prstGeom prst="rect">
            <a:avLst/>
          </a:prstGeom>
          <a:solidFill>
            <a:srgbClr val="F5EEF8"/>
          </a:solidFill>
          <a:ln w="3810">
            <a:solidFill>
              <a:srgbClr val="A569B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70632"/>
            <a:ext cx="336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12E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#{i : λᵢ &gt; 1}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60520" y="239572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válido con datos estandarizados (StandardScaler)</a:t>
            </a:r>
            <a:endParaRPr lang="en-US" sz="9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Significa: eigenvalue mayor que la varianza media de 1 feature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14032" y="2395728"/>
            <a:ext cx="1600200" cy="292608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68896" y="241401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k_kai = int(np.sum(ev &gt; 1))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" y="3529584"/>
            <a:ext cx="8503920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" y="3529584"/>
            <a:ext cx="8503920" cy="5029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" y="36210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E44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3: Codo del scree plot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" y="3968496"/>
            <a:ext cx="3520440" cy="292608"/>
          </a:xfrm>
          <a:prstGeom prst="rect">
            <a:avLst/>
          </a:prstGeom>
          <a:solidFill>
            <a:srgbClr val="F5EEF8"/>
          </a:solidFill>
          <a:ln w="3810">
            <a:solidFill>
              <a:srgbClr val="A569B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995928"/>
            <a:ext cx="3364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12E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punto de máxima curvatura del scree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160520" y="3621024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diferencia del scree → dónde se dobla la curva</a:t>
            </a:r>
            <a:endParaRPr lang="en-US" sz="9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Subjetivo pero intuitivo — el más usado en presentaciones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114032" y="3621024"/>
            <a:ext cx="1600200" cy="292608"/>
          </a:xfrm>
          <a:prstGeom prst="rect">
            <a:avLst/>
          </a:prstGeom>
          <a:solidFill>
            <a:srgbClr val="1A2B3C"/>
          </a:solidFill>
          <a:ln w="12700">
            <a:solidFill>
              <a:srgbClr val="1A2B3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68896" y="363931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k_cod = np.argmax(abs(np.diff(np.diff(ev_ratio))))+2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5EEF8"/>
          </a:solidFill>
          <a:ln w="5080">
            <a:solidFill>
              <a:srgbClr val="A569B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Resultado del notebook: Kaiser=4, 80%=3 o 4 dependiendo del dataset. Cuando coinciden → alta confianza. Si difieren → usar contexto.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Loadings — interpretar qué representa cada PC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= correlación entre feature y PC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457200"/>
          </a:xfrm>
          <a:prstGeom prst="rect">
            <a:avLst/>
          </a:prstGeom>
          <a:solidFill>
            <a:srgbClr val="512E5F"/>
          </a:solidFill>
          <a:ln w="12700">
            <a:solidFill>
              <a:srgbClr val="512E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loadings = pca.components_.T  →  shape (p, k)  →  loadings[i,j] = correlación de feature i con PC j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664208"/>
            <a:ext cx="4069080" cy="3255264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664208"/>
            <a:ext cx="4069080" cy="5029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77393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datos bancarios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" y="2103120"/>
            <a:ext cx="1792224" cy="347472"/>
          </a:xfrm>
          <a:prstGeom prst="rect">
            <a:avLst/>
          </a:prstGeom>
          <a:solidFill>
            <a:srgbClr val="512E5F"/>
          </a:solidFill>
          <a:ln w="3810">
            <a:solidFill>
              <a:srgbClr val="512E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6712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331720" y="2103120"/>
            <a:ext cx="868680" cy="347472"/>
          </a:xfrm>
          <a:prstGeom prst="rect">
            <a:avLst/>
          </a:prstGeom>
          <a:solidFill>
            <a:srgbClr val="512E5F"/>
          </a:solidFill>
          <a:ln w="3810">
            <a:solidFill>
              <a:srgbClr val="512E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04872" y="216712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10128" y="2103120"/>
            <a:ext cx="868680" cy="347472"/>
          </a:xfrm>
          <a:prstGeom prst="rect">
            <a:avLst/>
          </a:prstGeom>
          <a:solidFill>
            <a:srgbClr val="512E5F"/>
          </a:solidFill>
          <a:ln w="3810">
            <a:solidFill>
              <a:srgbClr val="512E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216712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PC2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5488" y="2496312"/>
            <a:ext cx="1792224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56032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31720" y="2496312"/>
            <a:ext cx="868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04872" y="2560320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3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10128" y="2496312"/>
            <a:ext cx="868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2560320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−0.10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" y="2889504"/>
            <a:ext cx="1792224" cy="347472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295351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educacion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331720" y="2889504"/>
            <a:ext cx="868680" cy="347472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04872" y="295351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3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+0.42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310128" y="2889504"/>
            <a:ext cx="868680" cy="347472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95351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−0.08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75488" y="3282696"/>
            <a:ext cx="1792224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34670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saldo_prom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331720" y="3282696"/>
            <a:ext cx="868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04872" y="334670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3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+0.41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10128" y="3282696"/>
            <a:ext cx="868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3280" y="334670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−0.12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75488" y="3675888"/>
            <a:ext cx="1792224" cy="347472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7398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331720" y="3675888"/>
            <a:ext cx="868680" cy="347472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404872" y="373989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−0.12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310128" y="3675888"/>
            <a:ext cx="868680" cy="347472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3280" y="3739896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3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+0.48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5488" y="4069080"/>
            <a:ext cx="1792224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41330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mora_30d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331720" y="4069080"/>
            <a:ext cx="868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04872" y="413308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−0.08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310128" y="4069080"/>
            <a:ext cx="868680" cy="347472"/>
          </a:xfrm>
          <a:prstGeom prst="rect">
            <a:avLst/>
          </a:prstGeom>
          <a:solidFill>
            <a:srgbClr val="FFFF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83280" y="4133088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3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+0.52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75488" y="4462272"/>
            <a:ext cx="1792224" cy="347472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45262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mora_90d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331720" y="4462272"/>
            <a:ext cx="868680" cy="347472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04872" y="4526280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−0.06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310128" y="4462272"/>
            <a:ext cx="868680" cy="347472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383280" y="4526280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3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+0.50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663440" y="1664208"/>
            <a:ext cx="4160520" cy="3255264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663440" y="1664208"/>
            <a:ext cx="4160520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28032" y="17739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nombrar las PCs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828032" y="2157984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Mirar los 2-3 features con mayor loading (en valor absoluto) en cada PC: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73168" y="2688336"/>
            <a:ext cx="3931920" cy="694944"/>
          </a:xfrm>
          <a:prstGeom prst="rect">
            <a:avLst/>
          </a:prstGeom>
          <a:solidFill>
            <a:srgbClr val="FAF5FF"/>
          </a:solidFill>
          <a:ln w="5080">
            <a:solidFill>
              <a:srgbClr val="E8D5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01184" y="276148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2E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PC1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504688" y="276148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loadings altos en ingresos, educación, saldo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901184" y="30906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'Capacidad financiera'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4773168" y="3474720"/>
            <a:ext cx="3931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E8D5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01184" y="354787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2E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PC2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504688" y="354787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loadings altos en deuda, mora_30d, mora_90d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4901184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'Riesgo crediticio'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5EEF8"/>
          </a:solidFill>
          <a:ln w="5080">
            <a:solidFill>
              <a:srgbClr val="A569B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Ejercicio de clase: mostrar el heatmap de loadings. Pedir a los alumnos que propongan un nombre para cada PC.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512E5F"/>
          </a:solidFill>
          <a:ln w="12700">
            <a:solidFill>
              <a:srgbClr val="512E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Error de reconstrucción y pipeline PCA+supervisado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D7B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Cuánta info se pierde · PCA como preprocesamiento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11480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114800" cy="5029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887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de reconstrucción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" y="1609344"/>
            <a:ext cx="3749040" cy="384048"/>
          </a:xfrm>
          <a:prstGeom prst="rect">
            <a:avLst/>
          </a:prstGeom>
          <a:solidFill>
            <a:srgbClr val="F5EEF8"/>
          </a:solidFill>
          <a:ln w="6350">
            <a:solidFill>
              <a:srgbClr val="A569B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6642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12E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MSE(k) = ||X − X̂ₖ||²F / (n·p)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" y="206654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Donde X̂ₖ = inverse_transform(transform(X)) con k PCs.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" y="2487168"/>
            <a:ext cx="3749040" cy="457200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578608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2E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k=1: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07008" y="25786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alto — mucha info perdida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" y="3017520"/>
            <a:ext cx="3749040" cy="457200"/>
          </a:xfrm>
          <a:prstGeom prst="rect">
            <a:avLst/>
          </a:prstGeom>
          <a:solidFill>
            <a:srgbClr val="E8D5F0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10896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2E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k=4: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07008" y="31089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cae bruscamente — señal capturada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5488" y="3547872"/>
            <a:ext cx="3749040" cy="457200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6393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12E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k=8: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07008" y="36393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≈ 0 — reconstrucción perfecta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" y="4069080"/>
            <a:ext cx="3749040" cy="694944"/>
          </a:xfrm>
          <a:prstGeom prst="rect">
            <a:avLst/>
          </a:prstGeom>
          <a:solidFill>
            <a:srgbClr val="512E5F"/>
          </a:solidFill>
          <a:ln w="12700">
            <a:solidFill>
              <a:srgbClr val="512E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" y="4069080"/>
            <a:ext cx="3749040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133088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pca_r = PCA(n_components=k)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94360" y="428853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X_r  = pca_r.fit_transform(X_sc)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94360" y="4443984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X_hat = pca_r.inverse_transform(X_r)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94360" y="4599432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MSE  = np.mean((X_sc - X_hat)**2)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709160" y="1078992"/>
            <a:ext cx="416052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1078992"/>
            <a:ext cx="4160520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28032" y="118872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PCA + Logística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73168" y="1682496"/>
            <a:ext cx="3931920" cy="457200"/>
          </a:xfrm>
          <a:prstGeom prst="rect">
            <a:avLst/>
          </a:prstGeom>
          <a:solidFill>
            <a:srgbClr val="FAF5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01184" y="1792224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358384" y="1792224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69.3%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16752" y="1792224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5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Acc=0.693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208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Poco — señal insuficiente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73168" y="2194560"/>
            <a:ext cx="3931920" cy="457200"/>
          </a:xfrm>
          <a:prstGeom prst="rect">
            <a:avLst/>
          </a:prstGeom>
          <a:solidFill>
            <a:srgbClr val="E8D5F0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01184" y="2304288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k=6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358384" y="2304288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78.0%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016752" y="2304288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3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Acc=0.780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720840" y="2304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 — captura señal real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73168" y="2706624"/>
            <a:ext cx="3931920" cy="457200"/>
          </a:xfrm>
          <a:prstGeom prst="rect">
            <a:avLst/>
          </a:prstGeom>
          <a:solidFill>
            <a:srgbClr val="E8D5F0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01184" y="2816352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k=8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358384" y="2816352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78.0%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016752" y="2816352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3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Acc=0.780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720840" y="281635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— no mejora con más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73168" y="3218688"/>
            <a:ext cx="393192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8D5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901184" y="3328416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k=20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358384" y="3328416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016752" y="3328416"/>
            <a:ext cx="603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54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Acc=0.747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720840" y="332841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— incluye ruido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773168" y="3712464"/>
            <a:ext cx="3931920" cy="1115568"/>
          </a:xfrm>
          <a:prstGeom prst="rect">
            <a:avLst/>
          </a:prstGeom>
          <a:solidFill>
            <a:srgbClr val="512E5F"/>
          </a:solidFill>
          <a:ln w="12700">
            <a:solidFill>
              <a:srgbClr val="512E5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01184" y="3785616"/>
            <a:ext cx="3703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como regularización: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901184" y="4059936"/>
            <a:ext cx="3703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las últimas PCs = filtrar ruido dimensional. Puede mejorar accuracy si p &gt;&gt; dimensión real de la señal.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F5EEF8"/>
          </a:solidFill>
          <a:ln w="5080">
            <a:solidFill>
              <a:srgbClr val="A569B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D3C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El pipeline con k=6 supera al modelo con 20 features porque filtra el ruido. PCA actúa como regularización implícita.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lin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lin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lin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Clase11_PCA_Interpretacion.ipynb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103120"/>
          </a:xfrm>
          <a:prstGeom prst="rect">
            <a:avLst/>
          </a:prstGeom>
          <a:solidFill>
            <a:srgbClr val="1E2040"/>
          </a:solidFill>
          <a:ln w="6350">
            <a:solidFill>
              <a:srgbClr val="3D2B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72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Tres criterios para elegir k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pca = PCA(); pca.fit(X_sc)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15671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   = pca.explained_variance_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cum  = np.cumsum(pca.explained_variance_ratio_)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k_80  = np.argmax(cum &gt;= 0.80) + 1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k_kai = int(np.sum(ev &gt; 1))      # Kaiser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k_cod = np.argmax(abs(np.diff(np.diff(ev_r))))+2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73168" y="566928"/>
            <a:ext cx="4114800" cy="2103120"/>
          </a:xfrm>
          <a:prstGeom prst="rect">
            <a:avLst/>
          </a:prstGeom>
          <a:solidFill>
            <a:srgbClr val="1E2040"/>
          </a:solidFill>
          <a:ln w="6350">
            <a:solidFill>
              <a:srgbClr val="3D2B5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72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Heatmap de loadings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pca_k = PCA(n_components=k)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pca_k.fit(X_sc)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6413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df_load = pd.DataFrame(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pca_k.components_.T,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index=feature_names,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columns=[f'PC{i+1}' for i in range(k)])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37760" y="261061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ax.imshow(df_load.T, cmap='RdBu_r')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56032" y="2816352"/>
            <a:ext cx="8631936" cy="2194560"/>
          </a:xfrm>
          <a:prstGeom prst="rect">
            <a:avLst/>
          </a:prstGeom>
          <a:solidFill>
            <a:srgbClr val="1E2040"/>
          </a:solidFill>
          <a:ln w="6350">
            <a:solidFill>
              <a:srgbClr val="3D2B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6032" y="2816352"/>
            <a:ext cx="8631936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290779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B72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Pipeline PCA + clasificación supervisada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20624" y="316382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sklearn.pipeline import Pipeline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24" y="364845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 = Pipeline([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389077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('sc',  StandardScaler()),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4133088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('pca', PCA(n_components=k)),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437540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('lr',  LogisticRegression(C=1e6, max_iter=500))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20624" y="461772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20624" y="486003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pipe.fit(X_train, y_train)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20624" y="510235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 = accuracy_score(y_test, pipe.predict(X_test))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512E5F"/>
          </a:solidFill>
          <a:ln w="12700">
            <a:solidFill>
              <a:srgbClr val="512E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line">
            <a:avLst/>
          </a:prstGeom>
          <a:solidFill>
            <a:srgbClr val="7D3C98">
              <a:alpha val="17000"/>
            </a:srgbClr>
          </a:solidFill>
          <a:ln w="12700">
            <a:solidFill>
              <a:srgbClr val="D7BDE2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Módulo 4</a:t>
            </a:r>
            <a:endParaRPr lang="en-US" sz="30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completado ✓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20040" y="1874520"/>
            <a:ext cx="2286000" cy="0"/>
          </a:xfrm>
          <a:prstGeom prst="line">
            <a:avLst/>
          </a:prstGeom>
          <a:noFill/>
          <a:ln w="19050">
            <a:solidFill>
              <a:srgbClr val="A569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299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2340864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7BD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Resumen Módulo 4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E8D5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69080" y="868680"/>
            <a:ext cx="475488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69080" y="868680"/>
            <a:ext cx="4754880" cy="50292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24528" y="960120"/>
            <a:ext cx="475488" cy="475488"/>
          </a:xfrm>
          <a:prstGeom prst="rect">
            <a:avLst/>
          </a:prstGeom>
          <a:solidFill>
            <a:srgbClr val="7D3C98"/>
          </a:solidFill>
          <a:ln w="12700">
            <a:solidFill>
              <a:srgbClr val="7D3C9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9601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C10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28032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10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28032" y="128930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= eigendecomp de Σ̂ · SVD equivalente · Scree plot · Biplot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1947672"/>
            <a:ext cx="475488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E8D5F0"/>
            </a:solidFill>
            <a:prstDash val="solid"/>
          </a:ln>
          <a:effectLst>
            <a:outerShdw blurRad="101600" dist="38100" dir="8100000" algn="bl" rotWithShape="0">
              <a:srgbClr val="9B72AA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069080" y="1947672"/>
            <a:ext cx="4754880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24528" y="2039112"/>
            <a:ext cx="475488" cy="475488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24528" y="20391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C11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28032" y="20391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11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28032" y="236829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Kaiser · Codo · Loadings e interpretación · Reconstrucción · Pipeline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069080" y="3154680"/>
            <a:ext cx="4754880" cy="1883664"/>
          </a:xfrm>
          <a:prstGeom prst="rect">
            <a:avLst/>
          </a:prstGeom>
          <a:solidFill>
            <a:srgbClr val="512E5F"/>
          </a:solidFill>
          <a:ln w="12700">
            <a:solidFill>
              <a:srgbClr val="512E5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9080" y="3154680"/>
            <a:ext cx="4754880" cy="50292"/>
          </a:xfrm>
          <a:prstGeom prst="rect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24528" y="3218688"/>
            <a:ext cx="4462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7BDE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🎓  Curso 8 — Modelos Estadísticos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24528" y="3694176"/>
            <a:ext cx="109728" cy="109728"/>
          </a:xfrm>
          <a:prstGeom prst="line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07408" y="3621024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1: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93792" y="36210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36208" y="362102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Fisher, BLUE, inferencia OLS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224528" y="4023360"/>
            <a:ext cx="109728" cy="109728"/>
          </a:xfrm>
          <a:prstGeom prst="line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07408" y="3950208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2: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93792" y="39502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Logística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36208" y="395020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GLM, MLE, ROC/AUC, scoring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224528" y="4352544"/>
            <a:ext cx="109728" cy="109728"/>
          </a:xfrm>
          <a:prstGeom prst="line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07408" y="4279392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3: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93792" y="42793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Discriminante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36208" y="4279392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LDA, QDA, Fisher, segmentación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224528" y="4681728"/>
            <a:ext cx="109728" cy="109728"/>
          </a:xfrm>
          <a:prstGeom prst="line">
            <a:avLst/>
          </a:prstGeom>
          <a:solidFill>
            <a:srgbClr val="A569BD"/>
          </a:solidFill>
          <a:ln w="12700">
            <a:solidFill>
              <a:srgbClr val="A569B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07408" y="4608576"/>
            <a:ext cx="749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A569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4: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193792" y="460857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236208" y="460857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SVD, loadings, pipeline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206240" y="5024628"/>
            <a:ext cx="44622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5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Josef Rodriguez · 11 clases · 33 archivos · Nivel avanzado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1168</Words>
  <Application>Microsoft Macintosh PowerPoint</Application>
  <PresentationFormat>On-screen Show (16:9)</PresentationFormat>
  <Paragraphs>172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Josef Rodriguez</cp:lastModifiedBy>
  <cp:revision>3</cp:revision>
  <dcterms:created xsi:type="dcterms:W3CDTF">2026-04-17T16:04:02Z</dcterms:created>
  <dcterms:modified xsi:type="dcterms:W3CDTF">2026-04-25T01:07:33Z</dcterms:modified>
</cp:coreProperties>
</file>