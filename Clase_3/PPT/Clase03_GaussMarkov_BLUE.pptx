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91"/>
    <p:restoredTop sz="94610"/>
  </p:normalViewPr>
  <p:slideViewPr>
    <p:cSldViewPr snapToGrid="0" snapToObjects="1">
      <p:cViewPr varScale="1">
        <p:scale>
          <a:sx n="208" d="100"/>
          <a:sy n="208" d="100"/>
        </p:scale>
        <p:origin x="7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46904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37760" y="0"/>
            <a:ext cx="420624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645152" y="0"/>
            <a:ext cx="329184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669280" y="274320"/>
            <a:ext cx="3840480" cy="3840480"/>
          </a:xfrm>
          <a:prstGeom prst="line">
            <a:avLst/>
          </a:prstGeom>
          <a:solidFill>
            <a:srgbClr val="2176AE">
              <a:alpha val="20000"/>
            </a:srgbClr>
          </a:solidFill>
          <a:ln w="12700">
            <a:solidFill>
              <a:srgbClr val="C8DEF5">
                <a:alpha val="35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0" y="27432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0" b="1" dirty="0">
                <a:solidFill>
                  <a:srgbClr val="FFFFFF">
                    <a:alpha val="12000"/>
                  </a:srgbClr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β̂</a:t>
            </a:r>
            <a:endParaRPr lang="en-US" sz="16000" dirty="0"/>
          </a:p>
        </p:txBody>
      </p:sp>
      <p:sp>
        <p:nvSpPr>
          <p:cNvPr id="6" name="Shape 4"/>
          <p:cNvSpPr/>
          <p:nvPr/>
        </p:nvSpPr>
        <p:spPr>
          <a:xfrm>
            <a:off x="411480" y="256032"/>
            <a:ext cx="1737360" cy="292608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00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 03 · MÓDULO 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685800"/>
            <a:ext cx="4069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Formulación OLS,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Supuestos Gauss-Markov</a:t>
            </a:r>
            <a:endParaRPr lang="en-US" sz="2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 Propiedad BLUE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11480" y="288036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β̂ es el mejor estimador posible — y cuándo deja de serlo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3456432"/>
            <a:ext cx="237744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3621024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3968496"/>
            <a:ext cx="4069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horas · Nivel avanzado · Python + NumPy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¿Qué vas a poder hacer al terminar?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3931920" y="1078992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931920" y="1078992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96512" y="11704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26280" y="115214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Enunciar los 5 supuestos Gauss-Markov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26280" y="149047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saber cuál viola qué — heterocedasticidad, autocorrelación, etc.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931920" y="2011680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931920" y="2011680"/>
            <a:ext cx="48920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96512" y="21031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26280" y="2084832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E[β̂] = β empíricamente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242316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Simulaciones que prueban la insesgadez del estimador OLS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931920" y="2944368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931920" y="2944368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96512" y="30358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26280" y="30175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Calcular s² = SSE/(n−p) correctamente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26280" y="335584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dividir por n−p y no por n — grados de libertad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931920" y="3877056"/>
            <a:ext cx="4892040" cy="80467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931920" y="3877056"/>
            <a:ext cx="48920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96512" y="396849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39502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Generar el panel de 4 gráficos de diagnóstico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26280" y="428853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ajustados · Q-Q · Scale-location · vs orden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114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pregunta de hoy: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11480" y="1627632"/>
            <a:ext cx="3383280" cy="53035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1700784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¿Por qué OLS y no</a:t>
            </a: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otro estimador?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11480" y="228600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respuesta: Teorema de Gauss-Markov.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los supuestos correctos, OLS es el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Linear Unbiased Estimator (BLUE).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Preguntar: '¿Cuántos de ustedes han verificado los supuestos en su trabajo antes de interpretar resultados?'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Los 5 Supuestos de Gauss-Markov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son necesarios para que OLS sea BLUE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97280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97280"/>
            <a:ext cx="50292" cy="694944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24128" y="11521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Linealidad en parámetros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024128" y="1463040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149047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 = Xβ + ε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834640" y="117043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Modelo mal especificado (ej. relación cuadrática)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1865376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1865376"/>
            <a:ext cx="50292" cy="694944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5488" y="192024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24128" y="19202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Exogeneidad estricta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24128" y="2231136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225856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E[ε | X] = 0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2834640" y="1938528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Endogeneidad — variable omitida correlacionada con 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2633472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0040" y="2633472"/>
            <a:ext cx="50292" cy="69494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5488" y="2688336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024128" y="26883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Esperanza cero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24128" y="2999232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97280" y="3026664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E[ε] = 0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834640" y="270662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Intercepto mal definido — siempre incluir columna de unos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20040" y="3401568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320040" y="3401568"/>
            <a:ext cx="50292" cy="694944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5488" y="3456432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024128" y="34564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Homocedasticidad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24128" y="3767328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" y="3794760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Var(ε) = σ²I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2834640" y="347472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Heterocedasticidad — varianza crece/decrece con ŷ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0040" y="4169664"/>
            <a:ext cx="8503920" cy="694944"/>
          </a:xfrm>
          <a:prstGeom prst="rect">
            <a:avLst/>
          </a:prstGeom>
          <a:solidFill>
            <a:srgbClr val="FFFFFF"/>
          </a:solidFill>
          <a:ln w="508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20040" y="4169664"/>
            <a:ext cx="50292" cy="694944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5488" y="422452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024128" y="42245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autocorrelación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024128" y="4535424"/>
            <a:ext cx="1645920" cy="256032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97280" y="4562856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Cov(εᵢ,εⱼ) = 0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834640" y="4242816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se viola: Series de tiempo, datos espaciales → usar GLS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Pedir al grupo: '¿Han visto alguna vez un gráfico de residuos con patrón de embudo? Eso es GM4 violado.'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E[β̂] = β — Insesgadez de OLS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algebraica y verificación empírica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40233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078992"/>
            <a:ext cx="402336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algebraica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" y="1664208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179222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β̂ = (XᵀX)⁻¹Xᵀy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383280" y="1810512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75488" y="2231136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35915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(XᵀX)⁻¹Xᵀ(Xβ+ε)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83280" y="237744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sustituir y=Xβ+ε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75488" y="2798064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292608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β + (XᵀX)⁻¹Xᵀε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3280" y="2944368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expandir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475488" y="3364992"/>
            <a:ext cx="3749040" cy="49377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34930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E[β̂] = β + (XᵀX)⁻¹Xᵀ E[ε]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383280" y="351129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tomar esperanza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475488" y="3931920"/>
            <a:ext cx="3749040" cy="493776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4360" y="405993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E[β̂] = β  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383280" y="4078224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E[ε]=0 (GM3)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0" y="1078992"/>
            <a:ext cx="42519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1078992"/>
            <a:ext cx="425196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36592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empírica (5000 sims)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36592" y="1627632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 cada simulación: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1. ε ~ N(0, σ²I)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2. y = Xβ + ε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7A92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3. Calcular β̂ = (XᵀX)⁻¹Xᵀy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36592" y="2633472"/>
            <a:ext cx="3931920" cy="51206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274320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Resultado: E[β̂] ≈ β_real en cada βᵢ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36592" y="325526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Implicancia práctica: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736592" y="35661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 muchos datasets similares, β̂ acierta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36592" y="391363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No garantiza exactitud en UN dataset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736592" y="42611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Sesgo = 0 es propiedad del estimador, no de la muestra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Ejecutar en vivo: simular 200 datasets, graficar histograma de β̂₁. Ver que está centrado en β_real.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s² = SSE/(n−p) — Estimador insesgado de σ²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 dividir bien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20040" y="1078992"/>
            <a:ext cx="40233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78992"/>
            <a:ext cx="402336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1887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 − p?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" y="1627632"/>
            <a:ext cx="3749040" cy="457200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1700784"/>
            <a:ext cx="3520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s² = SSE/(n−p) = eᵀe/(n−p)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" y="2157984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24028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observaciones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743200" y="22402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disponibles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5488" y="2633472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271576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parámetros estimados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0" y="27157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perdidos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75488" y="3108960"/>
            <a:ext cx="3749040" cy="402336"/>
          </a:xfrm>
          <a:prstGeom prst="rect">
            <a:avLst/>
          </a:prstGeom>
          <a:solidFill>
            <a:srgbClr val="F7F9FC"/>
          </a:solidFill>
          <a:ln w="3810">
            <a:solidFill>
              <a:srgbClr val="DDE8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9125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n−p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0" y="319125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grados de libertad residuales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75488" y="3584448"/>
            <a:ext cx="3749040" cy="402336"/>
          </a:xfrm>
          <a:prstGeom prst="rect">
            <a:avLst/>
          </a:prstGeom>
          <a:solidFill>
            <a:srgbClr val="0F3D6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66674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E[s²] = σ²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3666744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 ← por eso n−p y no 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0" y="1078992"/>
            <a:ext cx="4251960" cy="3822192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1078992"/>
            <a:ext cx="4251960" cy="50292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36592" y="118872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 de dividir mal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736592" y="1700784"/>
            <a:ext cx="3931920" cy="58521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64608" y="17922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91072" y="179222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&lt;σ²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64608" y="206654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Subestima la incertidumbre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736592" y="2359152"/>
            <a:ext cx="3931920" cy="585216"/>
          </a:xfrm>
          <a:prstGeom prst="rect">
            <a:avLst/>
          </a:prstGeom>
          <a:solidFill>
            <a:srgbClr val="F7F9FC"/>
          </a:solidFill>
          <a:ln w="5080">
            <a:solidFill>
              <a:srgbClr val="DDE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64608" y="2450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SSE/(n-1)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291072" y="245059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≈σ² (casi)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64608" y="27249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pero aún sesgado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736592" y="3017520"/>
            <a:ext cx="3931920" cy="585216"/>
          </a:xfrm>
          <a:prstGeom prst="rect">
            <a:avLst/>
          </a:prstGeom>
          <a:solidFill>
            <a:srgbClr val="EAF2FB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64608" y="310896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SSE/(n-p)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291072" y="310896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E[·] =σ²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864608" y="338328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 — el correcto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736592" y="3675888"/>
            <a:ext cx="3931920" cy="10789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64608" y="37673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en inferencia: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864608" y="404164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SE(β̂ⱼ) = √(s² · (XᵀX)⁻¹ⱼⱼ)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s² sesgado da SE incorrectos → t-tests incorrectos → conclusiones equivocadas.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Demostrar con código: simular 3000 veces, mostrar que E[SSE/(n-p)]=σ², E[SSE/n]&lt;σ².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EAF2FB"/>
          </a:solidFill>
          <a:ln w="12700">
            <a:solidFill>
              <a:srgbClr val="EAF2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50292" cy="96012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BLUE — Best Linear Unbiased Estimator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Teorema de Gauss-Markov en una slide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078992"/>
            <a:ext cx="8503920" cy="512064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52144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Teorema de Gauss-Markov: bajo GM1–GM5, β̂ OLS tiene la MENOR VARIANZA entre todos los estimadores lineales insesgados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737360"/>
            <a:ext cx="205740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9768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F3D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429768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9768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varianza (más eficiente)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9768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Var(β̂) ≤ Var(β̃) para cualquier otro estimador lineal insesgado β̃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496312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96312" y="1737360"/>
            <a:ext cx="205740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06040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176A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4400" dirty="0"/>
          </a:p>
        </p:txBody>
      </p:sp>
      <p:sp>
        <p:nvSpPr>
          <p:cNvPr id="19" name="Text 17"/>
          <p:cNvSpPr/>
          <p:nvPr/>
        </p:nvSpPr>
        <p:spPr>
          <a:xfrm>
            <a:off x="2606040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606040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Estimador lineal en y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06040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06040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β̂ = Cy donde C = (XᵀX)⁻¹Xᵀ — combinación lineal de y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672584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72584" y="1737360"/>
            <a:ext cx="20574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782312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5BA4C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4782312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Unbiased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82312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Insesgado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782312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E[β̂] = β — en promedio, acierta el valor real de β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848856" y="1737360"/>
            <a:ext cx="2057400" cy="30175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48856" y="1737360"/>
            <a:ext cx="2057400" cy="5029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958584" y="1828800"/>
            <a:ext cx="502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27AE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4400" dirty="0"/>
          </a:p>
        </p:txBody>
      </p:sp>
      <p:sp>
        <p:nvSpPr>
          <p:cNvPr id="33" name="Text 31"/>
          <p:cNvSpPr/>
          <p:nvPr/>
        </p:nvSpPr>
        <p:spPr>
          <a:xfrm>
            <a:off x="6958584" y="251460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Estimator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58584" y="2880360"/>
            <a:ext cx="1874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Estimador estadístico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958584" y="3200400"/>
            <a:ext cx="1847088" cy="0"/>
          </a:xfrm>
          <a:prstGeom prst="line">
            <a:avLst/>
          </a:prstGeom>
          <a:noFill/>
          <a:ln w="6350">
            <a:solidFill>
              <a:srgbClr val="DDE8F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58584" y="3273552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calculable a partir de los datos (X, y)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320040" y="4645152"/>
            <a:ext cx="8503920" cy="34747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" y="470001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Clave: BLUE no dice que β̂ esté cerca del β real en una muestra. Dice que es la mejor apuesta posible si los supuestos se cumplen.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'Si los supuestos GM se violan, OLS sigue siendo insesgado pero ya no tiene la menor varianza. Por eso diagnosticamos.'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46304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A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96012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El panel de diagnóstico: 4 gráficos obligatorios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960120" y="676656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interpretar cualquier coeficiente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274320" y="107899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078992"/>
            <a:ext cx="420624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" y="1188720"/>
            <a:ext cx="384048" cy="384048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Ajustados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" y="153619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ax.scatter(y_hat, e)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438912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patrón → homocedasticidad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embudo → GM4 violado → usar WLS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17720" y="107899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078992"/>
            <a:ext cx="4206240" cy="50292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82312" y="1188720"/>
            <a:ext cx="384048" cy="384048"/>
          </a:xfrm>
          <a:prstGeom prst="rect">
            <a:avLst/>
          </a:prstGeom>
          <a:solidFill>
            <a:srgbClr val="2176AE"/>
          </a:solidFill>
          <a:ln w="12700">
            <a:solidFill>
              <a:srgbClr val="2176A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82312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76088" y="12070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Q-Q Plot de residuos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76088" y="153619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157276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stats.probplot(e_std, plot=ax)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82312" y="188366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sobre la diagonal → normalidad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pesadas → no normal → tests no válidos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99923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74320" y="2999232"/>
            <a:ext cx="4206240" cy="50292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" y="3108960"/>
            <a:ext cx="384048" cy="384048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38912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3268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Scale-Location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32688" y="345643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" y="34930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ax.scatter(y_hat, np.sqrt(abs(e_std)))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38912" y="380390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 horizontal plana → varianza constante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ascendente → heterocedasticidad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999232"/>
            <a:ext cx="4206240" cy="1755648"/>
          </a:xfrm>
          <a:prstGeom prst="rect">
            <a:avLst/>
          </a:prstGeom>
          <a:solidFill>
            <a:srgbClr val="FFFFFF"/>
          </a:solidFill>
          <a:ln w="6350">
            <a:solidFill>
              <a:srgbClr val="DDE8F2"/>
            </a:solidFill>
            <a:prstDash val="solid"/>
          </a:ln>
          <a:effectLst>
            <a:outerShdw blurRad="101600" dist="38100" dir="8100000" algn="bl" rotWithShape="0">
              <a:srgbClr val="9EAFC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17720" y="2999232"/>
            <a:ext cx="4206240" cy="50292"/>
          </a:xfrm>
          <a:prstGeom prst="rect">
            <a:avLst/>
          </a:prstGeom>
          <a:solidFill>
            <a:srgbClr val="3D9970"/>
          </a:solidFill>
          <a:ln w="12700">
            <a:solidFill>
              <a:srgbClr val="3D997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82312" y="3108960"/>
            <a:ext cx="384048" cy="384048"/>
          </a:xfrm>
          <a:prstGeom prst="rect">
            <a:avLst/>
          </a:prstGeom>
          <a:solidFill>
            <a:srgbClr val="3D9970"/>
          </a:solidFill>
          <a:ln w="12700">
            <a:solidFill>
              <a:srgbClr val="3D997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782312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276088" y="31272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vs Orden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76088" y="3456432"/>
            <a:ext cx="2194560" cy="274320"/>
          </a:xfrm>
          <a:prstGeom prst="rect">
            <a:avLst/>
          </a:prstGeom>
          <a:solidFill>
            <a:srgbClr val="EAF2FB"/>
          </a:solidFill>
          <a:ln w="3810">
            <a:solidFill>
              <a:srgbClr val="C8DE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349240" y="34930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F3D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ax.plot(range(n), e)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782312" y="3803904"/>
            <a:ext cx="3886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tendencia → no autocorrelación ✓</a:t>
            </a:r>
            <a:endParaRPr lang="en-US" sz="9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00" i="1" dirty="0">
                <a:solidFill>
                  <a:srgbClr val="7A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sinusoidal → GM5 violado → DW test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EAF2FB"/>
          </a:solidFill>
          <a:ln w="5080">
            <a:solidFill>
              <a:srgbClr val="C8DE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79145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🎙 Mostrar en vivo: datos heterocedasticos → el gráfico 1 muestra embudo. Luego mostrar datos OK. El contraste es inmediato.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0"/>
          </a:xfrm>
          <a:prstGeom prst="rect">
            <a:avLst/>
          </a:prstGeom>
          <a:solidFill>
            <a:srgbClr val="141E2D"/>
          </a:solidFill>
          <a:ln w="12700">
            <a:solidFill>
              <a:srgbClr val="141E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37744" y="137160"/>
            <a:ext cx="155448" cy="155448"/>
          </a:xfrm>
          <a:prstGeom prst="line">
            <a:avLst/>
          </a:prstGeom>
          <a:solidFill>
            <a:srgbClr val="E06C75"/>
          </a:solidFill>
          <a:ln w="12700">
            <a:solidFill>
              <a:srgbClr val="E06C7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12064" y="137160"/>
            <a:ext cx="155448" cy="155448"/>
          </a:xfrm>
          <a:prstGeom prst="line">
            <a:avLst/>
          </a:prstGeom>
          <a:solidFill>
            <a:srgbClr val="E5C07B"/>
          </a:solidFill>
          <a:ln w="12700">
            <a:solidFill>
              <a:srgbClr val="E5C07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37160"/>
            <a:ext cx="155448" cy="155448"/>
          </a:xfrm>
          <a:prstGeom prst="line">
            <a:avLst/>
          </a:prstGeom>
          <a:solidFill>
            <a:srgbClr val="98C379"/>
          </a:solidFill>
          <a:ln w="12700">
            <a:solidFill>
              <a:srgbClr val="98C3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9144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82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·  Clase03_GaussMarkov_BLUE.ipynb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56032" y="566928"/>
            <a:ext cx="4315968" cy="210312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56032" y="566928"/>
            <a:ext cx="4315968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658368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Estimar s² insesgado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20624" y="91440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b, *_ = np.linalg.lstsq(X, y, rcond=None)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20624" y="115671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     = y - X @ b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20624" y="1399032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p  = X.shape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20624" y="1883664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SSE  = e @ e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20624" y="2125980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   = SSE / (n - p)   # ← insesgado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20624" y="2368296"/>
            <a:ext cx="40416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   = np.sqrt(s2)     # error estándar residual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773168" y="566928"/>
            <a:ext cx="4114800" cy="210312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773168" y="566928"/>
            <a:ext cx="4114800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0328" y="65836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Tests de supuestos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937760" y="91440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Normalidad (Shapiro-Wilk)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937760" y="115671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_, p_sw = stats.shapiro(e[:250])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937760" y="139903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Autocorrelación (Durbin-Watson)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937760" y="164134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dw = np.sum(np.diff(e)**2) / (e @ e)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18836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83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Breusch-Pagan (homocedasticidad)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937760" y="212598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e2 = e**2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937760" y="2368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b_aux, *_ = np.linalg.lstsq(X, e2, rcond=None)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6032" y="2816352"/>
            <a:ext cx="8631936" cy="2194560"/>
          </a:xfrm>
          <a:prstGeom prst="rect">
            <a:avLst/>
          </a:prstGeom>
          <a:solidFill>
            <a:srgbClr val="1C2B3A"/>
          </a:solidFill>
          <a:ln w="6350">
            <a:solidFill>
              <a:srgbClr val="2D4A6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6032" y="2816352"/>
            <a:ext cx="8631936" cy="50292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90779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5C8B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Panel de 4 gráficos de diagnóstico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0624" y="316382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fig, axes = plt.subplots(2, 2, figsize=(13, 9))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0624" y="3406140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e_std = e / np.sqrt(s2)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20624" y="3648456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axes[0,0].scatter(y_hat, e)                      # 1. Residuos vs Ajustados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20624" y="3890772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stats.probplot(e_std, dist='norm', plot=axes[0,1]) # 2. Q-Q Plot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20624" y="4133088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axes[1,0].scatter(y_hat, np.sqrt(np.abs(e_std)))  # 3. Scale-Location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20624" y="4375404"/>
            <a:ext cx="83576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ABB2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axes[1,1].plot(range(n), e)                        # 4. vs Orden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94760" cy="5143500"/>
          </a:xfrm>
          <a:prstGeom prst="rect">
            <a:avLst/>
          </a:prstGeom>
          <a:solidFill>
            <a:srgbClr val="0F3D6E"/>
          </a:solidFill>
          <a:ln w="12700">
            <a:solidFill>
              <a:srgbClr val="0F3D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94760" y="0"/>
            <a:ext cx="50292" cy="5143500"/>
          </a:xfrm>
          <a:prstGeom prst="rect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" y="2651760"/>
            <a:ext cx="3566160" cy="3566160"/>
          </a:xfrm>
          <a:prstGeom prst="line">
            <a:avLst/>
          </a:prstGeom>
          <a:solidFill>
            <a:srgbClr val="2176AE">
              <a:alpha val="17000"/>
            </a:srgbClr>
          </a:solidFill>
          <a:ln w="12700">
            <a:solidFill>
              <a:srgbClr val="C8DEF5">
                <a:alpha val="2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292608"/>
            <a:ext cx="3337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Clase 3</a:t>
            </a:r>
            <a:endParaRPr lang="en-US" sz="34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completada.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320040" y="1874520"/>
            <a:ext cx="2286000" cy="0"/>
          </a:xfrm>
          <a:prstGeom prst="line">
            <a:avLst/>
          </a:prstGeom>
          <a:noFill/>
          <a:ln w="19050">
            <a:solidFill>
              <a:srgbClr val="5BA4C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202996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8DE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Josef Rodriguez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9080" y="27432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 que cubrimos hoy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069080" y="731520"/>
            <a:ext cx="4754880" cy="0"/>
          </a:xfrm>
          <a:prstGeom prst="line">
            <a:avLst/>
          </a:prstGeom>
          <a:noFill/>
          <a:ln w="9525">
            <a:solidFill>
              <a:srgbClr val="DDE8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69080" y="978408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15968" y="88696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supuestos Gauss-Markov y sus violaciones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069080" y="1453896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15968" y="1362456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E[β̂]=β — insesgadez (algebraica + empírica)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069080" y="1929384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5968" y="1837944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s²=SSE/(n−p) — estimador insesgado de σ²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069080" y="2404872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5968" y="2313432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— menor varianza entre estimadores lineales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069080" y="2880360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5968" y="278892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4 gráficos de diagnóstico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069080" y="3355848"/>
            <a:ext cx="146304" cy="146304"/>
          </a:xfrm>
          <a:prstGeom prst="line">
            <a:avLst/>
          </a:prstGeom>
          <a:solidFill>
            <a:srgbClr val="5BA4CF"/>
          </a:solidFill>
          <a:ln w="12700">
            <a:solidFill>
              <a:srgbClr val="5BA4C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15968" y="3264408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Tests: Shapiro-Wilk · Durbin-Watson · Breusch-Pagan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069080" y="3931920"/>
            <a:ext cx="4754880" cy="987552"/>
          </a:xfrm>
          <a:prstGeom prst="rect">
            <a:avLst/>
          </a:prstGeom>
          <a:solidFill>
            <a:srgbClr val="EAF2FB"/>
          </a:solidFill>
          <a:ln w="6350">
            <a:solidFill>
              <a:srgbClr val="C8DE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24528" y="402336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F3D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clase — Lunes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224528" y="4297680"/>
            <a:ext cx="4434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17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ajustado · Tabla ANOVA · F-test global · t-tests por βⱼ · Intervalos de confianza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1413</Words>
  <Application>Microsoft Macintosh PowerPoint</Application>
  <PresentationFormat>On-screen Show (16:9)</PresentationFormat>
  <Paragraphs>194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Courier New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Josef Rodriguez</cp:lastModifiedBy>
  <cp:revision>2</cp:revision>
  <dcterms:created xsi:type="dcterms:W3CDTF">2026-03-31T13:19:48Z</dcterms:created>
  <dcterms:modified xsi:type="dcterms:W3CDTF">2026-04-07T00:45:53Z</dcterms:modified>
</cp:coreProperties>
</file>