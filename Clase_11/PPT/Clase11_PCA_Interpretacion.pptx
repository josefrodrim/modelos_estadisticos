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3968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0" y="0"/>
            <a:ext cx="4206240" cy="5143500"/>
          </a:xfrm>
          <a:prstGeom prst="rect">
            <a:avLst/>
          </a:prstGeom>
          <a:solidFill>
            <a:srgbClr val="512E5F"/>
          </a:solidFill>
          <a:ln w="12700">
            <a:solidFill>
              <a:srgbClr val="512E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645152" y="0"/>
            <a:ext cx="329184" cy="5143500"/>
          </a:xfrm>
          <a:prstGeom prst="rect">
            <a:avLst/>
          </a:prstGeom>
          <a:solidFill>
            <a:srgbClr val="A569BD"/>
          </a:solidFill>
          <a:ln w="12700">
            <a:solidFill>
              <a:srgbClr val="A569B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0" y="274320"/>
            <a:ext cx="3840480" cy="3840480"/>
          </a:xfrm>
          <a:prstGeom prst="line">
            <a:avLst/>
          </a:prstGeom>
          <a:solidFill>
            <a:srgbClr val="7D3C98">
              <a:alpha val="20000"/>
            </a:srgbClr>
          </a:solidFill>
          <a:ln w="12700">
            <a:solidFill>
              <a:srgbClr val="D7BDE2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0" y="91440"/>
            <a:ext cx="3474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0" b="1" dirty="0">
                <a:solidFill>
                  <a:srgbClr val="FFFFFF">
                    <a:alpha val="12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</a:t>
            </a:r>
            <a:endParaRPr lang="en-US" sz="14000" dirty="0"/>
          </a:p>
        </p:txBody>
      </p:sp>
      <p:sp>
        <p:nvSpPr>
          <p:cNvPr id="6" name="Shape 4"/>
          <p:cNvSpPr/>
          <p:nvPr/>
        </p:nvSpPr>
        <p:spPr>
          <a:xfrm>
            <a:off x="411480" y="256032"/>
            <a:ext cx="1920240" cy="292608"/>
          </a:xfrm>
          <a:prstGeom prst="rect">
            <a:avLst/>
          </a:prstGeom>
          <a:solidFill>
            <a:srgbClr val="F5EEF8"/>
          </a:solidFill>
          <a:ln w="6350">
            <a:solidFill>
              <a:srgbClr val="A569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29260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512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11 · MÓDULO 4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11480" y="685800"/>
            <a:ext cx="4069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PCA — Cuántos</a:t>
            </a:r>
            <a:endParaRPr lang="en-US" sz="27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Componentes Retener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411480" y="288036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Kaiser · Loadings · Reconstrucción · Pipeline completo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3456432"/>
            <a:ext cx="2377440" cy="0"/>
          </a:xfrm>
          <a:prstGeom prst="line">
            <a:avLst/>
          </a:prstGeom>
          <a:noFill/>
          <a:ln w="19050">
            <a:solidFill>
              <a:srgbClr val="A569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621024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Josef Rodriguez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96849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horas · Nivel avanzado · Python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477316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8 · Módulo 4 · PCA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5EEF8"/>
          </a:solidFill>
          <a:ln w="12700">
            <a:solidFill>
              <a:srgbClr val="F5EE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960120"/>
          </a:xfrm>
          <a:prstGeom prst="rect">
            <a:avLst/>
          </a:prstGeom>
          <a:solidFill>
            <a:srgbClr val="A569BD"/>
          </a:solidFill>
          <a:ln w="12700">
            <a:solidFill>
              <a:srgbClr val="A569B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vas a poder hacer al terminar?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931920" y="1078992"/>
            <a:ext cx="48920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8D5F0"/>
            </a:solidFill>
            <a:prstDash val="solid"/>
          </a:ln>
          <a:effectLst>
            <a:outerShdw blurRad="101600" dist="38100" dir="8100000" algn="bl" rotWithShape="0">
              <a:srgbClr val="9B72AA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931920" y="1078992"/>
            <a:ext cx="4892040" cy="50292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96512" y="11704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26280" y="11521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los 3 criterios de selección de 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26280" y="14904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varianza · codo · Kaiser (λ&gt;1) — combinar para decidir con confianza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931920" y="2011680"/>
            <a:ext cx="48920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8D5F0"/>
            </a:solidFill>
            <a:prstDash val="solid"/>
          </a:ln>
          <a:effectLst>
            <a:outerShdw blurRad="101600" dist="38100" dir="8100000" algn="bl" rotWithShape="0">
              <a:srgbClr val="9B72AA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931920" y="2011680"/>
            <a:ext cx="4892040" cy="50292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96512" y="21031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26280" y="20848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e interpretar la matriz de loadings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26280" y="24231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feature domina cada PC · heatmap · nombrar las PCs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931920" y="2944368"/>
            <a:ext cx="48920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8D5F0"/>
            </a:solidFill>
            <a:prstDash val="solid"/>
          </a:ln>
          <a:effectLst>
            <a:outerShdw blurRad="101600" dist="38100" dir="8100000" algn="bl" rotWithShape="0">
              <a:srgbClr val="9B72AA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931920" y="2944368"/>
            <a:ext cx="4892040" cy="50292"/>
          </a:xfrm>
          <a:prstGeom prst="rect">
            <a:avLst/>
          </a:prstGeom>
          <a:solidFill>
            <a:srgbClr val="A569BD"/>
          </a:solidFill>
          <a:ln w="12700">
            <a:solidFill>
              <a:srgbClr val="A569B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96512" y="30358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56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26280" y="30175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el error de reconstrucción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26280" y="33558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MSE(k) = |X − X̂ₖ|²/np — cuánta info se pierde con k PCs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931920" y="3877056"/>
            <a:ext cx="48920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8D5F0"/>
            </a:solidFill>
            <a:prstDash val="solid"/>
          </a:ln>
          <a:effectLst>
            <a:outerShdw blurRad="101600" dist="38100" dir="8100000" algn="bl" rotWithShape="0">
              <a:srgbClr val="9B72AA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931920" y="3877056"/>
            <a:ext cx="4892040" cy="50292"/>
          </a:xfrm>
          <a:prstGeom prst="rect">
            <a:avLst/>
          </a:prstGeom>
          <a:solidFill>
            <a:srgbClr val="A569BD"/>
          </a:solidFill>
          <a:ln w="12700">
            <a:solidFill>
              <a:srgbClr val="A569B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96512" y="39684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56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26280" y="39502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PCA + modelo supervisado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26280" y="428853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→ PCA(k) → Logística — comparar accuracy vs 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11480" y="120700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12E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mensaje de hoy: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11480" y="1572768"/>
            <a:ext cx="3383280" cy="658368"/>
          </a:xfrm>
          <a:prstGeom prst="rect">
            <a:avLst/>
          </a:prstGeom>
          <a:solidFill>
            <a:srgbClr val="F5EEF8"/>
          </a:solidFill>
          <a:ln w="6350">
            <a:solidFill>
              <a:srgbClr val="A569B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162763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512E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hay una regla única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512E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 k. Tres criterios +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512E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una decisión de negocio.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5EEF8"/>
          </a:solidFill>
          <a:ln w="5080">
            <a:solidFill>
              <a:srgbClr val="A569B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79145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Preguntar: '¿Qué es más importante para ustedes, reducir features o no perder información?' La respuesta orienta el criterio.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512E5F"/>
          </a:solidFill>
          <a:ln w="12700">
            <a:solidFill>
              <a:srgbClr val="512E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56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Tres criterios — combinarlos para mayor confianza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60120" y="67665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los tres coinciden, alta confianza en k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1133856"/>
          </a:xfrm>
          <a:prstGeom prst="rect">
            <a:avLst/>
          </a:prstGeom>
          <a:solidFill>
            <a:srgbClr val="FFFFFF"/>
          </a:solidFill>
          <a:ln w="6350">
            <a:solidFill>
              <a:srgbClr val="E8D5F0"/>
            </a:solidFill>
            <a:prstDash val="solid"/>
          </a:ln>
          <a:effectLst>
            <a:outerShdw blurRad="101600" dist="38100" dir="8100000" algn="bl" rotWithShape="0">
              <a:srgbClr val="9B72AA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78992"/>
            <a:ext cx="8503920" cy="50292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1704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1: % varianza acumulada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" y="1517904"/>
            <a:ext cx="3520440" cy="292608"/>
          </a:xfrm>
          <a:prstGeom prst="rect">
            <a:avLst/>
          </a:prstGeom>
          <a:solidFill>
            <a:srgbClr val="F5EEF8"/>
          </a:solidFill>
          <a:ln w="3810">
            <a:solidFill>
              <a:srgbClr val="A569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545336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12E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argmin{k : Σᵢ≤ₖ λᵢ/Σλ ≥ umbral}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60520" y="1170432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= mínimo razonable · 95% = conservador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114032" y="1170432"/>
            <a:ext cx="1600200" cy="292608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68896" y="118872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k80 = np.argmax(cum&gt;=0.80)+1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0040" y="2304288"/>
            <a:ext cx="8503920" cy="1133856"/>
          </a:xfrm>
          <a:prstGeom prst="rect">
            <a:avLst/>
          </a:prstGeom>
          <a:solidFill>
            <a:srgbClr val="FFFFFF"/>
          </a:solidFill>
          <a:ln w="6350">
            <a:solidFill>
              <a:srgbClr val="E8D5F0"/>
            </a:solidFill>
            <a:prstDash val="solid"/>
          </a:ln>
          <a:effectLst>
            <a:outerShdw blurRad="101600" dist="38100" dir="8100000" algn="bl" rotWithShape="0">
              <a:srgbClr val="9B72AA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304288"/>
            <a:ext cx="8503920" cy="50292"/>
          </a:xfrm>
          <a:prstGeom prst="rect">
            <a:avLst/>
          </a:prstGeom>
          <a:solidFill>
            <a:srgbClr val="A569BD"/>
          </a:solidFill>
          <a:ln w="12700">
            <a:solidFill>
              <a:srgbClr val="A569B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3957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56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2: Kaiser (λ &gt; 1)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" y="2743200"/>
            <a:ext cx="3520440" cy="292608"/>
          </a:xfrm>
          <a:prstGeom prst="rect">
            <a:avLst/>
          </a:prstGeom>
          <a:solidFill>
            <a:srgbClr val="F5EEF8"/>
          </a:solidFill>
          <a:ln w="3810">
            <a:solidFill>
              <a:srgbClr val="A569B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770632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12E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#{i : λᵢ &gt; 1}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160520" y="2395728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válido con datos estandarizados (StandardScaler)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Significa: eigenvalue mayor que la varianza media de 1 feature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114032" y="2395728"/>
            <a:ext cx="1600200" cy="292608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68896" y="241401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k_kai = int(np.sum(ev &gt; 1))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0040" y="3529584"/>
            <a:ext cx="8503920" cy="1133856"/>
          </a:xfrm>
          <a:prstGeom prst="rect">
            <a:avLst/>
          </a:prstGeom>
          <a:solidFill>
            <a:srgbClr val="FFFFFF"/>
          </a:solidFill>
          <a:ln w="6350">
            <a:solidFill>
              <a:srgbClr val="E8D5F0"/>
            </a:solidFill>
            <a:prstDash val="solid"/>
          </a:ln>
          <a:effectLst>
            <a:outerShdw blurRad="101600" dist="38100" dir="8100000" algn="bl" rotWithShape="0">
              <a:srgbClr val="9B72AA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529584"/>
            <a:ext cx="8503920" cy="5029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362102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3: Codo del scree plot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" y="3968496"/>
            <a:ext cx="3520440" cy="292608"/>
          </a:xfrm>
          <a:prstGeom prst="rect">
            <a:avLst/>
          </a:prstGeom>
          <a:solidFill>
            <a:srgbClr val="F5EEF8"/>
          </a:solidFill>
          <a:ln w="3810">
            <a:solidFill>
              <a:srgbClr val="A569B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3995928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12E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punto de máxima curvatura del scree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160520" y="3621024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 diferencia del scree → dónde se dobla la curva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Subjetivo pero intuitivo — el más usado en presentaciones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114032" y="3621024"/>
            <a:ext cx="1600200" cy="292608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68896" y="363931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k_cod = np.argmax(abs(np.diff(np.diff(ev_ratio))))+2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5EEF8"/>
          </a:solidFill>
          <a:ln w="5080">
            <a:solidFill>
              <a:srgbClr val="A569B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79145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Resultado del notebook: Kaiser=4, 80%=3 o 4 dependiendo del dataset. Cuando coinciden → alta confianza. Si difieren → usar contexto.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5EEF8"/>
          </a:solidFill>
          <a:ln w="12700">
            <a:solidFill>
              <a:srgbClr val="F5EE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960120"/>
          </a:xfrm>
          <a:prstGeom prst="rect">
            <a:avLst/>
          </a:prstGeom>
          <a:solidFill>
            <a:srgbClr val="A569BD"/>
          </a:solidFill>
          <a:ln w="12700">
            <a:solidFill>
              <a:srgbClr val="A569B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463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Loadings — interpretar qué representa cada PC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60120" y="67665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= correlación entre feature y PC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" y="1078992"/>
            <a:ext cx="8503920" cy="457200"/>
          </a:xfrm>
          <a:prstGeom prst="rect">
            <a:avLst/>
          </a:prstGeom>
          <a:solidFill>
            <a:srgbClr val="512E5F"/>
          </a:solidFill>
          <a:ln w="12700">
            <a:solidFill>
              <a:srgbClr val="512E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15214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loadings = pca.components_.T  →  shape (p, k)  →  loadings[i,j] = correlación de feature i con PC j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664208"/>
            <a:ext cx="4069080" cy="3255264"/>
          </a:xfrm>
          <a:prstGeom prst="rect">
            <a:avLst/>
          </a:prstGeom>
          <a:solidFill>
            <a:srgbClr val="FFFFFF"/>
          </a:solidFill>
          <a:ln w="6350">
            <a:solidFill>
              <a:srgbClr val="E8D5F0"/>
            </a:solidFill>
            <a:prstDash val="solid"/>
          </a:ln>
          <a:effectLst>
            <a:outerShdw blurRad="101600" dist="38100" dir="8100000" algn="bl" rotWithShape="0">
              <a:srgbClr val="9B72AA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664208"/>
            <a:ext cx="4069080" cy="50292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77393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datos bancarios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" y="2103120"/>
            <a:ext cx="1792224" cy="347472"/>
          </a:xfrm>
          <a:prstGeom prst="rect">
            <a:avLst/>
          </a:prstGeom>
          <a:solidFill>
            <a:srgbClr val="512E5F"/>
          </a:solidFill>
          <a:ln w="3810">
            <a:solidFill>
              <a:srgbClr val="512E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16712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331720" y="2103120"/>
            <a:ext cx="868680" cy="347472"/>
          </a:xfrm>
          <a:prstGeom prst="rect">
            <a:avLst/>
          </a:prstGeom>
          <a:solidFill>
            <a:srgbClr val="512E5F"/>
          </a:solidFill>
          <a:ln w="3810">
            <a:solidFill>
              <a:srgbClr val="512E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04872" y="2167128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310128" y="2103120"/>
            <a:ext cx="868680" cy="347472"/>
          </a:xfrm>
          <a:prstGeom prst="rect">
            <a:avLst/>
          </a:prstGeom>
          <a:solidFill>
            <a:srgbClr val="512E5F"/>
          </a:solidFill>
          <a:ln w="3810">
            <a:solidFill>
              <a:srgbClr val="512E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2167128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" y="2496312"/>
            <a:ext cx="1792224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8D5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56032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331720" y="2496312"/>
            <a:ext cx="86868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8D5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04872" y="2560320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3C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+0.45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310128" y="2496312"/>
            <a:ext cx="86868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8D5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2560320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5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−0.10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" y="2889504"/>
            <a:ext cx="1792224" cy="347472"/>
          </a:xfrm>
          <a:prstGeom prst="rect">
            <a:avLst/>
          </a:prstGeom>
          <a:solidFill>
            <a:srgbClr val="FAF5FF"/>
          </a:solidFill>
          <a:ln w="3810">
            <a:solidFill>
              <a:srgbClr val="E8D5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295351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educacion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331720" y="2889504"/>
            <a:ext cx="868680" cy="347472"/>
          </a:xfrm>
          <a:prstGeom prst="rect">
            <a:avLst/>
          </a:prstGeom>
          <a:solidFill>
            <a:srgbClr val="FAF5FF"/>
          </a:solidFill>
          <a:ln w="3810">
            <a:solidFill>
              <a:srgbClr val="E8D5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04872" y="2953512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3C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+0.42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10128" y="2889504"/>
            <a:ext cx="868680" cy="347472"/>
          </a:xfrm>
          <a:prstGeom prst="rect">
            <a:avLst/>
          </a:prstGeom>
          <a:solidFill>
            <a:srgbClr val="FAF5FF"/>
          </a:solidFill>
          <a:ln w="3810">
            <a:solidFill>
              <a:srgbClr val="E8D5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83280" y="2953512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5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−0.08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" y="3282696"/>
            <a:ext cx="1792224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8D5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34670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saldo_prom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331720" y="3282696"/>
            <a:ext cx="86868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8D5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04872" y="3346704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3C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+0.41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310128" y="3282696"/>
            <a:ext cx="86868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8D5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83280" y="3346704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5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−0.12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" y="3675888"/>
            <a:ext cx="1792224" cy="347472"/>
          </a:xfrm>
          <a:prstGeom prst="rect">
            <a:avLst/>
          </a:prstGeom>
          <a:solidFill>
            <a:srgbClr val="FAF5FF"/>
          </a:solidFill>
          <a:ln w="3810">
            <a:solidFill>
              <a:srgbClr val="E8D5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373989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deuda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331720" y="3675888"/>
            <a:ext cx="868680" cy="347472"/>
          </a:xfrm>
          <a:prstGeom prst="rect">
            <a:avLst/>
          </a:prstGeom>
          <a:solidFill>
            <a:srgbClr val="FAF5FF"/>
          </a:solidFill>
          <a:ln w="3810">
            <a:solidFill>
              <a:srgbClr val="E8D5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04872" y="373989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5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−0.12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310128" y="3675888"/>
            <a:ext cx="868680" cy="347472"/>
          </a:xfrm>
          <a:prstGeom prst="rect">
            <a:avLst/>
          </a:prstGeom>
          <a:solidFill>
            <a:srgbClr val="FAF5FF"/>
          </a:solidFill>
          <a:ln w="3810">
            <a:solidFill>
              <a:srgbClr val="E8D5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83280" y="373989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3C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+0.48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5488" y="4069080"/>
            <a:ext cx="1792224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8D5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413308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mora_30d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331720" y="4069080"/>
            <a:ext cx="86868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8D5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404872" y="4133088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5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−0.08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310128" y="4069080"/>
            <a:ext cx="86868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8D5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83280" y="4133088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3C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+0.52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75488" y="4462272"/>
            <a:ext cx="1792224" cy="347472"/>
          </a:xfrm>
          <a:prstGeom prst="rect">
            <a:avLst/>
          </a:prstGeom>
          <a:solidFill>
            <a:srgbClr val="FAF5FF"/>
          </a:solidFill>
          <a:ln w="3810">
            <a:solidFill>
              <a:srgbClr val="E8D5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452628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mora_90d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331720" y="4462272"/>
            <a:ext cx="868680" cy="347472"/>
          </a:xfrm>
          <a:prstGeom prst="rect">
            <a:avLst/>
          </a:prstGeom>
          <a:solidFill>
            <a:srgbClr val="FAF5FF"/>
          </a:solidFill>
          <a:ln w="3810">
            <a:solidFill>
              <a:srgbClr val="E8D5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404872" y="4526280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5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−0.06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310128" y="4462272"/>
            <a:ext cx="868680" cy="347472"/>
          </a:xfrm>
          <a:prstGeom prst="rect">
            <a:avLst/>
          </a:prstGeom>
          <a:solidFill>
            <a:srgbClr val="FAF5FF"/>
          </a:solidFill>
          <a:ln w="3810">
            <a:solidFill>
              <a:srgbClr val="E8D5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383280" y="4526280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3C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+0.50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663440" y="1664208"/>
            <a:ext cx="4160520" cy="3255264"/>
          </a:xfrm>
          <a:prstGeom prst="rect">
            <a:avLst/>
          </a:prstGeom>
          <a:solidFill>
            <a:srgbClr val="FFFFFF"/>
          </a:solidFill>
          <a:ln w="6350">
            <a:solidFill>
              <a:srgbClr val="E8D5F0"/>
            </a:solidFill>
            <a:prstDash val="solid"/>
          </a:ln>
          <a:effectLst>
            <a:outerShdw blurRad="101600" dist="38100" dir="8100000" algn="bl" rotWithShape="0">
              <a:srgbClr val="9B72AA">
                <a:alpha val="13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663440" y="1664208"/>
            <a:ext cx="4160520" cy="50292"/>
          </a:xfrm>
          <a:prstGeom prst="rect">
            <a:avLst/>
          </a:prstGeom>
          <a:solidFill>
            <a:srgbClr val="A569BD"/>
          </a:solidFill>
          <a:ln w="12700">
            <a:solidFill>
              <a:srgbClr val="A569B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28032" y="17739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56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nombrar las PCs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4828032" y="215798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Mirar los 2-3 features con mayor loading (en valor absoluto) en cada PC: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773168" y="2688336"/>
            <a:ext cx="3931920" cy="694944"/>
          </a:xfrm>
          <a:prstGeom prst="rect">
            <a:avLst/>
          </a:prstGeom>
          <a:solidFill>
            <a:srgbClr val="FAF5FF"/>
          </a:solidFill>
          <a:ln w="5080">
            <a:solidFill>
              <a:srgbClr val="E8D5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901184" y="27614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12E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PC1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504688" y="276148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loadings altos en ingresos, educación, saldo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4901184" y="30906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'Capacidad financiera'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4773168" y="3474720"/>
            <a:ext cx="3931920" cy="694944"/>
          </a:xfrm>
          <a:prstGeom prst="rect">
            <a:avLst/>
          </a:prstGeom>
          <a:solidFill>
            <a:srgbClr val="FFFFFF"/>
          </a:solidFill>
          <a:ln w="5080">
            <a:solidFill>
              <a:srgbClr val="E8D5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901184" y="354787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12E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PC2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5504688" y="354787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loadings altos en deuda, mora_30d, mora_90d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4901184" y="387705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'Riesgo crediticio'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5EEF8"/>
          </a:solidFill>
          <a:ln w="5080">
            <a:solidFill>
              <a:srgbClr val="A569B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74320" y="479145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Ejercicio de clase: mostrar el heatmap de loadings. Pedir a los alumnos que propongan un nombre para cada PC.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512E5F"/>
          </a:solidFill>
          <a:ln w="12700">
            <a:solidFill>
              <a:srgbClr val="512E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56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 de reconstrucción y pipeline PCA+supervisado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60120" y="67665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Cuánta info se pierde · PCA como preprocesamiento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4114800" cy="3822192"/>
          </a:xfrm>
          <a:prstGeom prst="rect">
            <a:avLst/>
          </a:prstGeom>
          <a:solidFill>
            <a:srgbClr val="FFFFFF"/>
          </a:solidFill>
          <a:ln w="6350">
            <a:solidFill>
              <a:srgbClr val="E8D5F0"/>
            </a:solidFill>
            <a:prstDash val="solid"/>
          </a:ln>
          <a:effectLst>
            <a:outerShdw blurRad="101600" dist="38100" dir="8100000" algn="bl" rotWithShape="0">
              <a:srgbClr val="9B72AA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78992"/>
            <a:ext cx="4114800" cy="50292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18872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de reconstrucción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" y="1609344"/>
            <a:ext cx="3749040" cy="384048"/>
          </a:xfrm>
          <a:prstGeom prst="rect">
            <a:avLst/>
          </a:prstGeom>
          <a:solidFill>
            <a:srgbClr val="F5EEF8"/>
          </a:solidFill>
          <a:ln w="6350">
            <a:solidFill>
              <a:srgbClr val="A569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66420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12E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MSE(k) = ||X − X̂ₖ||²F / (n·p)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" y="206654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X̂ₖ = inverse_transform(transform(X)) con k PCs.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" y="2487168"/>
            <a:ext cx="3749040" cy="457200"/>
          </a:xfrm>
          <a:prstGeom prst="rect">
            <a:avLst/>
          </a:prstGeom>
          <a:solidFill>
            <a:srgbClr val="FAF5FF"/>
          </a:solidFill>
          <a:ln w="3810">
            <a:solidFill>
              <a:srgbClr val="E8D5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5786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12E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k=1: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07008" y="2578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alto — mucha info perdida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" y="3017520"/>
            <a:ext cx="3749040" cy="457200"/>
          </a:xfrm>
          <a:prstGeom prst="rect">
            <a:avLst/>
          </a:prstGeom>
          <a:solidFill>
            <a:srgbClr val="E8D5F0"/>
          </a:solidFill>
          <a:ln w="12700">
            <a:solidFill>
              <a:srgbClr val="A569B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1089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12E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k=4: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07008" y="31089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cae bruscamente — señal capturada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" y="3547872"/>
            <a:ext cx="3749040" cy="457200"/>
          </a:xfrm>
          <a:prstGeom prst="rect">
            <a:avLst/>
          </a:prstGeom>
          <a:solidFill>
            <a:srgbClr val="FAF5FF"/>
          </a:solidFill>
          <a:ln w="3810">
            <a:solidFill>
              <a:srgbClr val="E8D5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63931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12E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k=8: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07008" y="36393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≈ 0 — reconstrucción perfecta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" y="4069080"/>
            <a:ext cx="3749040" cy="694944"/>
          </a:xfrm>
          <a:prstGeom prst="rect">
            <a:avLst/>
          </a:prstGeom>
          <a:solidFill>
            <a:srgbClr val="512E5F"/>
          </a:solidFill>
          <a:ln w="12700">
            <a:solidFill>
              <a:srgbClr val="512E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" y="4069080"/>
            <a:ext cx="3749040" cy="50292"/>
          </a:xfrm>
          <a:prstGeom prst="rect">
            <a:avLst/>
          </a:prstGeom>
          <a:solidFill>
            <a:srgbClr val="A569BD"/>
          </a:solidFill>
          <a:ln w="12700">
            <a:solidFill>
              <a:srgbClr val="A569B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133088"/>
            <a:ext cx="3520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pca_r = PCA(n_components=k)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94360" y="4288536"/>
            <a:ext cx="3520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X_r  = pca_r.fit_transform(X_sc)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94360" y="4443984"/>
            <a:ext cx="3520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X_hat = pca_r.inverse_transform(X_r)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94360" y="4599432"/>
            <a:ext cx="3520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MSE  = np.mean((X_sc - X_hat)**2)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663440" y="1078992"/>
            <a:ext cx="4160520" cy="3822192"/>
          </a:xfrm>
          <a:prstGeom prst="rect">
            <a:avLst/>
          </a:prstGeom>
          <a:solidFill>
            <a:srgbClr val="FFFFFF"/>
          </a:solidFill>
          <a:ln w="6350">
            <a:solidFill>
              <a:srgbClr val="E8D5F0"/>
            </a:solidFill>
            <a:prstDash val="solid"/>
          </a:ln>
          <a:effectLst>
            <a:outerShdw blurRad="101600" dist="38100" dir="8100000" algn="bl" rotWithShape="0">
              <a:srgbClr val="9B72AA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1078992"/>
            <a:ext cx="4160520" cy="50292"/>
          </a:xfrm>
          <a:prstGeom prst="rect">
            <a:avLst/>
          </a:prstGeom>
          <a:solidFill>
            <a:srgbClr val="A569BD"/>
          </a:solidFill>
          <a:ln w="12700">
            <a:solidFill>
              <a:srgbClr val="A569B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11887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56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PCA + Logística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73168" y="1682496"/>
            <a:ext cx="3931920" cy="457200"/>
          </a:xfrm>
          <a:prstGeom prst="rect">
            <a:avLst/>
          </a:prstGeom>
          <a:solidFill>
            <a:srgbClr val="FAF5FF"/>
          </a:solidFill>
          <a:ln w="3810">
            <a:solidFill>
              <a:srgbClr val="E8D5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01184" y="1792224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58384" y="1792224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69.3%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16752" y="1792224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5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Acc=0.693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720840" y="17922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Poco — señal insuficiente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73168" y="2194560"/>
            <a:ext cx="3931920" cy="457200"/>
          </a:xfrm>
          <a:prstGeom prst="rect">
            <a:avLst/>
          </a:prstGeom>
          <a:solidFill>
            <a:srgbClr val="E8D5F0"/>
          </a:solidFill>
          <a:ln w="12700">
            <a:solidFill>
              <a:srgbClr val="A569B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01184" y="2304288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358384" y="2304288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78.0%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016752" y="2304288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3C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Acc=0.780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720840" y="23042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Bueno — captura señal real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73168" y="2706624"/>
            <a:ext cx="3931920" cy="457200"/>
          </a:xfrm>
          <a:prstGeom prst="rect">
            <a:avLst/>
          </a:prstGeom>
          <a:solidFill>
            <a:srgbClr val="E8D5F0"/>
          </a:solidFill>
          <a:ln w="12700">
            <a:solidFill>
              <a:srgbClr val="A569B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01184" y="2816352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k=8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358384" y="2816352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78.0%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016752" y="2816352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3C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Acc=0.780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720840" y="28163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 — no mejora con más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73168" y="3218688"/>
            <a:ext cx="393192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8D5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01184" y="3328416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k=20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358384" y="3328416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016752" y="3328416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5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Acc=0.747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720840" y="33284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Peor — incluye ruido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773168" y="3712464"/>
            <a:ext cx="3931920" cy="1115568"/>
          </a:xfrm>
          <a:prstGeom prst="rect">
            <a:avLst/>
          </a:prstGeom>
          <a:solidFill>
            <a:srgbClr val="512E5F"/>
          </a:solidFill>
          <a:ln w="12700">
            <a:solidFill>
              <a:srgbClr val="512E5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01184" y="378561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56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como regularización: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901184" y="4059936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las últimas PCs = filtrar ruido dimensional. Puede mejorar accuracy si p &gt;&gt; dimensión real de la señal.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5EEF8"/>
          </a:solidFill>
          <a:ln w="5080">
            <a:solidFill>
              <a:srgbClr val="A569B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479145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El pipeline con k=6 supera al modelo con 20 features porque filtra el ruido. PCA actúa como regularización implícita.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41E2D"/>
          </a:solidFill>
          <a:ln w="12700">
            <a:solidFill>
              <a:srgbClr val="141E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37744" y="137160"/>
            <a:ext cx="155448" cy="155448"/>
          </a:xfrm>
          <a:prstGeom prst="lin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137160"/>
            <a:ext cx="155448" cy="155448"/>
          </a:xfrm>
          <a:prstGeom prst="lin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37160"/>
            <a:ext cx="155448" cy="155448"/>
          </a:xfrm>
          <a:prstGeom prst="lin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914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Clase11_PCA_Interpretacion.ipynb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6032" y="566928"/>
            <a:ext cx="4315968" cy="2103120"/>
          </a:xfrm>
          <a:prstGeom prst="rect">
            <a:avLst/>
          </a:prstGeom>
          <a:solidFill>
            <a:srgbClr val="1E2040"/>
          </a:solidFill>
          <a:ln w="6350">
            <a:solidFill>
              <a:srgbClr val="3D2B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566928"/>
            <a:ext cx="4315968" cy="50292"/>
          </a:xfrm>
          <a:prstGeom prst="rect">
            <a:avLst/>
          </a:prstGeom>
          <a:solidFill>
            <a:srgbClr val="A569BD"/>
          </a:solidFill>
          <a:ln w="12700">
            <a:solidFill>
              <a:srgbClr val="A569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65836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B72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① Tres criterios para elegir k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20624" y="914400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pca = PCA(); pca.fit(X_sc)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0624" y="1156716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   = pca.explained_variance_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20624" y="1399032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cum  = np.cumsum(pca.explained_variance_ratio_)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20624" y="1883664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k_80  = np.argmax(cum &gt;= 0.80) + 1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20624" y="2125980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k_kai = int(np.sum(ev &gt; 1))      # Kaiser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20624" y="2368296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k_cod = np.argmax(abs(np.diff(np.diff(ev_r))))+2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73168" y="566928"/>
            <a:ext cx="4114800" cy="2103120"/>
          </a:xfrm>
          <a:prstGeom prst="rect">
            <a:avLst/>
          </a:prstGeom>
          <a:solidFill>
            <a:srgbClr val="1E2040"/>
          </a:solidFill>
          <a:ln w="6350">
            <a:solidFill>
              <a:srgbClr val="3D2B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73168" y="566928"/>
            <a:ext cx="4114800" cy="50292"/>
          </a:xfrm>
          <a:prstGeom prst="rect">
            <a:avLst/>
          </a:prstGeom>
          <a:solidFill>
            <a:srgbClr val="A569BD"/>
          </a:solidFill>
          <a:ln w="12700">
            <a:solidFill>
              <a:srgbClr val="A569B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0328" y="6583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B72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② Heatmap de loadings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937760" y="91440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pca_k = PCA(n_components=k)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937760" y="11567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pca_k.fit(X_sc)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37760" y="16413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df_load = pd.DataFrame(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937760" y="188366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pca_k.components_.T,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37760" y="21259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index=feature_names,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937760" y="23682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columns=[f'PC{i+1}' for i in range(k)])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937760" y="261061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8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ax.imshow(df_load.T, cmap='RdBu_r')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6032" y="2816352"/>
            <a:ext cx="8631936" cy="2194560"/>
          </a:xfrm>
          <a:prstGeom prst="rect">
            <a:avLst/>
          </a:prstGeom>
          <a:solidFill>
            <a:srgbClr val="1E2040"/>
          </a:solidFill>
          <a:ln w="6350">
            <a:solidFill>
              <a:srgbClr val="3D2B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" y="2816352"/>
            <a:ext cx="8631936" cy="50292"/>
          </a:xfrm>
          <a:prstGeom prst="rect">
            <a:avLst/>
          </a:prstGeom>
          <a:solidFill>
            <a:srgbClr val="A569BD"/>
          </a:solidFill>
          <a:ln w="12700">
            <a:solidFill>
              <a:srgbClr val="A569B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3192" y="2907792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B72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③ Pipeline PCA + clasificación supervisada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20624" y="3163824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sklearn.pipeline import Pipeline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20624" y="3648456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 = Pipeline([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20624" y="3890772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('sc',  StandardScaler()),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20624" y="4133088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('pca', PCA(n_components=k)),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20624" y="4375404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('lr',  LogisticRegression(C=1e6, max_iter=500))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20624" y="4617720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20624" y="4860036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pipe.fit(X_train, y_train)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20624" y="5102352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 = accuracy_score(y_test, pipe.predict(X_test))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94760" cy="5143500"/>
          </a:xfrm>
          <a:prstGeom prst="rect">
            <a:avLst/>
          </a:prstGeom>
          <a:solidFill>
            <a:srgbClr val="512E5F"/>
          </a:solidFill>
          <a:ln w="12700">
            <a:solidFill>
              <a:srgbClr val="512E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794760" y="0"/>
            <a:ext cx="50292" cy="5143500"/>
          </a:xfrm>
          <a:prstGeom prst="rect">
            <a:avLst/>
          </a:prstGeom>
          <a:solidFill>
            <a:srgbClr val="A569BD"/>
          </a:solidFill>
          <a:ln w="12700">
            <a:solidFill>
              <a:srgbClr val="A569B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" y="2651760"/>
            <a:ext cx="3566160" cy="3566160"/>
          </a:xfrm>
          <a:prstGeom prst="line">
            <a:avLst/>
          </a:prstGeom>
          <a:solidFill>
            <a:srgbClr val="7D3C98">
              <a:alpha val="17000"/>
            </a:srgbClr>
          </a:solidFill>
          <a:ln w="12700">
            <a:solidFill>
              <a:srgbClr val="D7BDE2">
                <a:alpha val="2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92608"/>
            <a:ext cx="33375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4</a:t>
            </a:r>
            <a:endParaRPr lang="en-US" sz="3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completado ✓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20040" y="1874520"/>
            <a:ext cx="2286000" cy="0"/>
          </a:xfrm>
          <a:prstGeom prst="line">
            <a:avLst/>
          </a:prstGeom>
          <a:noFill/>
          <a:ln w="19050">
            <a:solidFill>
              <a:srgbClr val="A569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20299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56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234086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Josef Rodriguez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069080" y="27432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Resumen Módulo 4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069080" y="731520"/>
            <a:ext cx="4754880" cy="0"/>
          </a:xfrm>
          <a:prstGeom prst="line">
            <a:avLst/>
          </a:prstGeom>
          <a:noFill/>
          <a:ln w="9525">
            <a:solidFill>
              <a:srgbClr val="E8D5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69080" y="868680"/>
            <a:ext cx="475488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8D5F0"/>
            </a:solidFill>
            <a:prstDash val="solid"/>
          </a:ln>
          <a:effectLst>
            <a:outerShdw blurRad="101600" dist="38100" dir="8100000" algn="bl" rotWithShape="0">
              <a:srgbClr val="9B72AA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069080" y="868680"/>
            <a:ext cx="4754880" cy="50292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24528" y="960120"/>
            <a:ext cx="475488" cy="475488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24528" y="9601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C10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28032" y="960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10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28032" y="128930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= eigendecomp de Σ̂ · SVD equivalente · Scree plot · Biplot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069080" y="1947672"/>
            <a:ext cx="475488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8D5F0"/>
            </a:solidFill>
            <a:prstDash val="solid"/>
          </a:ln>
          <a:effectLst>
            <a:outerShdw blurRad="101600" dist="38100" dir="8100000" algn="bl" rotWithShape="0">
              <a:srgbClr val="9B72AA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069080" y="1947672"/>
            <a:ext cx="4754880" cy="50292"/>
          </a:xfrm>
          <a:prstGeom prst="rect">
            <a:avLst/>
          </a:prstGeom>
          <a:solidFill>
            <a:srgbClr val="A569BD"/>
          </a:solidFill>
          <a:ln w="12700">
            <a:solidFill>
              <a:srgbClr val="A569B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24528" y="2039112"/>
            <a:ext cx="475488" cy="475488"/>
          </a:xfrm>
          <a:prstGeom prst="rect">
            <a:avLst/>
          </a:prstGeom>
          <a:solidFill>
            <a:srgbClr val="A569BD"/>
          </a:solidFill>
          <a:ln w="12700">
            <a:solidFill>
              <a:srgbClr val="A569B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24528" y="2039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C11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28032" y="20391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11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28032" y="236829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Kaiser · Codo · Loadings e interpretación · Reconstrucción · Pipeline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069080" y="3154680"/>
            <a:ext cx="4754880" cy="1883664"/>
          </a:xfrm>
          <a:prstGeom prst="rect">
            <a:avLst/>
          </a:prstGeom>
          <a:solidFill>
            <a:srgbClr val="512E5F"/>
          </a:solidFill>
          <a:ln w="12700">
            <a:solidFill>
              <a:srgbClr val="512E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69080" y="3154680"/>
            <a:ext cx="4754880" cy="50292"/>
          </a:xfrm>
          <a:prstGeom prst="rect">
            <a:avLst/>
          </a:prstGeom>
          <a:solidFill>
            <a:srgbClr val="A569BD"/>
          </a:solidFill>
          <a:ln w="12700">
            <a:solidFill>
              <a:srgbClr val="A569B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24528" y="3218688"/>
            <a:ext cx="4462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7BDE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🎓  Curso 8 — Modelos Estadísticos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224528" y="3694176"/>
            <a:ext cx="109728" cy="109728"/>
          </a:xfrm>
          <a:prstGeom prst="line">
            <a:avLst/>
          </a:prstGeom>
          <a:solidFill>
            <a:srgbClr val="A569BD"/>
          </a:solidFill>
          <a:ln w="12700">
            <a:solidFill>
              <a:srgbClr val="A569B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07408" y="3621024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56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1: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93792" y="36210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Lineal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36208" y="362102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Fisher, BLUE, inferencia OLS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224528" y="4023360"/>
            <a:ext cx="109728" cy="109728"/>
          </a:xfrm>
          <a:prstGeom prst="line">
            <a:avLst/>
          </a:prstGeom>
          <a:solidFill>
            <a:srgbClr val="A569BD"/>
          </a:solidFill>
          <a:ln w="12700">
            <a:solidFill>
              <a:srgbClr val="A569B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07408" y="395020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56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2: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193792" y="395020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Logística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36208" y="395020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GLM, MLE, ROC/AUC, scoring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224528" y="4352544"/>
            <a:ext cx="109728" cy="109728"/>
          </a:xfrm>
          <a:prstGeom prst="line">
            <a:avLst/>
          </a:prstGeom>
          <a:solidFill>
            <a:srgbClr val="A569BD"/>
          </a:solidFill>
          <a:ln w="12700">
            <a:solidFill>
              <a:srgbClr val="A569B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07408" y="427939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56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3: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193792" y="427939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Discriminante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36208" y="427939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LDA, QDA, Fisher, segmentación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224528" y="4681728"/>
            <a:ext cx="109728" cy="109728"/>
          </a:xfrm>
          <a:prstGeom prst="line">
            <a:avLst/>
          </a:prstGeom>
          <a:solidFill>
            <a:srgbClr val="A569BD"/>
          </a:solidFill>
          <a:ln w="12700">
            <a:solidFill>
              <a:srgbClr val="A569B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07408" y="4608576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56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4: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193792" y="460857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236208" y="460857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SVD, loadings, pipeline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224528" y="4956048"/>
            <a:ext cx="4462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Josef Rodriguez · 11 clases · 33 archivos · Nivel avanzado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1168</Words>
  <Application>Microsoft Macintosh PowerPoint</Application>
  <PresentationFormat>On-screen Show (16:9)</PresentationFormat>
  <Paragraphs>172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Courier New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Josef Rodriguez</cp:lastModifiedBy>
  <cp:revision>2</cp:revision>
  <dcterms:created xsi:type="dcterms:W3CDTF">2026-04-17T16:04:02Z</dcterms:created>
  <dcterms:modified xsi:type="dcterms:W3CDTF">2026-04-23T22:38:11Z</dcterms:modified>
</cp:coreProperties>
</file>