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612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45152" y="0"/>
            <a:ext cx="329184" cy="5143500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274320"/>
            <a:ext cx="3840480" cy="3840480"/>
          </a:xfrm>
          <a:prstGeom prst="line">
            <a:avLst/>
          </a:prstGeom>
          <a:solidFill>
            <a:srgbClr val="1E8449">
              <a:alpha val="20000"/>
            </a:srgbClr>
          </a:solidFill>
          <a:ln w="12700">
            <a:solidFill>
              <a:srgbClr val="A9DFBF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9144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FFFFFF">
                    <a:alpha val="12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411480" y="256032"/>
            <a:ext cx="1920240" cy="292608"/>
          </a:xfrm>
          <a:prstGeom prst="rect">
            <a:avLst/>
          </a:prstGeom>
          <a:solidFill>
            <a:srgbClr val="EAFAF1"/>
          </a:solidFill>
          <a:ln w="6350">
            <a:solidFill>
              <a:srgbClr val="52B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926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09 · MÓDULO 3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685800"/>
            <a:ext cx="4069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Interpretación,</a:t>
            </a:r>
            <a:endParaRPr lang="en-US" sz="27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Clasificación y QDA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discriminantes · Error por clase · Caso marketing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456432"/>
            <a:ext cx="2377440" cy="0"/>
          </a:xfrm>
          <a:prstGeom prst="line">
            <a:avLst/>
          </a:prstGeom>
          <a:noFill/>
          <a:ln w="19050">
            <a:solidFill>
              <a:srgbClr val="52B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62102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Josef Rodriguez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9684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 · Nivel avanzado · Python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477316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8 · Módulo 3 · Análisis Discriminante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AF1"/>
          </a:solidFill>
          <a:ln w="12700">
            <a:solidFill>
              <a:srgbClr val="EAFA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vas a poder hacer al terminar?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931920" y="1078992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D4"/>
            </a:solidFill>
            <a:prstDash val="solid"/>
          </a:ln>
          <a:effectLst>
            <a:outerShdw blurRad="101600" dist="38100" dir="8100000" algn="bl" rotWithShape="0">
              <a:srgbClr val="7DAA8C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0" y="1078992"/>
            <a:ext cx="4892040" cy="502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96512" y="1170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26280" y="11521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scores discriminantes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6280" y="14904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distancia al centroide · mayor |score| = mayor confianza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931920" y="2011680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D4"/>
            </a:solidFill>
            <a:prstDash val="solid"/>
          </a:ln>
          <a:effectLst>
            <a:outerShdw blurRad="101600" dist="38100" dir="8100000" algn="bl" rotWithShape="0">
              <a:srgbClr val="7DAA8C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31920" y="2011680"/>
            <a:ext cx="4892040" cy="502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96512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2084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QDA y comparar con LDA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423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QDA supera a LDA · frontera cuadrática · visualización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31920" y="2944368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D4"/>
            </a:solidFill>
            <a:prstDash val="solid"/>
          </a:ln>
          <a:effectLst>
            <a:outerShdw blurRad="101600" dist="38100" dir="8100000" algn="bl" rotWithShape="0">
              <a:srgbClr val="7DAA8C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31920" y="2944368"/>
            <a:ext cx="4892040" cy="50292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96512" y="3035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3017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 matriz de confusión por clase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3355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pares de clases se confunden · error por segmento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931920" y="3877056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D4"/>
            </a:solidFill>
            <a:prstDash val="solid"/>
          </a:ln>
          <a:effectLst>
            <a:outerShdw blurRad="101600" dist="38100" dir="8100000" algn="bl" rotWithShape="0">
              <a:srgbClr val="7DAA8C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31920" y="3877056"/>
            <a:ext cx="4892040" cy="50292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96512" y="3968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3950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de clientes de marketing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4288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 LDA/QDA · loadings · predicción de nuevos clientes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12070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7A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mensaje de hoy: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1572768"/>
            <a:ext cx="3383280" cy="640080"/>
          </a:xfrm>
          <a:prstGeom prst="rect">
            <a:avLst/>
          </a:prstGeom>
          <a:solidFill>
            <a:srgbClr val="EAFAF1"/>
          </a:solidFill>
          <a:ln w="6350">
            <a:solidFill>
              <a:srgbClr val="52B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1627632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17A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= confianza.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17A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QDA cuando las nubes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17A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tienen formas distintas.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AF1"/>
          </a:solidFill>
          <a:ln w="5080">
            <a:solidFill>
              <a:srgbClr val="52B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Arrancar con pregunta: '¿Qué significa que un modelo clasifique bien en promedio pero mal en una clase específica?'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Scores discriminantes — confianza de la clasificación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distancia al centroide en espacio discriminante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06908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D4"/>
            </a:solidFill>
            <a:prstDash val="solid"/>
          </a:ln>
          <a:effectLst>
            <a:outerShdw blurRad="101600" dist="38100" dir="8100000" algn="bl" rotWithShape="0">
              <a:srgbClr val="7DAA8C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4069080" cy="502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887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score discriminante?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1664208"/>
            <a:ext cx="3749040" cy="457200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1700784"/>
            <a:ext cx="1691640" cy="256032"/>
          </a:xfrm>
          <a:prstGeom prst="rect">
            <a:avLst/>
          </a:prstGeom>
          <a:solidFill>
            <a:srgbClr val="EAFAF1"/>
          </a:solidFill>
          <a:ln w="3810">
            <a:solidFill>
              <a:srgbClr val="52B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2821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score_i = wᵀxᵢ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31136" y="17556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de la observación sobre LD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" y="2176272"/>
            <a:ext cx="37490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2212848"/>
            <a:ext cx="1691640" cy="256032"/>
          </a:xfrm>
          <a:prstGeom prst="rect">
            <a:avLst/>
          </a:prstGeom>
          <a:solidFill>
            <a:srgbClr val="EAFAF1"/>
          </a:solidFill>
          <a:ln w="3810">
            <a:solidFill>
              <a:srgbClr val="52BE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24028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|score_i| grande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31136" y="2267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alejado de la frontera → alta confianza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2688336"/>
            <a:ext cx="3749040" cy="457200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2724912"/>
            <a:ext cx="1691640" cy="256032"/>
          </a:xfrm>
          <a:prstGeom prst="rect">
            <a:avLst/>
          </a:prstGeom>
          <a:solidFill>
            <a:srgbClr val="EAFAF1"/>
          </a:solidFill>
          <a:ln w="3810">
            <a:solidFill>
              <a:srgbClr val="52B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523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|score_i| ≈ 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31136" y="27797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cerca de la frontera → baja confianza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" y="3200400"/>
            <a:ext cx="37490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236976"/>
            <a:ext cx="1691640" cy="256032"/>
          </a:xfrm>
          <a:prstGeom prst="rect">
            <a:avLst/>
          </a:prstGeom>
          <a:solidFill>
            <a:srgbClr val="EAFAF1"/>
          </a:solidFill>
          <a:ln w="3810">
            <a:solidFill>
              <a:srgbClr val="52BE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2644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≥ th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31136" y="3291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como clase 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" y="3712464"/>
            <a:ext cx="3749040" cy="457200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" y="3749040"/>
            <a:ext cx="1691640" cy="256032"/>
          </a:xfrm>
          <a:prstGeom prst="rect">
            <a:avLst/>
          </a:prstGeom>
          <a:solidFill>
            <a:srgbClr val="EAFAF1"/>
          </a:solidFill>
          <a:ln w="3810">
            <a:solidFill>
              <a:srgbClr val="52B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7764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&lt; th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31136" y="38039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como clase 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" y="4224528"/>
            <a:ext cx="3749040" cy="56692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27939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lda.transform(X) → scores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lda.predict_proba(X) → probabilidades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9D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Relación: P(clase 1) = σ(score) — sigmoide del score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1078992"/>
            <a:ext cx="416052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D4"/>
            </a:solidFill>
            <a:prstDash val="solid"/>
          </a:ln>
          <a:effectLst>
            <a:outerShdw blurRad="101600" dist="38100" dir="8100000" algn="bl" rotWithShape="0">
              <a:srgbClr val="7DAA8C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078992"/>
            <a:ext cx="4160520" cy="50292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11887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B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baja confianza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28032" y="1609344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observaciones cerca de la frontera (|score|≈0) son los casos más difíciles para el modelo.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73168" y="2212848"/>
            <a:ext cx="3931920" cy="475488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22951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credit scoring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01968" y="22951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derivar a revisión manual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73168" y="2761488"/>
            <a:ext cx="39319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01184" y="28437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diagnóstico médico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01968" y="28437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solicitar más estudios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73168" y="3310128"/>
            <a:ext cx="3931920" cy="475488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01184" y="33924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marketing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601968" y="33924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probar en ambos segmentos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73168" y="3858768"/>
            <a:ext cx="39319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01184" y="39410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detección de fraude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601968" y="3941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revisar transacción humana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AF1"/>
          </a:solidFill>
          <a:ln w="5080">
            <a:solidFill>
              <a:srgbClr val="52BE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Demo: ordenar el test set por |score|. Los primeros son los más inciertos → ¿cuántos de esos están mal clasificados?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AF1"/>
          </a:solidFill>
          <a:ln w="12700">
            <a:solidFill>
              <a:srgbClr val="EAFA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QDA — cuando las covarianzas difieren entre clases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cuadrática vs lineal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8503920" cy="4572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5214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δₖ(x) = −½ log|Σₖ| − ½(x−μₖ)ᵀΣₖ⁻¹(x−μₖ) + log πₖ  →  Clase = argmax δₖ(x)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2377440" cy="29260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7335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61488" y="1627632"/>
            <a:ext cx="3273552" cy="29260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2928" y="1673352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08192" y="1627632"/>
            <a:ext cx="2990088" cy="29260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67335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956816"/>
            <a:ext cx="2377440" cy="384048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61488" y="1956816"/>
            <a:ext cx="3273552" cy="384048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08192" y="1956816"/>
            <a:ext cx="2990088" cy="384048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0299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Covarianza estimada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852928" y="202996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pooled (única para todas las clases)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99632" y="202996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Σₖ por clase (una por clase)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377440"/>
            <a:ext cx="23774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61488" y="2377440"/>
            <a:ext cx="3273552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08192" y="2377440"/>
            <a:ext cx="29900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4505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de decisión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852928" y="2450592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 (hiperplano)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99632" y="245059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Cuadrática (elipsoide)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798064"/>
            <a:ext cx="2377440" cy="384048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61488" y="2798064"/>
            <a:ext cx="3273552" cy="384048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08192" y="2798064"/>
            <a:ext cx="2990088" cy="384048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87121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estimados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852928" y="2871216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p(p+1)/2 + K·p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99632" y="287121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K·p(p+1)/2 + K·p (más)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3218688"/>
            <a:ext cx="23774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61488" y="3218688"/>
            <a:ext cx="3273552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08192" y="3218688"/>
            <a:ext cx="29900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2918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sobreajuste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852928" y="3291840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(menos parámetros)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99632" y="329184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(más parámetros)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3639312"/>
            <a:ext cx="2377440" cy="384048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61488" y="3639312"/>
            <a:ext cx="3273552" cy="384048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08192" y="3639312"/>
            <a:ext cx="2990088" cy="384048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7124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852928" y="3712464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Covarianzas similares entre clases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99632" y="371246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Covarianzas muy distintas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4078224"/>
            <a:ext cx="8503920" cy="640080"/>
          </a:xfrm>
          <a:prstGeom prst="rect">
            <a:avLst/>
          </a:prstGeom>
          <a:solidFill>
            <a:srgbClr val="EAFAF1"/>
          </a:solidFill>
          <a:ln w="6350">
            <a:solidFill>
              <a:srgbClr val="52BE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" y="4133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elegir: QDA vs LDA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5488" y="4389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Calcular np.cov(X[y==k].T) por clase. Si son muy distintas → QDA.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Comparar accuracy LDA vs QDA en validación. Si QDA &gt; LDA → las covarianzas realmente difieren.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AF1"/>
          </a:solidFill>
          <a:ln w="5080">
            <a:solidFill>
              <a:srgbClr val="52B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Resultado del notebook: AUC_LDA=0.987, AUC_QDA=0.991. Con covarianzas muy distintas, QDA gana aunque sea marginalmente.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industria: segmentación de clientes de retail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datos al perfil del cliente — pipeline completo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420624"/>
          </a:xfrm>
          <a:prstGeom prst="rect">
            <a:avLst/>
          </a:prstGeom>
          <a:solidFill>
            <a:srgbClr val="EAFAF1"/>
          </a:solidFill>
          <a:ln w="6350">
            <a:solidFill>
              <a:srgbClr val="52B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338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Dataset: 800 clientes · 3 segmentos · 4 features · LDA + QDA + Logística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609344"/>
            <a:ext cx="4069080" cy="1700784"/>
          </a:xfrm>
          <a:prstGeom prst="rect">
            <a:avLst/>
          </a:prstGeom>
          <a:solidFill>
            <a:srgbClr val="FFFFFF"/>
          </a:solidFill>
          <a:ln w="6350">
            <a:solidFill>
              <a:srgbClr val="C8E6D4"/>
            </a:solidFill>
            <a:prstDash val="solid"/>
          </a:ln>
          <a:effectLst>
            <a:outerShdw blurRad="101600" dist="38100" dir="8100000" algn="bl" rotWithShape="0">
              <a:srgbClr val="7DAA8C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609344"/>
            <a:ext cx="4069080" cy="502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7190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de segmento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2048256"/>
            <a:ext cx="3749040" cy="347472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2084832"/>
            <a:ext cx="73152" cy="274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1031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73936" y="21031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frecuencia, alto ticket, pocas online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" y="2450592"/>
            <a:ext cx="37490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2487168"/>
            <a:ext cx="73152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5054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Joven Urbano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73936" y="25054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media, compra online, descuentos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" y="2852928"/>
            <a:ext cx="3749040" cy="347472"/>
          </a:xfrm>
          <a:prstGeom prst="rect">
            <a:avLst/>
          </a:prstGeom>
          <a:solidFill>
            <a:srgbClr val="F4FBF7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889504"/>
            <a:ext cx="73152" cy="2743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29077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73936" y="29077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alta, bajo ticket, pocas online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609344"/>
            <a:ext cx="4160520" cy="1700784"/>
          </a:xfrm>
          <a:prstGeom prst="rect">
            <a:avLst/>
          </a:prstGeom>
          <a:solidFill>
            <a:srgbClr val="FFFFFF"/>
          </a:solidFill>
          <a:ln w="6350">
            <a:solidFill>
              <a:srgbClr val="C8E6D4"/>
            </a:solidFill>
            <a:prstDash val="solid"/>
          </a:ln>
          <a:effectLst>
            <a:outerShdw blurRad="101600" dist="38100" dir="8100000" algn="bl" rotWithShape="0">
              <a:srgbClr val="7DAA8C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609344"/>
            <a:ext cx="4160520" cy="50292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7190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modelo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73168" y="2048256"/>
            <a:ext cx="2148840" cy="347472"/>
          </a:xfrm>
          <a:prstGeom prst="rect">
            <a:avLst/>
          </a:prstGeom>
          <a:solidFill>
            <a:srgbClr val="117A65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21122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67728" y="2048256"/>
            <a:ext cx="2029968" cy="347472"/>
          </a:xfrm>
          <a:prstGeom prst="rect">
            <a:avLst/>
          </a:prstGeom>
          <a:solidFill>
            <a:srgbClr val="117A65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9168" y="211226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73168" y="2450592"/>
            <a:ext cx="21488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25146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67728" y="2450592"/>
            <a:ext cx="202996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59168" y="25146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78.1%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73168" y="2852928"/>
            <a:ext cx="2148840" cy="347472"/>
          </a:xfrm>
          <a:prstGeom prst="rect">
            <a:avLst/>
          </a:prstGeom>
          <a:solidFill>
            <a:srgbClr val="E8F8F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29169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67728" y="2852928"/>
            <a:ext cx="2029968" cy="347472"/>
          </a:xfrm>
          <a:prstGeom prst="rect">
            <a:avLst/>
          </a:prstGeom>
          <a:solidFill>
            <a:srgbClr val="E8F8F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59168" y="291693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81.7% ← mejor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73168" y="3255264"/>
            <a:ext cx="21488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33192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67728" y="3255264"/>
            <a:ext cx="202996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8E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59168" y="33192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79.4%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3401568"/>
            <a:ext cx="406908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8E6D4"/>
            </a:solidFill>
            <a:prstDash val="solid"/>
          </a:ln>
          <a:effectLst>
            <a:outerShdw blurRad="101600" dist="38100" dir="8100000" algn="bl" rotWithShape="0">
              <a:srgbClr val="7DAA8C">
                <a:alpha val="13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" y="3401568"/>
            <a:ext cx="4069080" cy="5029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" y="35112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LD1 — qué discrimina más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5488" y="3840480"/>
            <a:ext cx="3749040" cy="219456"/>
          </a:xfrm>
          <a:prstGeom prst="rect">
            <a:avLst/>
          </a:prstGeom>
          <a:solidFill>
            <a:srgbClr val="F4FBF7"/>
          </a:solidFill>
          <a:ln w="2540">
            <a:solidFill>
              <a:srgbClr val="C8E6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38587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freq_visitas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011680" y="385876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+0.82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670048" y="38587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frecuencia → Familiar/Senior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" y="4096512"/>
            <a:ext cx="3749040" cy="219456"/>
          </a:xfrm>
          <a:prstGeom prst="rect">
            <a:avLst/>
          </a:prstGeom>
          <a:solidFill>
            <a:srgbClr val="FFFFFF"/>
          </a:solidFill>
          <a:ln w="2540">
            <a:solidFill>
              <a:srgbClr val="C8E6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4114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ticket_prom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011680" y="41148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+0.61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670048" y="41148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ticket → Familiar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5488" y="4352544"/>
            <a:ext cx="3749040" cy="219456"/>
          </a:xfrm>
          <a:prstGeom prst="rect">
            <a:avLst/>
          </a:prstGeom>
          <a:solidFill>
            <a:srgbClr val="F4FBF7"/>
          </a:solidFill>
          <a:ln w="2540">
            <a:solidFill>
              <a:srgbClr val="C8E6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43708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compras_online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011680" y="437083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-0.74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670048" y="43708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online → Joven Urbano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5488" y="4608576"/>
            <a:ext cx="3749040" cy="219456"/>
          </a:xfrm>
          <a:prstGeom prst="rect">
            <a:avLst/>
          </a:prstGeom>
          <a:solidFill>
            <a:srgbClr val="FFFFFF"/>
          </a:solidFill>
          <a:ln w="2540">
            <a:solidFill>
              <a:srgbClr val="C8E6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" y="46268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ratio_dcto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011680" y="46268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-0.45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2670048" y="462686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descuentos → Joven Urbano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663440" y="3401568"/>
            <a:ext cx="416052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8E6D4"/>
            </a:solidFill>
            <a:prstDash val="solid"/>
          </a:ln>
          <a:effectLst>
            <a:outerShdw blurRad="101600" dist="38100" dir="8100000" algn="bl" rotWithShape="0">
              <a:srgbClr val="7DAA8C">
                <a:alpha val="13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663440" y="3401568"/>
            <a:ext cx="4160520" cy="502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28032" y="35112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clientes → segmento predicho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773168" y="3877056"/>
            <a:ext cx="3931920" cy="274320"/>
          </a:xfrm>
          <a:prstGeom prst="rect">
            <a:avLst/>
          </a:prstGeom>
          <a:solidFill>
            <a:srgbClr val="F4FBF7"/>
          </a:solidFill>
          <a:ln w="2540">
            <a:solidFill>
              <a:srgbClr val="C8E6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92040" y="39136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(alta frec., alto ticket)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178040" y="39136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Familiar  P=0.82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773168" y="4187952"/>
            <a:ext cx="3931920" cy="274320"/>
          </a:xfrm>
          <a:prstGeom prst="rect">
            <a:avLst/>
          </a:prstGeom>
          <a:solidFill>
            <a:srgbClr val="FFFFFF"/>
          </a:solidFill>
          <a:ln w="2540">
            <a:solidFill>
              <a:srgbClr val="C8E6D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92040" y="42245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(muchas compras online)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178040" y="42245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Joven Urb P=0.79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773168" y="4498848"/>
            <a:ext cx="3931920" cy="274320"/>
          </a:xfrm>
          <a:prstGeom prst="rect">
            <a:avLst/>
          </a:prstGeom>
          <a:solidFill>
            <a:srgbClr val="F4FBF7"/>
          </a:solidFill>
          <a:ln w="2540">
            <a:solidFill>
              <a:srgbClr val="C8E6D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92040" y="453542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(frecuencia alta, bajo ticket)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178040" y="45354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Senior    P=0.75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AF1"/>
          </a:solidFill>
          <a:ln w="5080">
            <a:solidFill>
              <a:srgbClr val="52BE8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Este pipeline es exactamente lo que se usa en retail: segmentar clientes para personalizar campañas. LDA da interpretabilidad + clasificación.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1E2D"/>
          </a:solidFill>
          <a:ln w="12700">
            <a:solidFill>
              <a:srgbClr val="14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" y="137160"/>
            <a:ext cx="155448" cy="155448"/>
          </a:xfrm>
          <a:prstGeom prst="lin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137160"/>
            <a:ext cx="155448" cy="155448"/>
          </a:xfrm>
          <a:prstGeom prst="lin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37160"/>
            <a:ext cx="155448" cy="155448"/>
          </a:xfrm>
          <a:prstGeom prst="lin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91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Clase09_LDA_Aplicado.ipynb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566928"/>
            <a:ext cx="4315968" cy="2103120"/>
          </a:xfrm>
          <a:prstGeom prst="rect">
            <a:avLst/>
          </a:prstGeom>
          <a:solidFill>
            <a:srgbClr val="1E2D3D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566928"/>
            <a:ext cx="4315968" cy="50292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6583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9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Scores e incertidumbre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0624" y="91440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  = lda.transform(X_test)[:, 0]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115671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    = lda.predict_proba(X_test)[:, 1]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0624" y="164134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Observaciones menos confiables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0624" y="1883664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incert   = np.abs(scores)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0624" y="212598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inciertos = np.argsort(incert)[:5]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0624" y="236829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Estos son candidatos a revisión manual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73168" y="566928"/>
            <a:ext cx="4114800" cy="2103120"/>
          </a:xfrm>
          <a:prstGeom prst="rect">
            <a:avLst/>
          </a:prstGeom>
          <a:solidFill>
            <a:srgbClr val="1E2D3D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566928"/>
            <a:ext cx="4114800" cy="50292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6583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9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QDA — frontera cuadrática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37760" y="9144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sklearn.discriminant_analysis import \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11567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QuadraticDiscriminantAnalysis as QDA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16413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qda = QDA()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18836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qda.fit(X_train, y_train)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21259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QDA no tiene .transform() — sin proyección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23682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Pero sí .predict_proba() y .predict()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2816352"/>
            <a:ext cx="8631936" cy="2194560"/>
          </a:xfrm>
          <a:prstGeom prst="rect">
            <a:avLst/>
          </a:prstGeom>
          <a:solidFill>
            <a:srgbClr val="1E2D3D"/>
          </a:solidFill>
          <a:ln w="6350">
            <a:solidFill>
              <a:srgbClr val="2D5A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2816352"/>
            <a:ext cx="8631936" cy="50292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2907792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9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Pipeline marketing: comparar LDA, QDA, Logística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20624" y="3163824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0624" y="3648456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 = StandardScaler(); X_sc = sc.fit_transform(X)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0624" y="3890772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modelos = {'LDA': LDA(), 'QDA': QDA(), 'Logistica': LR(C=1e6)}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0624" y="4133088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nm, m in modelos.items():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0624" y="4375404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m.fit(X_tr, y_tr); acc = accuracy_score(y_te, m.predict(X_te))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20624" y="4617720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print(f'{nm}: Acc={acc:.4f}')  # QDA gana con Sigma distintas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94760" cy="51435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94760" y="0"/>
            <a:ext cx="50292" cy="5143500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2651760"/>
            <a:ext cx="3566160" cy="3566160"/>
          </a:xfrm>
          <a:prstGeom prst="line">
            <a:avLst/>
          </a:prstGeom>
          <a:solidFill>
            <a:srgbClr val="1E8449">
              <a:alpha val="17000"/>
            </a:srgbClr>
          </a:solidFill>
          <a:ln w="12700">
            <a:solidFill>
              <a:srgbClr val="A9DFBF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92608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3</a:t>
            </a:r>
            <a:endParaRPr lang="en-US" sz="3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completado ✓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2011680"/>
            <a:ext cx="2286000" cy="0"/>
          </a:xfrm>
          <a:prstGeom prst="line">
            <a:avLst/>
          </a:prstGeom>
          <a:noFill/>
          <a:ln w="19050">
            <a:solidFill>
              <a:srgbClr val="52B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15798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Discriminante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4505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Josef Rodriguez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9080" y="2743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del módulo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9080" y="731520"/>
            <a:ext cx="4754880" cy="0"/>
          </a:xfrm>
          <a:prstGeom prst="line">
            <a:avLst/>
          </a:prstGeom>
          <a:noFill/>
          <a:ln w="9525">
            <a:solidFill>
              <a:srgbClr val="C8E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9080" y="868680"/>
            <a:ext cx="47548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D4"/>
            </a:solidFill>
            <a:prstDash val="solid"/>
          </a:ln>
          <a:effectLst>
            <a:outerShdw blurRad="101600" dist="38100" dir="8100000" algn="bl" rotWithShape="0">
              <a:srgbClr val="7DAA8C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69080" y="868680"/>
            <a:ext cx="4754880" cy="502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978408"/>
            <a:ext cx="475488" cy="47548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24528" y="978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28032" y="9784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1325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· Sᴮ/Sᵥᵥ · w = Sᵥᵥ⁻¹(μ₁−μ₀) · LDA multiclase · LDA vs Logística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69080" y="2057400"/>
            <a:ext cx="47548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8E6D4"/>
            </a:solidFill>
            <a:prstDash val="solid"/>
          </a:ln>
          <a:effectLst>
            <a:outerShdw blurRad="101600" dist="38100" dir="8100000" algn="bl" rotWithShape="0">
              <a:srgbClr val="7DAA8C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69080" y="2057400"/>
            <a:ext cx="4754880" cy="50292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24528" y="2167128"/>
            <a:ext cx="475488" cy="475488"/>
          </a:xfrm>
          <a:prstGeom prst="rect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24528" y="2167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28032" y="21671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28032" y="25146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D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= confianza · QDA (frontera cuadrática) · Matriz de confusión · Marketing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69080" y="3337560"/>
            <a:ext cx="4754880" cy="1078992"/>
          </a:xfrm>
          <a:prstGeom prst="rect">
            <a:avLst/>
          </a:prstGeom>
          <a:solidFill>
            <a:srgbClr val="EAFAF1"/>
          </a:solidFill>
          <a:ln w="6350">
            <a:solidFill>
              <a:srgbClr val="52B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24528" y="341071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takeaways del Módulo 3: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24528" y="3749040"/>
            <a:ext cx="109728" cy="109728"/>
          </a:xfrm>
          <a:prstGeom prst="line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7408" y="371246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usa etiquetas para maximizar separación (supervisado, ≠ PCA)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24528" y="3968496"/>
            <a:ext cx="109728" cy="109728"/>
          </a:xfrm>
          <a:prstGeom prst="line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07408" y="39319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≈ Logística con MVN. QDA cuando las covarianzas difieren.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24528" y="4187952"/>
            <a:ext cx="109728" cy="109728"/>
          </a:xfrm>
          <a:prstGeom prst="line">
            <a:avLst/>
          </a:prstGeom>
          <a:solidFill>
            <a:srgbClr val="52BE80"/>
          </a:solidFill>
          <a:ln w="12700">
            <a:solidFill>
              <a:srgbClr val="52BE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07408" y="415137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confianza. Casos con score≈0 → derivar a revisión manual.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69080" y="4507992"/>
            <a:ext cx="4754880" cy="47548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24528" y="4581144"/>
            <a:ext cx="4462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4: PCA · SVD · Varianza explicada · Scree plot · Loadings · Pipeline completo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1113</Words>
  <Application>Microsoft Macintosh PowerPoint</Application>
  <PresentationFormat>On-screen Show (16:9)</PresentationFormat>
  <Paragraphs>166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Josef Rodriguez</cp:lastModifiedBy>
  <cp:revision>2</cp:revision>
  <dcterms:created xsi:type="dcterms:W3CDTF">2026-04-11T18:32:43Z</dcterms:created>
  <dcterms:modified xsi:type="dcterms:W3CDTF">2026-04-21T00:03:16Z</dcterms:modified>
</cp:coreProperties>
</file>